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5"/>
  </p:notesMasterIdLst>
  <p:sldIdLst>
    <p:sldId id="256" r:id="rId2"/>
    <p:sldId id="257" r:id="rId3"/>
    <p:sldId id="258" r:id="rId4"/>
    <p:sldId id="34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345" r:id="rId14"/>
    <p:sldId id="346" r:id="rId15"/>
    <p:sldId id="347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384" r:id="rId33"/>
    <p:sldId id="385" r:id="rId34"/>
    <p:sldId id="386" r:id="rId35"/>
    <p:sldId id="387" r:id="rId36"/>
    <p:sldId id="388" r:id="rId37"/>
    <p:sldId id="389" r:id="rId38"/>
    <p:sldId id="390" r:id="rId39"/>
    <p:sldId id="391" r:id="rId40"/>
    <p:sldId id="392" r:id="rId41"/>
    <p:sldId id="393" r:id="rId42"/>
    <p:sldId id="394" r:id="rId43"/>
    <p:sldId id="395" r:id="rId44"/>
    <p:sldId id="396" r:id="rId45"/>
    <p:sldId id="397" r:id="rId46"/>
    <p:sldId id="398" r:id="rId47"/>
    <p:sldId id="399" r:id="rId48"/>
    <p:sldId id="400" r:id="rId49"/>
    <p:sldId id="401" r:id="rId50"/>
    <p:sldId id="292" r:id="rId51"/>
    <p:sldId id="348" r:id="rId52"/>
    <p:sldId id="349" r:id="rId53"/>
    <p:sldId id="350" r:id="rId54"/>
    <p:sldId id="351" r:id="rId55"/>
    <p:sldId id="352" r:id="rId56"/>
    <p:sldId id="353" r:id="rId57"/>
    <p:sldId id="354" r:id="rId58"/>
    <p:sldId id="355" r:id="rId59"/>
    <p:sldId id="356" r:id="rId60"/>
    <p:sldId id="357" r:id="rId61"/>
    <p:sldId id="358" r:id="rId62"/>
    <p:sldId id="359" r:id="rId63"/>
    <p:sldId id="360" r:id="rId64"/>
    <p:sldId id="361" r:id="rId65"/>
    <p:sldId id="362" r:id="rId66"/>
    <p:sldId id="363" r:id="rId67"/>
    <p:sldId id="364" r:id="rId68"/>
    <p:sldId id="365" r:id="rId69"/>
    <p:sldId id="366" r:id="rId70"/>
    <p:sldId id="367" r:id="rId71"/>
    <p:sldId id="368" r:id="rId72"/>
    <p:sldId id="369" r:id="rId73"/>
    <p:sldId id="370" r:id="rId74"/>
    <p:sldId id="371" r:id="rId75"/>
    <p:sldId id="372" r:id="rId76"/>
    <p:sldId id="373" r:id="rId77"/>
    <p:sldId id="374" r:id="rId78"/>
    <p:sldId id="375" r:id="rId79"/>
    <p:sldId id="376" r:id="rId80"/>
    <p:sldId id="377" r:id="rId81"/>
    <p:sldId id="378" r:id="rId82"/>
    <p:sldId id="379" r:id="rId83"/>
    <p:sldId id="380" r:id="rId84"/>
    <p:sldId id="381" r:id="rId85"/>
    <p:sldId id="382" r:id="rId86"/>
    <p:sldId id="383" r:id="rId87"/>
    <p:sldId id="307" r:id="rId88"/>
    <p:sldId id="308" r:id="rId89"/>
    <p:sldId id="309" r:id="rId90"/>
    <p:sldId id="310" r:id="rId91"/>
    <p:sldId id="311" r:id="rId92"/>
    <p:sldId id="312" r:id="rId93"/>
    <p:sldId id="313" r:id="rId9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6" roundtripDataSignature="AMtx7miWLgu9kzzWIDXIuR7isTEOiZa2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1A4D3F2E-8D5C-A3CB-87B8-1DAA4ED58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>
            <a:extLst>
              <a:ext uri="{FF2B5EF4-FFF2-40B4-BE49-F238E27FC236}">
                <a16:creationId xmlns:a16="http://schemas.microsoft.com/office/drawing/2014/main" id="{ED1E73C6-56C6-3A8C-2CD1-AA0760A389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D9255AC3-6149-2257-E3D9-2A73F19984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4920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5b9630aa3_8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3a5b9630aa3_8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5b9630aa3_7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3a5b9630aa3_7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5b9630aa3_7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3a5b9630aa3_7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5b9630aa3_8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a5b9630aa3_8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59E09D0B-F00C-D121-6512-C833301C4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BC82E866-8D12-207F-B242-856B7A92E0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14BCDA2B-02E9-C2B3-5A18-2338EFB8C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9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30A1403-46AA-5009-810E-41DBE05D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E10DE5C1-D734-BE22-841D-E7EE9E0BD6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A8A9B8AA-43CE-C032-0BE6-60E5AA590D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75248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FFA529E-80EE-D69D-4F76-E9593A14D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24AB28FF-AD40-2A93-11C2-48428D651C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44DED91A-9F2A-F788-C8CE-6A624D41C8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32860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0" name="Google Shape;1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8" name="Google Shape;2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7" name="Google Shape;2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6" name="Google Shape;2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4" name="Google Shape;2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3" name="Google Shape;25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3" name="Google Shape;26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2" name="Google Shape;27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5b9630aa3_8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1" name="Google Shape;281;g3a5b9630aa3_8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5b9630aa3_8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0" name="Google Shape;290;g3a5b9630aa3_8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5b9630aa3_8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a5b9630aa3_8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5b9630aa3_8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a5b9630aa3_8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7" name="Google Shape;31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>
          <a:extLst>
            <a:ext uri="{FF2B5EF4-FFF2-40B4-BE49-F238E27FC236}">
              <a16:creationId xmlns:a16="http://schemas.microsoft.com/office/drawing/2014/main" id="{D0E122FC-3D6D-4604-7512-C086E0D86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7:notes">
            <a:extLst>
              <a:ext uri="{FF2B5EF4-FFF2-40B4-BE49-F238E27FC236}">
                <a16:creationId xmlns:a16="http://schemas.microsoft.com/office/drawing/2014/main" id="{E488889A-3E20-5C32-8B0B-08F3979F03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5" name="Google Shape;415;p47:notes">
            <a:extLst>
              <a:ext uri="{FF2B5EF4-FFF2-40B4-BE49-F238E27FC236}">
                <a16:creationId xmlns:a16="http://schemas.microsoft.com/office/drawing/2014/main" id="{6EE58991-0064-2C0C-7638-43E864CC43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14142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63A8501A-85EE-C6B0-80CB-F6DB9944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5b9630aa3_8_228:notes">
            <a:extLst>
              <a:ext uri="{FF2B5EF4-FFF2-40B4-BE49-F238E27FC236}">
                <a16:creationId xmlns:a16="http://schemas.microsoft.com/office/drawing/2014/main" id="{4B9D8F44-00E5-9F2A-1645-68A82BDFF4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3" name="Google Shape;423;g3a5b9630aa3_8_228:notes">
            <a:extLst>
              <a:ext uri="{FF2B5EF4-FFF2-40B4-BE49-F238E27FC236}">
                <a16:creationId xmlns:a16="http://schemas.microsoft.com/office/drawing/2014/main" id="{5275C153-3D51-C31A-882B-C39403FC5A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88293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>
          <a:extLst>
            <a:ext uri="{FF2B5EF4-FFF2-40B4-BE49-F238E27FC236}">
              <a16:creationId xmlns:a16="http://schemas.microsoft.com/office/drawing/2014/main" id="{919350EF-4F94-06ED-5E10-043242BC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5b9630aa3_8_289:notes">
            <a:extLst>
              <a:ext uri="{FF2B5EF4-FFF2-40B4-BE49-F238E27FC236}">
                <a16:creationId xmlns:a16="http://schemas.microsoft.com/office/drawing/2014/main" id="{D186821D-E926-E050-000D-67E2AE2E2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1" name="Google Shape;431;g3a5b9630aa3_8_289:notes">
            <a:extLst>
              <a:ext uri="{FF2B5EF4-FFF2-40B4-BE49-F238E27FC236}">
                <a16:creationId xmlns:a16="http://schemas.microsoft.com/office/drawing/2014/main" id="{8651B5E8-D216-2CA8-5D40-C3360F5DA3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69914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>
          <a:extLst>
            <a:ext uri="{FF2B5EF4-FFF2-40B4-BE49-F238E27FC236}">
              <a16:creationId xmlns:a16="http://schemas.microsoft.com/office/drawing/2014/main" id="{BF3194D8-ED46-6F4A-6F69-0D17C74B2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5b9630aa3_8_235:notes">
            <a:extLst>
              <a:ext uri="{FF2B5EF4-FFF2-40B4-BE49-F238E27FC236}">
                <a16:creationId xmlns:a16="http://schemas.microsoft.com/office/drawing/2014/main" id="{A863490F-24A4-FA06-094F-815653F83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9" name="Google Shape;439;g3a5b9630aa3_8_235:notes">
            <a:extLst>
              <a:ext uri="{FF2B5EF4-FFF2-40B4-BE49-F238E27FC236}">
                <a16:creationId xmlns:a16="http://schemas.microsoft.com/office/drawing/2014/main" id="{284B2DAE-CD6F-D611-2834-ACE009B93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74534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20532ED8-C7FD-071A-5652-B434E01AB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A41D64D4-4DA1-4D57-9851-9B3F525C0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F70CF48D-5910-A091-280B-E802A9C9F3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0705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8C67A566-D98A-5CA1-4A97-8A38689D7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624BBFD9-7A54-6D9C-C33E-B7D4FA074C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89D96D41-AF61-B7AB-5054-ABCB1C303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462849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02D575CF-BC8D-5ACA-BB74-EC991B6C4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C7360792-37D7-AB43-7066-08576E3731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5D5CE0B3-2818-E787-366B-241F3CEC10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680209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6996CE10-E677-3418-2863-0256DE0A1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05FA00CD-88B7-F952-B9B3-3B5C1B840A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C9C6DB82-700E-8CF1-1F70-3C709D2BE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86539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B32CE40A-26FB-26EF-59C2-8FC6F84CD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B09DAB05-2C20-8776-53A6-73A38EA75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576AA075-9C55-3985-9745-5AE78861D1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88789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3A19858C-58C5-D67D-5FBA-A5B9C0C4A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742C891C-450E-AC3A-F878-9ACFC31F00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5F66F892-7A84-D71F-FD8B-5801FB0BA2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07287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F452E408-F374-DDCB-53FA-BF0317825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B845DE39-C8A8-FA5F-A991-BB2B7431A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5EAE9A1C-29C8-A640-5A1D-5A1B927875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85126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9D0D25E7-6FF6-7AD3-73B9-F65FCAD66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5F1B5358-1CE9-3D27-B20E-89AC1B83D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4BFDF874-FDAE-C478-00DD-2B48159B0B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00415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30477A08-FE67-D3B5-420D-4ADF266DC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4B6C595D-6482-50A4-F249-FAA7B7FE32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9BA6386E-D556-C008-17C5-127C388C89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9704528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791CD11A-7903-95E4-FC0C-132A79F92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02664457-1592-ED9F-E3FB-FDB218AFAF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40151B77-16C8-0AC1-6364-E597AB1BE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818563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B830616D-9606-582C-3DE4-72D012DAF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D46F1E61-3E34-E7BE-30A8-AA5249BB9C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F326E7B4-BB5F-81C7-D7C1-7237AC67E9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814009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BE76330E-18E4-F25F-53A5-30326D7E6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7E73569E-15D9-6413-DECC-FF37883445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8B9F9797-BE4A-660F-EF18-D112621DE0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0949688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2FD19407-9D89-6A1E-0E37-D4BB3EA58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455AA33B-9863-4C8A-9D02-84A5929F5C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BFCC2F1C-0E71-23CA-B1B9-9BA0488EA9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290586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5160D6EC-E893-7495-8BBE-F63D8452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5FDA373E-C67C-FA33-0058-7F812CD0EC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8301ADED-8A11-06CA-740D-513CAD711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931097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7" name="Google Shape;40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7" name="Google Shape;40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5" name="Google Shape;41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5b9630aa3_8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3" name="Google Shape;423;g3a5b9630aa3_8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5b9630aa3_8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1" name="Google Shape;431;g3a5b9630aa3_8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5b9630aa3_8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9" name="Google Shape;439;g3a5b9630aa3_8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EE8F9E52-F3A2-880F-519B-B7896AFE0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94007303-3D65-5B42-41D9-780E7110D3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29940D23-FACC-172E-7000-34516C6072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3344155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0B47E84E-7EBC-01C4-CCD7-EE988BC54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42AC5878-61C8-0705-F719-DCB6D2BC6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EE92D9E5-4CFC-333E-4313-A9EF1B12F0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270062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C2650002-62FF-7489-BC7F-D2349E5ED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BDAB70D7-2616-F578-BBC6-FDD04B44C9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01904F00-982B-E8BA-9067-24338C46B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2725798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D8A949F2-57F1-813C-AEB9-F35B02B7D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C90B96FA-A82C-7ADA-D2CD-552F6652E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FD438522-687A-7172-3BA9-F33A3800FE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914641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E9079CD2-962E-D628-9C67-F36851088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82D79C18-EAF0-BABE-EA30-AD018276F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23D97E7A-4FC1-AAF9-30E1-2B96059872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174031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CD6C8DCE-5AF3-4417-5640-52AAF80D0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11F1B692-17DC-E99D-851C-E337BD6AC7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01D7BBBC-1CCE-1754-D479-7B05A8D1F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823005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7D85E4A5-F01E-C5DE-294E-F03669B4C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53F46351-C976-9F04-4680-71F00BDBFD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A843414D-9C94-A78F-E198-C368AEF6E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921116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B7097C44-0180-108A-A5D6-473DCE737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268B3DAD-B68C-6DCA-A3DB-FDD6B3E6B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ACC5089E-B5A9-87F0-D8B2-EB6559E1B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8408922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0A5164DB-3DEB-8C6B-C176-C2F66F0E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2A26EBE7-A8F8-6BBC-2E37-120697257B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E271587A-34B2-0391-6901-1177B3CA54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254581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667F8DED-14B1-9799-A1EB-A4EE1E99E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0738CF30-4C93-2349-928E-2438E07D7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007463FF-4399-9233-E5B7-4E05FA853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233852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FD8CB8FD-9B51-5D74-2FFE-35765F90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13C1CF6F-D472-882A-6D40-B5A8A17C6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882AC44C-5B6C-CFF6-5B70-FD771128A8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469613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BDD731ED-8484-B34F-F5B3-B9AC8288A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A1A67757-B990-9F0E-0868-7C664C1C19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806190B0-BE39-34AC-4C5C-FD996B6F5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31621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73E4F7C6-39C1-665B-C753-3EBD6070D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4666E0C0-C7E2-FA1C-DEE7-A78ECC0B8D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79AE465A-3858-953C-AFB1-CD976FF324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806823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3" name="Google Shape;463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1" name="Google Shape;471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5b9630aa3_8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9" name="Google Shape;479;g3a5b9630aa3_8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5b9630aa3_8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7" name="Google Shape;487;g3a5b9630aa3_8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5b9630aa3_8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5" name="Google Shape;495;g3a5b9630aa3_8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5b9630aa3_8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3" name="Google Shape;503;g3a5b9630aa3_8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5b9630aa3_8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1" name="Google Shape;511;g3a5b9630aa3_8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0D49288E-3B00-2757-3598-705993A62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5359F6FA-378C-024A-B2F7-758FA8EFA0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74D429FA-0B81-7498-9AD5-E653C58D10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4106406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4B7623CB-99E0-E344-F74C-E582FB9A0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B7360BF7-7988-A114-65BA-AB7965BD6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ECBC94EE-DED5-4B4F-F0CA-149E89BA9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1779590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8FC82DAB-3B0B-C14C-3D93-16558C207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11AB4718-6A2F-1FA5-F09A-F6D53092B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B375C216-D0D8-EA58-0D16-AA2D349B0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2596948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F63C1F55-0DE8-AC89-3A6B-85DA7C089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07EBC506-97CD-ECC5-997D-076B1E563D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CC49619D-EA49-406B-7238-07AEBA9873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229816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36575E95-00EE-66D6-6999-896ABE306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BBD5F818-041B-C5F1-DFA0-F2F5EF7AD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85767606-AA71-3F17-E004-A2779C8701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018934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3A2C1E43-BE0F-9636-7CE3-2EA25A28A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6323F251-70D5-1910-D94A-D8018A6B8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ED010D2B-834B-BE0D-5567-C3841F6F4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238422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A2F2C01E-F96B-F19B-1F53-6217B669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5540AECC-CDA3-F925-09E9-EFA9AE16B8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440D92D9-DA10-8027-8690-19605BCFD7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6638968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A9E59B09-A832-0E4D-D387-7F1057645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802CB48E-5350-713C-1CA2-269299703F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C5F2BA33-016B-D221-5DC9-893732129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030114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7" name="Google Shape;52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5" name="Google Shape;535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5b9630aa3_8_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3" name="Google Shape;543;g3a5b9630aa3_8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1" name="Google Shape;551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9" name="Google Shape;559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6" name="Google Shape;566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3" name="Google Shape;573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75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75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18" name="Google Shape;18;p7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19" name="Google Shape;19;p7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20" name="Google Shape;20;p7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7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76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25" name="Google Shape;25;p7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26" name="Google Shape;26;p7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27" name="Google Shape;27;p7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77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77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2" name="Google Shape;32;p7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33" name="Google Shape;33;p7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34" name="Google Shape;34;p7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78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78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39" name="Google Shape;39;p78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40" name="Google Shape;40;p7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41" name="Google Shape;41;p7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42" name="Google Shape;42;p7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79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" name="Google Shape;46;p79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47" name="Google Shape;47;p79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48" name="Google Shape;48;p79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49" name="Google Shape;49;p79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50" name="Google Shape;50;p7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51" name="Google Shape;51;p7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52" name="Google Shape;52;p7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55" name="Google Shape;55;p8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56" name="Google Shape;56;p8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57" name="Google Shape;57;p8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80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61" name="Google Shape;61;p8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62" name="Google Shape;62;p8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2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82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67" name="Google Shape;67;p82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 dirty="0"/>
          </a:p>
        </p:txBody>
      </p:sp>
      <p:sp>
        <p:nvSpPr>
          <p:cNvPr id="68" name="Google Shape;68;p8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69" name="Google Shape;69;p8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70" name="Google Shape;70;p8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3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8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83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 dirty="0"/>
          </a:p>
        </p:txBody>
      </p:sp>
      <p:sp>
        <p:nvSpPr>
          <p:cNvPr id="75" name="Google Shape;75;p8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76" name="Google Shape;76;p8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77" name="Google Shape;77;p8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8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84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82" name="Google Shape;82;p8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83" name="Google Shape;83;p8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84" name="Google Shape;84;p8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5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8" name="Google Shape;88;p85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89" name="Google Shape;89;p85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90" name="Google Shape;90;p85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91" name="Google Shape;91;p85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4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" name="Google Shape;7;p74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dirty="0"/>
          </a:p>
        </p:txBody>
      </p:sp>
      <p:sp>
        <p:nvSpPr>
          <p:cNvPr id="8" name="Google Shape;8;p7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lang="es-EC" dirty="0"/>
          </a:p>
        </p:txBody>
      </p:sp>
      <p:sp>
        <p:nvSpPr>
          <p:cNvPr id="9" name="Google Shape;9;p7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lang="es-EC" dirty="0"/>
          </a:p>
        </p:txBody>
      </p:sp>
      <p:sp>
        <p:nvSpPr>
          <p:cNvPr id="10" name="Google Shape;10;p7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1" name="Google Shape;11;p7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7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7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mbria" panose="02040503050406030204" pitchFamily="18" charset="0"/>
          <a:ea typeface="Cambria" panose="020405030504060302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mbria" panose="02040503050406030204" pitchFamily="18" charset="0"/>
          <a:ea typeface="Cambria" panose="020405030504060302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52600" y="3192998"/>
            <a:ext cx="10993500" cy="13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 dirty="0">
                <a:solidFill>
                  <a:schemeClr val="lt1"/>
                </a:solidFill>
              </a:rPr>
              <a:t>SISTEMA BANCARIO EUREKA BANK CON MICROSERVICIOS SOAP JAVA Y BASE DE DATOS EN LA NUBE</a:t>
            </a: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1355001" y="4572000"/>
            <a:ext cx="4261500" cy="18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lt1"/>
                </a:solidFill>
              </a:rPr>
              <a:t>INTEGRANTES: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lt1"/>
                </a:solidFill>
              </a:rPr>
              <a:t>Cristian </a:t>
            </a:r>
            <a:r>
              <a:rPr lang="es-ES" b="1" dirty="0" err="1">
                <a:solidFill>
                  <a:schemeClr val="lt1"/>
                </a:solidFill>
              </a:rPr>
              <a:t>Jose</a:t>
            </a:r>
            <a:r>
              <a:rPr lang="es-ES" b="1" dirty="0">
                <a:solidFill>
                  <a:schemeClr val="lt1"/>
                </a:solidFill>
              </a:rPr>
              <a:t> </a:t>
            </a:r>
            <a:r>
              <a:rPr lang="es-ES" b="1" dirty="0" err="1">
                <a:solidFill>
                  <a:schemeClr val="lt1"/>
                </a:solidFill>
              </a:rPr>
              <a:t>Acalo</a:t>
            </a:r>
            <a:r>
              <a:rPr lang="es-ES" b="1" dirty="0">
                <a:solidFill>
                  <a:schemeClr val="lt1"/>
                </a:solidFill>
              </a:rPr>
              <a:t> Cruz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lt1"/>
                </a:solidFill>
              </a:rPr>
              <a:t>Javier </a:t>
            </a:r>
            <a:r>
              <a:rPr lang="es-ES" b="1" dirty="0" err="1">
                <a:solidFill>
                  <a:schemeClr val="lt1"/>
                </a:solidFill>
              </a:rPr>
              <a:t>Cristobal</a:t>
            </a:r>
            <a:r>
              <a:rPr lang="es-ES" b="1" dirty="0">
                <a:solidFill>
                  <a:schemeClr val="lt1"/>
                </a:solidFill>
              </a:rPr>
              <a:t> Gonzaga Peñafiel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lt1"/>
                </a:solidFill>
              </a:rPr>
              <a:t>Jefferson Leonardo Obando Carlosama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b="1" dirty="0">
              <a:solidFill>
                <a:schemeClr val="lt1"/>
              </a:solidFill>
            </a:endParaRPr>
          </a:p>
        </p:txBody>
      </p:sp>
      <p:pic>
        <p:nvPicPr>
          <p:cNvPr id="98" name="Google Shape;98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6909663" y="4572001"/>
            <a:ext cx="42615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FECHA: 12/02/2026</a:t>
            </a:r>
            <a:endParaRPr sz="1600" b="1" dirty="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0" lvl="0" indent="0" algn="l" rtl="0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 dirty="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0" lvl="0" indent="0" algn="l" rtl="0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ING: MAURICIO CAMPAÑA</a:t>
            </a:r>
            <a:endParaRPr sz="1600" b="1" dirty="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endParaRPr sz="1600" b="1" dirty="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601252" y="716872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9870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MARCO TEÓRICO</a:t>
            </a:r>
            <a:endParaRPr dirty="0">
              <a:solidFill>
                <a:schemeClr val="lt1"/>
              </a:solidFill>
            </a:endParaRPr>
          </a:p>
          <a:p>
            <a:pPr marL="457200" lvl="0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DESARROLLO</a:t>
            </a:r>
            <a:endParaRPr sz="1200" b="1" dirty="0">
              <a:solidFill>
                <a:schemeClr val="lt1"/>
              </a:solidFill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OBJETIVO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MODELO CONCEPTUAL DE LA BASE DE DATOS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CREAR BASE DE DATOS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CREACIÓN DEL SERVIDOR SOAP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CREACIÓN DEL PROYECTO – CLIENTE CONSOLA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CREACIÓN DEL PROYECTO – CLIENTE ESCRITORIO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CREACIÓN DEL PROYECTO – CLIENTE WEB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CREACIÓN DEL PROYECTO – CLIENTE MÓVIL</a:t>
            </a: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DIAGRAMAS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CONCLUSIONES</a:t>
            </a:r>
            <a:endParaRPr sz="1200" b="1" dirty="0">
              <a:solidFill>
                <a:schemeClr val="lt1"/>
              </a:solidFill>
            </a:endParaRPr>
          </a:p>
          <a:p>
            <a:pPr marL="457200" lvl="0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RECOMENDACIONES</a:t>
            </a:r>
            <a:endParaRPr sz="1200" b="1" dirty="0">
              <a:solidFill>
                <a:schemeClr val="lt1"/>
              </a:solidFill>
            </a:endParaRPr>
          </a:p>
          <a:p>
            <a:pPr marL="457200" lvl="0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BIBLIOGRAFÍA</a:t>
            </a:r>
            <a:endParaRPr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79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5437"/>
          <a:stretch/>
        </p:blipFill>
        <p:spPr>
          <a:xfrm>
            <a:off x="4343750" y="1869813"/>
            <a:ext cx="7678700" cy="31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MARCO TEÓRICO</a:t>
            </a:r>
            <a:endParaRPr dirty="0"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just">
              <a:lnSpc>
                <a:spcPct val="107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1.1 ARQUITECTURA ORIENTADA A SERVICIOS (SOAP)</a:t>
            </a:r>
          </a:p>
          <a:p>
            <a:pPr marL="123444" indent="0">
              <a:buNone/>
            </a:pPr>
            <a:r>
              <a:rPr lang="es-ES" dirty="0"/>
              <a:t>La Arquitectura Orientada a Servicios (SOA) es un paradigma de diseño que permite estructurar sistemas complejos mediante servicios independientes, reutilizables y desacoplados, que se comunican a través de contratos formales.</a:t>
            </a:r>
          </a:p>
          <a:p>
            <a:pPr marL="123444" indent="0">
              <a:buNone/>
            </a:pPr>
            <a:endParaRPr lang="es-ES" dirty="0"/>
          </a:p>
          <a:p>
            <a:pPr marL="123444" indent="0">
              <a:buNone/>
            </a:pPr>
            <a:r>
              <a:rPr lang="es-ES" dirty="0"/>
              <a:t>En el proyecto </a:t>
            </a:r>
            <a:r>
              <a:rPr lang="es-ES" dirty="0" err="1"/>
              <a:t>EurekaBank</a:t>
            </a:r>
            <a:r>
              <a:rPr lang="es-ES" dirty="0"/>
              <a:t>, se implementa una arquitectura SOA basada en servicios web SOAP desarrollados con Spring </a:t>
            </a:r>
            <a:r>
              <a:rPr lang="es-ES" dirty="0" err="1"/>
              <a:t>Boot</a:t>
            </a:r>
            <a:r>
              <a:rPr lang="es-ES" dirty="0"/>
              <a:t> y Spring Web </a:t>
            </a:r>
            <a:r>
              <a:rPr lang="es-ES" dirty="0" err="1"/>
              <a:t>Services</a:t>
            </a:r>
            <a:r>
              <a:rPr lang="es-ES" dirty="0"/>
              <a:t>, donde cada funcionalidad del sistema bancario (autenticación, transacciones, cuentas, clientes y reportes) es expuesta como un servicio independiente con su respectivo contrato WSDL.</a:t>
            </a:r>
          </a:p>
          <a:p>
            <a:pPr marL="123444" indent="0">
              <a:buNone/>
            </a:pPr>
            <a:endParaRPr lang="es-ES" dirty="0"/>
          </a:p>
          <a:p>
            <a:pPr marL="123444" indent="0">
              <a:buNone/>
            </a:pPr>
            <a:r>
              <a:rPr lang="es-ES" dirty="0"/>
              <a:t>Esta arquitectura permite que múltiples aplicaciones cliente (Web, Escritorio, Móvil y Consola) consuman los mismos servicios sin duplicar lógica de negocio, garantizando interoperabilidad, consistencia y centralización de reglas bancarias.</a:t>
            </a:r>
          </a:p>
          <a:p>
            <a:pPr marL="123444" indent="0">
              <a:buNone/>
            </a:pPr>
            <a:endParaRPr lang="es-ES" dirty="0"/>
          </a:p>
          <a:p>
            <a:pPr marL="123444" indent="0">
              <a:buNone/>
            </a:pPr>
            <a:r>
              <a:rPr lang="es-ES" dirty="0"/>
              <a:t>Además, el despliegue de los servicios en contenedores Docker fortalece la portabilidad y facilita la administración del sistema en distintos entornos.</a:t>
            </a:r>
          </a:p>
        </p:txBody>
      </p:sp>
      <p:sp>
        <p:nvSpPr>
          <p:cNvPr id="116" name="Google Shape;116;p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CE980573-60FD-6AB9-1F60-D949DD45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>
            <a:extLst>
              <a:ext uri="{FF2B5EF4-FFF2-40B4-BE49-F238E27FC236}">
                <a16:creationId xmlns:a16="http://schemas.microsoft.com/office/drawing/2014/main" id="{5CA582B9-0FAA-B821-2636-C08C97643F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MARCO TEÓRICO</a:t>
            </a:r>
            <a:endParaRPr dirty="0"/>
          </a:p>
        </p:txBody>
      </p:sp>
      <p:sp>
        <p:nvSpPr>
          <p:cNvPr id="115" name="Google Shape;115;p3">
            <a:extLst>
              <a:ext uri="{FF2B5EF4-FFF2-40B4-BE49-F238E27FC236}">
                <a16:creationId xmlns:a16="http://schemas.microsoft.com/office/drawing/2014/main" id="{C23BF1C0-8139-514D-513E-E0FB66885E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123444" indent="0">
              <a:buNone/>
            </a:pPr>
            <a:r>
              <a:rPr lang="es-ES" b="1" dirty="0"/>
              <a:t>Características principales:</a:t>
            </a:r>
          </a:p>
          <a:p>
            <a:r>
              <a:rPr lang="es-ES" b="1" dirty="0"/>
              <a:t>Interoperabilidad entre sistemas heterogéneos:</a:t>
            </a:r>
            <a:br>
              <a:rPr lang="es-ES" dirty="0"/>
            </a:br>
            <a:r>
              <a:rPr lang="es-ES" dirty="0"/>
              <a:t>Los servicios SOAP utilizan estándares abiertos (XML, WSDL, XSD), permitiendo integración con aplicaciones desarrolladas en distintas tecnologías como .NET, Java u otros lenguajes compatibles.</a:t>
            </a:r>
          </a:p>
          <a:p>
            <a:pPr marL="123444" indent="0">
              <a:buNone/>
            </a:pPr>
            <a:endParaRPr lang="es-ES" dirty="0"/>
          </a:p>
          <a:p>
            <a:r>
              <a:rPr lang="es-ES" b="1" dirty="0"/>
              <a:t>Reutilización de servicios:</a:t>
            </a:r>
            <a:br>
              <a:rPr lang="es-ES" dirty="0"/>
            </a:br>
            <a:r>
              <a:rPr lang="es-ES" dirty="0"/>
              <a:t>La lógica de negocio se centraliza en los servicios SOAP, permitiendo que múltiples clientes reutilicen la misma funcionalidad sin replicar código.</a:t>
            </a:r>
          </a:p>
          <a:p>
            <a:pPr marL="123444" indent="0">
              <a:buNone/>
            </a:pPr>
            <a:endParaRPr lang="es-ES" dirty="0"/>
          </a:p>
          <a:p>
            <a:r>
              <a:rPr lang="es-ES" b="1" dirty="0"/>
              <a:t>Escalabilidad y mantenibilidad:</a:t>
            </a:r>
            <a:br>
              <a:rPr lang="es-ES" dirty="0"/>
            </a:br>
            <a:r>
              <a:rPr lang="es-ES" dirty="0"/>
              <a:t>La separación por capas (Servicios, Lógica de Negocio y Acceso a Datos), junto con el uso de patrones como DAO y DTO, facilita la evolución del sistema sin afectar su arquitectura base.</a:t>
            </a:r>
          </a:p>
          <a:p>
            <a:pPr marL="123444" indent="0">
              <a:buNone/>
            </a:pPr>
            <a:endParaRPr lang="es-ES" dirty="0"/>
          </a:p>
          <a:p>
            <a:r>
              <a:rPr lang="es-ES" b="1" dirty="0"/>
              <a:t>Integración con comunicación en tiempo real:</a:t>
            </a:r>
            <a:br>
              <a:rPr lang="es-ES" dirty="0"/>
            </a:br>
            <a:r>
              <a:rPr lang="es-ES" dirty="0"/>
              <a:t>Aunque la arquitectura principal es SOAP (comunicación síncrona estructurada), el sistema se complementa con </a:t>
            </a:r>
            <a:r>
              <a:rPr lang="es-ES" dirty="0" err="1"/>
              <a:t>WebSockets</a:t>
            </a:r>
            <a:r>
              <a:rPr lang="es-ES" dirty="0"/>
              <a:t> para eventos en tiempo real, combinando robustez empresarial con capacidad reactiva.</a:t>
            </a:r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DECBBCCD-918E-2EFC-7F54-3C6E1B9EF508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097434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5b9630aa3_8_47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MARCO TEÓRICO</a:t>
            </a:r>
            <a:endParaRPr dirty="0"/>
          </a:p>
        </p:txBody>
      </p:sp>
      <p:sp>
        <p:nvSpPr>
          <p:cNvPr id="122" name="Google Shape;122;g3a5b9630aa3_8_470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1.2 SERVICIOS WEB SOAP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SOAP (Simple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Object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Access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Protocol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) es un protocolo de mensajería basado en XML que permite la comunicación entre aplicaciones a través de Internet. En este proyecto, SOAP se implementa mediante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Jakarta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EE (JAX-WS).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Ventajas de SOAP: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Estándares bien definidos (WSDL, XSD)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Seguridad robusta (WS-Security)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Transacciones distribuidas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Independencia de plataforma y lenguaje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123" name="Google Shape;123;g3a5b9630aa3_8_47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5b9630aa3_7_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dirty="0"/>
              <a:t>MARCO TEÓRICO</a:t>
            </a:r>
            <a:endParaRPr dirty="0"/>
          </a:p>
        </p:txBody>
      </p:sp>
      <p:sp>
        <p:nvSpPr>
          <p:cNvPr id="129" name="Google Shape;129;g3a5b9630aa3_7_7"/>
          <p:cNvSpPr txBox="1">
            <a:spLocks noGrp="1"/>
          </p:cNvSpPr>
          <p:nvPr>
            <p:ph type="body" idx="1"/>
          </p:nvPr>
        </p:nvSpPr>
        <p:spPr>
          <a:xfrm>
            <a:off x="384048" y="2180500"/>
            <a:ext cx="8787950" cy="437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1.3 TECNOLOGÍAS UTILIZADAS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123444" indent="0">
              <a:buNone/>
            </a:pPr>
            <a:r>
              <a:rPr lang="es-EC" dirty="0"/>
              <a:t>El proyecto implementa un </a:t>
            </a:r>
            <a:r>
              <a:rPr lang="es-EC" dirty="0" err="1"/>
              <a:t>stack</a:t>
            </a:r>
            <a:r>
              <a:rPr lang="es-EC" dirty="0"/>
              <a:t> tecnológico moderno basado en el ecosistema Java y estándares empresariales, manteniendo una arquitectura orientada a servicios (SOAP) con herramientas actuales que fortalecen la portabilidad y mantenibilidad del sistema.</a:t>
            </a:r>
          </a:p>
          <a:p>
            <a:pPr marL="123444" indent="0">
              <a:buNone/>
            </a:pPr>
            <a:r>
              <a:rPr lang="es-EC" b="1" dirty="0" err="1"/>
              <a:t>Backend</a:t>
            </a:r>
            <a:endParaRPr lang="es-EC" b="1" dirty="0"/>
          </a:p>
          <a:p>
            <a:pPr marL="123444" indent="0">
              <a:buNone/>
            </a:pPr>
            <a:r>
              <a:rPr lang="es-EC" b="1" dirty="0"/>
              <a:t>	Lenguaje </a:t>
            </a:r>
            <a:r>
              <a:rPr lang="es-EC" b="1" dirty="0" err="1"/>
              <a:t>Backend</a:t>
            </a:r>
            <a:r>
              <a:rPr lang="es-EC" b="1" dirty="0"/>
              <a:t>:</a:t>
            </a:r>
            <a:r>
              <a:rPr lang="es-EC" dirty="0"/>
              <a:t> Java 17</a:t>
            </a:r>
            <a:br>
              <a:rPr lang="es-EC" dirty="0"/>
            </a:br>
            <a:r>
              <a:rPr lang="es-EC" dirty="0"/>
              <a:t>	</a:t>
            </a:r>
            <a:r>
              <a:rPr lang="es-EC" b="1" dirty="0"/>
              <a:t>Framework Principal:</a:t>
            </a:r>
            <a:r>
              <a:rPr lang="es-EC" dirty="0"/>
              <a:t> Spring </a:t>
            </a:r>
            <a:r>
              <a:rPr lang="es-EC" dirty="0" err="1"/>
              <a:t>Boot</a:t>
            </a:r>
            <a:br>
              <a:rPr lang="es-EC" dirty="0"/>
            </a:br>
            <a:r>
              <a:rPr lang="es-EC" dirty="0"/>
              <a:t>	</a:t>
            </a:r>
            <a:r>
              <a:rPr lang="es-EC" b="1" dirty="0"/>
              <a:t>Servicios Web:</a:t>
            </a:r>
            <a:r>
              <a:rPr lang="es-EC" dirty="0"/>
              <a:t> Spring Web </a:t>
            </a:r>
            <a:r>
              <a:rPr lang="es-EC" dirty="0" err="1"/>
              <a:t>Services</a:t>
            </a:r>
            <a:r>
              <a:rPr lang="es-EC" dirty="0"/>
              <a:t> (Spring-WS) – SOAP</a:t>
            </a:r>
            <a:br>
              <a:rPr lang="es-EC" dirty="0"/>
            </a:br>
            <a:r>
              <a:rPr lang="es-EC" dirty="0"/>
              <a:t>	</a:t>
            </a:r>
            <a:r>
              <a:rPr lang="es-EC" b="1" dirty="0"/>
              <a:t>ORM:</a:t>
            </a:r>
            <a:r>
              <a:rPr lang="es-EC" dirty="0"/>
              <a:t> JPA / </a:t>
            </a:r>
            <a:r>
              <a:rPr lang="es-EC" dirty="0" err="1"/>
              <a:t>Hibernate</a:t>
            </a:r>
            <a:endParaRPr lang="es-EC" dirty="0"/>
          </a:p>
          <a:p>
            <a:pPr marL="123444" indent="0">
              <a:buNone/>
            </a:pPr>
            <a:r>
              <a:rPr lang="es-EC" b="1" dirty="0"/>
              <a:t>Clientes</a:t>
            </a:r>
          </a:p>
          <a:p>
            <a:pPr marL="123444" indent="0">
              <a:buNone/>
            </a:pPr>
            <a:r>
              <a:rPr lang="es-EC" b="1" dirty="0"/>
              <a:t>	Lenguaje Clientes:</a:t>
            </a:r>
            <a:r>
              <a:rPr lang="es-EC" dirty="0"/>
              <a:t> .NET Framework 4.8+ / .NET 6+</a:t>
            </a:r>
          </a:p>
          <a:p>
            <a:pPr marL="123444" indent="0">
              <a:buNone/>
            </a:pPr>
            <a:r>
              <a:rPr lang="es-EC" b="1" dirty="0"/>
              <a:t>Infraestructura y Despliegue</a:t>
            </a:r>
          </a:p>
          <a:p>
            <a:pPr marL="123444" indent="0">
              <a:buNone/>
            </a:pPr>
            <a:r>
              <a:rPr lang="es-EC" b="1" dirty="0"/>
              <a:t>	Servidor embebido:</a:t>
            </a:r>
            <a:r>
              <a:rPr lang="es-EC" dirty="0"/>
              <a:t> Tomcat (integrado en Spring </a:t>
            </a:r>
            <a:r>
              <a:rPr lang="es-EC" dirty="0" err="1"/>
              <a:t>Boot</a:t>
            </a:r>
            <a:r>
              <a:rPr lang="es-EC" dirty="0"/>
              <a:t>)</a:t>
            </a:r>
            <a:br>
              <a:rPr lang="es-EC" dirty="0"/>
            </a:br>
            <a:r>
              <a:rPr lang="es-EC" dirty="0"/>
              <a:t>	</a:t>
            </a:r>
            <a:r>
              <a:rPr lang="es-EC" b="1" dirty="0" err="1"/>
              <a:t>Contenedorización</a:t>
            </a:r>
            <a:r>
              <a:rPr lang="es-EC" b="1" dirty="0"/>
              <a:t>:</a:t>
            </a:r>
            <a:r>
              <a:rPr lang="es-EC" dirty="0"/>
              <a:t> Docker</a:t>
            </a:r>
            <a:br>
              <a:rPr lang="es-EC" dirty="0"/>
            </a:br>
            <a:r>
              <a:rPr lang="es-EC" dirty="0"/>
              <a:t>	</a:t>
            </a:r>
            <a:r>
              <a:rPr lang="es-EC" b="1" dirty="0"/>
              <a:t>API Gateway:</a:t>
            </a:r>
            <a:r>
              <a:rPr lang="es-EC" dirty="0"/>
              <a:t> Kong (para centralización de acceso)</a:t>
            </a:r>
            <a:br>
              <a:rPr lang="es-EC" dirty="0"/>
            </a:br>
            <a:r>
              <a:rPr lang="es-EC" dirty="0"/>
              <a:t>	</a:t>
            </a:r>
            <a:r>
              <a:rPr lang="es-EC" b="1" dirty="0"/>
              <a:t>Base de Datos:</a:t>
            </a:r>
            <a:r>
              <a:rPr lang="es-EC" dirty="0"/>
              <a:t> MySQL 8.0 (</a:t>
            </a:r>
            <a:r>
              <a:rPr lang="es-EC" dirty="0" err="1"/>
              <a:t>Railway</a:t>
            </a:r>
            <a:r>
              <a:rPr lang="es-EC" dirty="0"/>
              <a:t> Cloud)</a:t>
            </a:r>
          </a:p>
          <a:p>
            <a:pPr marL="123444" indent="0">
              <a:buNone/>
            </a:pPr>
            <a:r>
              <a:rPr lang="es-EC" b="1" dirty="0"/>
              <a:t>Herramientas de Desarrollo</a:t>
            </a:r>
          </a:p>
          <a:p>
            <a:pPr marL="123444" indent="0">
              <a:buNone/>
            </a:pPr>
            <a:r>
              <a:rPr lang="es-EC" b="1" dirty="0"/>
              <a:t>	IDE </a:t>
            </a:r>
            <a:r>
              <a:rPr lang="es-EC" b="1" dirty="0" err="1"/>
              <a:t>Backend</a:t>
            </a:r>
            <a:r>
              <a:rPr lang="es-EC" b="1" dirty="0"/>
              <a:t>:</a:t>
            </a:r>
            <a:r>
              <a:rPr lang="es-EC" dirty="0"/>
              <a:t> IntelliJ IDEA</a:t>
            </a:r>
            <a:br>
              <a:rPr lang="es-EC" dirty="0"/>
            </a:br>
            <a:r>
              <a:rPr lang="es-EC" dirty="0"/>
              <a:t>	</a:t>
            </a:r>
            <a:r>
              <a:rPr lang="es-EC" b="1" dirty="0"/>
              <a:t>IDE Clientes:</a:t>
            </a:r>
            <a:r>
              <a:rPr lang="es-EC" dirty="0"/>
              <a:t> Visual Studio 2022</a:t>
            </a:r>
            <a:br>
              <a:rPr lang="es-EC" dirty="0"/>
            </a:br>
            <a:r>
              <a:rPr lang="es-EC" dirty="0"/>
              <a:t>	</a:t>
            </a:r>
            <a:r>
              <a:rPr lang="es-EC" b="1" dirty="0" err="1"/>
              <a:t>Build</a:t>
            </a:r>
            <a:r>
              <a:rPr lang="es-EC" b="1" dirty="0"/>
              <a:t> Tool:</a:t>
            </a:r>
            <a:r>
              <a:rPr lang="es-EC" dirty="0"/>
              <a:t> Maven</a:t>
            </a:r>
            <a:br>
              <a:rPr lang="es-EC" dirty="0"/>
            </a:br>
            <a:r>
              <a:rPr lang="es-EC" dirty="0"/>
              <a:t>	</a:t>
            </a:r>
            <a:r>
              <a:rPr lang="es-EC" b="1" dirty="0"/>
              <a:t>Gestión de Dependencias:</a:t>
            </a:r>
            <a:r>
              <a:rPr lang="es-EC" dirty="0"/>
              <a:t> Spring </a:t>
            </a:r>
            <a:r>
              <a:rPr lang="es-EC" dirty="0" err="1"/>
              <a:t>Dependency</a:t>
            </a:r>
            <a:r>
              <a:rPr lang="es-EC" dirty="0"/>
              <a:t> Management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ct val="61110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3" name="Google Shape;123;g3a5b9630aa3_8_470">
            <a:extLst>
              <a:ext uri="{FF2B5EF4-FFF2-40B4-BE49-F238E27FC236}">
                <a16:creationId xmlns:a16="http://schemas.microsoft.com/office/drawing/2014/main" id="{D93D0568-D939-DC28-FB00-31329E47EB7C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5b9630aa3_7_1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dirty="0"/>
              <a:t>MARCO TEÓRICO</a:t>
            </a:r>
            <a:endParaRPr dirty="0"/>
          </a:p>
        </p:txBody>
      </p:sp>
      <p:sp>
        <p:nvSpPr>
          <p:cNvPr id="136" name="Google Shape;136;g3a5b9630aa3_7_14"/>
          <p:cNvSpPr txBox="1">
            <a:spLocks noGrp="1"/>
          </p:cNvSpPr>
          <p:nvPr>
            <p:ph type="body" idx="1"/>
          </p:nvPr>
        </p:nvSpPr>
        <p:spPr>
          <a:xfrm>
            <a:off x="581198" y="2180500"/>
            <a:ext cx="8562900" cy="421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1.4 CAPA DE SERVICIO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123444" indent="0">
              <a:buNone/>
            </a:pPr>
            <a:r>
              <a:rPr lang="es-ES" dirty="0"/>
              <a:t>Implementada con </a:t>
            </a:r>
            <a:r>
              <a:rPr lang="es-ES" b="1" dirty="0"/>
              <a:t>Spring </a:t>
            </a:r>
            <a:r>
              <a:rPr lang="es-ES" b="1" dirty="0" err="1"/>
              <a:t>Boot</a:t>
            </a:r>
            <a:r>
              <a:rPr lang="es-ES" b="1" dirty="0"/>
              <a:t> + Spring Web </a:t>
            </a:r>
            <a:r>
              <a:rPr lang="es-ES" b="1" dirty="0" err="1"/>
              <a:t>Services</a:t>
            </a:r>
            <a:r>
              <a:rPr lang="es-ES" dirty="0"/>
              <a:t>, esta capa expone los servicios SOAP del sistema (Autenticación, Transacciones, Clientes, Cuentas, Reportes y Ventanillas).</a:t>
            </a:r>
          </a:p>
          <a:p>
            <a:pPr marL="123444" indent="0">
              <a:buNone/>
            </a:pPr>
            <a:r>
              <a:rPr lang="es-ES" dirty="0"/>
              <a:t>Internamente está organizada en:</a:t>
            </a:r>
          </a:p>
          <a:p>
            <a:pPr marL="123444" indent="0">
              <a:buNone/>
            </a:pPr>
            <a:r>
              <a:rPr lang="es-ES" dirty="0"/>
              <a:t>	</a:t>
            </a:r>
            <a:r>
              <a:rPr lang="es-ES" dirty="0" err="1"/>
              <a:t>Endpoints</a:t>
            </a:r>
            <a:r>
              <a:rPr lang="es-ES" dirty="0"/>
              <a:t> SOAP (Spring-WS)</a:t>
            </a:r>
          </a:p>
          <a:p>
            <a:pPr marL="123444" indent="0">
              <a:buNone/>
            </a:pPr>
            <a:r>
              <a:rPr lang="es-ES" dirty="0"/>
              <a:t>	</a:t>
            </a:r>
            <a:r>
              <a:rPr lang="es-ES" dirty="0" err="1"/>
              <a:t>Services</a:t>
            </a:r>
            <a:r>
              <a:rPr lang="es-ES" dirty="0"/>
              <a:t> (reglas de negocio)</a:t>
            </a:r>
          </a:p>
          <a:p>
            <a:pPr marL="123444" indent="0">
              <a:buNone/>
            </a:pPr>
            <a:r>
              <a:rPr lang="es-ES" dirty="0"/>
              <a:t>	</a:t>
            </a:r>
            <a:r>
              <a:rPr lang="es-ES" dirty="0" err="1"/>
              <a:t>DTOs</a:t>
            </a:r>
            <a:endParaRPr lang="es-ES" dirty="0"/>
          </a:p>
          <a:p>
            <a:pPr marL="123444" indent="0">
              <a:buNone/>
            </a:pPr>
            <a:r>
              <a:rPr lang="es-ES" dirty="0"/>
              <a:t>	Manejo de excepciones SOAP </a:t>
            </a:r>
            <a:r>
              <a:rPr lang="es-ES" dirty="0" err="1"/>
              <a:t>Fault</a:t>
            </a:r>
            <a:endParaRPr lang="es-ES" dirty="0"/>
          </a:p>
          <a:p>
            <a:pPr marL="123444" indent="0">
              <a:buNone/>
            </a:pPr>
            <a:r>
              <a:rPr lang="es-ES" dirty="0"/>
              <a:t>	Control transaccional mediante @Transactional</a:t>
            </a:r>
          </a:p>
          <a:p>
            <a:pPr marL="123444" indent="0">
              <a:buNone/>
            </a:pPr>
            <a:r>
              <a:rPr lang="es-ES" dirty="0"/>
              <a:t>Aquí se implementan:</a:t>
            </a:r>
          </a:p>
          <a:p>
            <a:pPr marL="123444" indent="0">
              <a:buNone/>
            </a:pPr>
            <a:r>
              <a:rPr lang="es-ES" dirty="0"/>
              <a:t>	Validaciones bancarias.</a:t>
            </a:r>
          </a:p>
          <a:p>
            <a:pPr marL="123444" indent="0">
              <a:buNone/>
            </a:pPr>
            <a:r>
              <a:rPr lang="es-ES" dirty="0"/>
              <a:t>	Cálculo automático de cargos (ITF, costos por movimiento).</a:t>
            </a:r>
          </a:p>
          <a:p>
            <a:pPr marL="123444" indent="0">
              <a:buNone/>
            </a:pPr>
            <a:r>
              <a:rPr lang="es-ES" dirty="0"/>
              <a:t>	Control de estado de cuentas.</a:t>
            </a:r>
          </a:p>
          <a:p>
            <a:pPr marL="123444" indent="0">
              <a:buNone/>
            </a:pPr>
            <a:r>
              <a:rPr lang="es-ES" dirty="0"/>
              <a:t>	Reglas de seguridad.</a:t>
            </a:r>
          </a:p>
          <a:p>
            <a:pPr marL="123444" indent="0">
              <a:buNone/>
            </a:pPr>
            <a:endParaRPr lang="es-ES" dirty="0"/>
          </a:p>
          <a:p>
            <a:pPr marL="123444" indent="0">
              <a:buNone/>
            </a:pPr>
            <a:r>
              <a:rPr lang="es-ES" dirty="0"/>
              <a:t>Esta capa representa el núcleo del sistema y está desplegada en contenedores Docker para facilitar su portabilidad y administración.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99459"/>
              <a:buNone/>
            </a:pPr>
            <a:endParaRPr dirty="0"/>
          </a:p>
        </p:txBody>
      </p:sp>
      <p:sp>
        <p:nvSpPr>
          <p:cNvPr id="2" name="Google Shape;123;g3a5b9630aa3_8_470">
            <a:extLst>
              <a:ext uri="{FF2B5EF4-FFF2-40B4-BE49-F238E27FC236}">
                <a16:creationId xmlns:a16="http://schemas.microsoft.com/office/drawing/2014/main" id="{271D3A8B-95EF-A695-7447-5AF150292A4D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5b9630aa3_8_46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43" name="Google Shape;143;g3a5b9630aa3_8_462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23444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2.1    OBJETIVO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123444" indent="0">
              <a:buNone/>
            </a:pPr>
            <a:endParaRPr lang="es-ES" dirty="0"/>
          </a:p>
          <a:p>
            <a:pPr marL="123444" indent="0">
              <a:buNone/>
            </a:pPr>
            <a:r>
              <a:rPr lang="es-ES" dirty="0"/>
              <a:t>Diseñar e implementar un sistema bancario basado en arquitectura de microservicios utilizando Spring </a:t>
            </a:r>
            <a:r>
              <a:rPr lang="es-ES" dirty="0" err="1"/>
              <a:t>Boot</a:t>
            </a:r>
            <a:r>
              <a:rPr lang="es-ES" dirty="0"/>
              <a:t> y Docker, garantizando escalabilidad, independencia de despliegue, comunicación eficiente entre servicios y alta disponibilidad.</a:t>
            </a:r>
            <a:endParaRPr lang="es-EC" dirty="0"/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" name="Google Shape;123;g3a5b9630aa3_8_470">
            <a:extLst>
              <a:ext uri="{FF2B5EF4-FFF2-40B4-BE49-F238E27FC236}">
                <a16:creationId xmlns:a16="http://schemas.microsoft.com/office/drawing/2014/main" id="{AA00DDAA-0B94-1CF9-F84D-05EA10D5586F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bg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50" name="Google Shape;150;p4"/>
          <p:cNvSpPr txBox="1">
            <a:spLocks noGrp="1"/>
          </p:cNvSpPr>
          <p:nvPr>
            <p:ph type="body" idx="1"/>
          </p:nvPr>
        </p:nvSpPr>
        <p:spPr>
          <a:xfrm>
            <a:off x="581192" y="1971721"/>
            <a:ext cx="85893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2.2    MODELO CONCEPTUAL DE LA BASE DE DATOS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      A continuación, se presenta el modelo conceptual de la base de datos "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EurekaBank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" desplegada en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Railway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(MySQL 8.0)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152" name="Google Shape;15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5954" y="3016928"/>
            <a:ext cx="5819775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3;g3a5b9630aa3_8_470">
            <a:extLst>
              <a:ext uri="{FF2B5EF4-FFF2-40B4-BE49-F238E27FC236}">
                <a16:creationId xmlns:a16="http://schemas.microsoft.com/office/drawing/2014/main" id="{0EFA4C3C-0305-ACF8-A91E-584445968DD5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bg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58" name="Google Shape;158;p5"/>
          <p:cNvSpPr txBox="1">
            <a:spLocks noGrp="1"/>
          </p:cNvSpPr>
          <p:nvPr>
            <p:ph type="body" idx="1"/>
          </p:nvPr>
        </p:nvSpPr>
        <p:spPr>
          <a:xfrm>
            <a:off x="595569" y="1849818"/>
            <a:ext cx="8589441" cy="124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2.3	CREAR BASE DE DATOS</a:t>
            </a:r>
            <a:endParaRPr dirty="0"/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Al abrir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Railway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 se crean las bases de datos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EurekaBank_db</a:t>
            </a:r>
            <a:endParaRPr dirty="0"/>
          </a:p>
        </p:txBody>
      </p:sp>
      <p:sp>
        <p:nvSpPr>
          <p:cNvPr id="159" name="Google Shape;159;p5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161" name="Google Shape;161;p5" descr="Una captura de pantalla de una computador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l="4565" t="14647" r="2824" b="7440"/>
          <a:stretch/>
        </p:blipFill>
        <p:spPr>
          <a:xfrm>
            <a:off x="1145975" y="3232200"/>
            <a:ext cx="6910199" cy="3270499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2" name="Google Shape;123;g3a5b9630aa3_8_470">
            <a:extLst>
              <a:ext uri="{FF2B5EF4-FFF2-40B4-BE49-F238E27FC236}">
                <a16:creationId xmlns:a16="http://schemas.microsoft.com/office/drawing/2014/main" id="{212F9417-34B9-B9C1-73ED-6759F0E6349C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bg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xfrm>
            <a:off x="581192" y="1848998"/>
            <a:ext cx="8589441" cy="76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2.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4.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Ahora para insertar datos deberemos usar nuestro script </a:t>
            </a:r>
            <a:r>
              <a:rPr lang="es-ES" sz="1800" dirty="0" err="1">
                <a:ea typeface="Cambria"/>
                <a:cs typeface="Arial" panose="020B0604020202020204" pitchFamily="34" charset="0"/>
                <a:sym typeface="Cambria"/>
              </a:rPr>
              <a:t>Carga_Datos.sql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, copiamos y PEGAMOS su contenido en la herramienta y verificamos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169" name="Google Shape;16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1763" y="2612175"/>
            <a:ext cx="2808299" cy="40871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3;g3a5b9630aa3_8_470">
            <a:extLst>
              <a:ext uri="{FF2B5EF4-FFF2-40B4-BE49-F238E27FC236}">
                <a16:creationId xmlns:a16="http://schemas.microsoft.com/office/drawing/2014/main" id="{7F848F4B-D7A8-5858-865E-7D769E1936F0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bg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xfrm>
            <a:off x="450550" y="1919250"/>
            <a:ext cx="87960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15774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2.4	Creación del Servidor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SOAP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>
              <a:lnSpc>
                <a:spcPct val="107000"/>
              </a:lnSpc>
              <a:spcBef>
                <a:spcPts val="0"/>
              </a:spcBef>
              <a:buSzPct val="108235"/>
              <a:buNone/>
            </a:pPr>
            <a:r>
              <a:rPr lang="es-ES" dirty="0"/>
              <a:t>Para la creación del servidor SOAP del sistema </a:t>
            </a:r>
            <a:r>
              <a:rPr lang="es-ES" dirty="0" err="1"/>
              <a:t>EurekaBank</a:t>
            </a:r>
            <a:r>
              <a:rPr lang="es-ES" dirty="0"/>
              <a:t>, se procede a desarrollar un nuevo proyecto utilizando </a:t>
            </a:r>
            <a:r>
              <a:rPr lang="es-ES" b="1" dirty="0"/>
              <a:t>Spring </a:t>
            </a:r>
            <a:r>
              <a:rPr lang="es-ES" b="1" dirty="0" err="1"/>
              <a:t>Boot</a:t>
            </a:r>
            <a:r>
              <a:rPr lang="es-ES" dirty="0"/>
              <a:t>, el cual permite construir aplicaciones empresariales modernas basadas en Java de forma simplificada y estructurada.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EEF7A26-2E0A-CA59-D2AF-5F9360B7B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455" y="3099552"/>
            <a:ext cx="6930189" cy="37584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FDAB7C53-14A0-EE08-4E4C-F4F7BFCEF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>
            <a:extLst>
              <a:ext uri="{FF2B5EF4-FFF2-40B4-BE49-F238E27FC236}">
                <a16:creationId xmlns:a16="http://schemas.microsoft.com/office/drawing/2014/main" id="{1FBB6E07-673C-C8BE-F915-94DA79FEE8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75" name="Google Shape;175;p8">
            <a:extLst>
              <a:ext uri="{FF2B5EF4-FFF2-40B4-BE49-F238E27FC236}">
                <a16:creationId xmlns:a16="http://schemas.microsoft.com/office/drawing/2014/main" id="{4401FE9F-AF26-DDF3-CA90-19191FC27B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550" y="1919250"/>
            <a:ext cx="87960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5774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2.4	Creación del Servidor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SOAP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>
              <a:lnSpc>
                <a:spcPct val="107000"/>
              </a:lnSpc>
              <a:spcBef>
                <a:spcPts val="0"/>
              </a:spcBef>
              <a:buSzPct val="108235"/>
              <a:buNone/>
            </a:pPr>
            <a:r>
              <a:rPr lang="es-ES" dirty="0"/>
              <a:t>El proyecto se crea desde </a:t>
            </a:r>
            <a:r>
              <a:rPr lang="es-ES" b="1" dirty="0"/>
              <a:t>Spring </a:t>
            </a:r>
            <a:r>
              <a:rPr lang="es-ES" b="1" dirty="0" err="1"/>
              <a:t>Initializr</a:t>
            </a:r>
            <a:r>
              <a:rPr lang="es-ES" dirty="0"/>
              <a:t> (ya sea desde IntelliJ IDEA o desde start.spring.io)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9EEDB0C9-52D5-1F04-2287-3FAE244A1C0E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6F77282C-88FA-348B-08F3-FA8C33EAD2EE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F4BD60-EDF8-C2CE-E8F4-1895C97C1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981" y="3136244"/>
            <a:ext cx="6529137" cy="359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703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09EC8B62-5499-B158-5BF4-88BA3ACB6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>
            <a:extLst>
              <a:ext uri="{FF2B5EF4-FFF2-40B4-BE49-F238E27FC236}">
                <a16:creationId xmlns:a16="http://schemas.microsoft.com/office/drawing/2014/main" id="{B272B690-5932-0ADF-4455-C561EF079F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75" name="Google Shape;175;p8">
            <a:extLst>
              <a:ext uri="{FF2B5EF4-FFF2-40B4-BE49-F238E27FC236}">
                <a16:creationId xmlns:a16="http://schemas.microsoft.com/office/drawing/2014/main" id="{460C0215-36CB-89C7-F58F-96400331AD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550" y="1919250"/>
            <a:ext cx="87960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5774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2.4	Creación del Servidor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SOAP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>
              <a:lnSpc>
                <a:spcPct val="107000"/>
              </a:lnSpc>
              <a:spcBef>
                <a:spcPts val="0"/>
              </a:spcBef>
              <a:buSzPct val="108235"/>
              <a:buNone/>
            </a:pPr>
            <a:r>
              <a:rPr lang="es-ES" dirty="0"/>
              <a:t>El proyecto se crea desde </a:t>
            </a:r>
            <a:r>
              <a:rPr lang="es-ES" b="1" dirty="0"/>
              <a:t>Spring </a:t>
            </a:r>
            <a:r>
              <a:rPr lang="es-ES" b="1" dirty="0" err="1"/>
              <a:t>Initializr</a:t>
            </a:r>
            <a:r>
              <a:rPr lang="es-ES" dirty="0"/>
              <a:t> (ya sea desde IntelliJ IDEA o desde start.spring.io)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CB93C2EF-1725-9D73-06EF-CB5D4A091B50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B37FEBCA-F3EE-50EA-9345-0F59E2CAE7CF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86C663-9400-1BF1-A081-40467E4BC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939" y="3136244"/>
            <a:ext cx="6561221" cy="337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279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78CD3DE5-B3F3-8B01-C5C2-9DAE1DAFD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>
            <a:extLst>
              <a:ext uri="{FF2B5EF4-FFF2-40B4-BE49-F238E27FC236}">
                <a16:creationId xmlns:a16="http://schemas.microsoft.com/office/drawing/2014/main" id="{8A992F09-7B80-7DF6-3239-F3D5F048A6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75" name="Google Shape;175;p8">
            <a:extLst>
              <a:ext uri="{FF2B5EF4-FFF2-40B4-BE49-F238E27FC236}">
                <a16:creationId xmlns:a16="http://schemas.microsoft.com/office/drawing/2014/main" id="{F3D762EA-4880-A4DA-2A7A-768C79EB4F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550" y="1919250"/>
            <a:ext cx="87960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5774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2.4	Creación del Servidor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SOAP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>
              <a:lnSpc>
                <a:spcPct val="107000"/>
              </a:lnSpc>
              <a:spcBef>
                <a:spcPts val="0"/>
              </a:spcBef>
              <a:buSzPct val="108235"/>
              <a:buNone/>
            </a:pPr>
            <a:r>
              <a:rPr lang="es-ES" dirty="0"/>
              <a:t>El proyecto se crea desde </a:t>
            </a:r>
            <a:r>
              <a:rPr lang="es-ES" b="1" dirty="0"/>
              <a:t>Spring </a:t>
            </a:r>
            <a:r>
              <a:rPr lang="es-ES" b="1" dirty="0" err="1"/>
              <a:t>Initializr</a:t>
            </a:r>
            <a:r>
              <a:rPr lang="es-ES" dirty="0"/>
              <a:t> (ya sea desde IntelliJ IDEA o desde start.spring.io)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55AC369C-9711-11FA-16EB-50E4DE4442F0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FE8E2C22-F5EB-CEB2-CF35-4958CBE48498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FB9D39-ACA8-926A-B424-762AEE64C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44" y="2932950"/>
            <a:ext cx="7700211" cy="365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96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84" name="Google Shape;184;p9"/>
          <p:cNvSpPr txBox="1">
            <a:spLocks noGrp="1"/>
          </p:cNvSpPr>
          <p:nvPr>
            <p:ph type="body" idx="1"/>
          </p:nvPr>
        </p:nvSpPr>
        <p:spPr>
          <a:xfrm>
            <a:off x="390692" y="1962876"/>
            <a:ext cx="8589441" cy="60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2.	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Se realizan los contenedores en Docker y se levantan los microservicios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C9BF5B-FDD1-9F97-7A38-8C1EF996D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91" y="3429000"/>
            <a:ext cx="8589441" cy="19218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93" name="Google Shape;193;p10"/>
          <p:cNvSpPr txBox="1">
            <a:spLocks noGrp="1"/>
          </p:cNvSpPr>
          <p:nvPr>
            <p:ph type="body" idx="1"/>
          </p:nvPr>
        </p:nvSpPr>
        <p:spPr>
          <a:xfrm>
            <a:off x="581191" y="1905093"/>
            <a:ext cx="8589441" cy="52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3. Ahora se crea la estructura del proyecto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dirty="0"/>
          </a:p>
        </p:txBody>
      </p:sp>
      <p:sp>
        <p:nvSpPr>
          <p:cNvPr id="194" name="Google Shape;194;p10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4DBBA0-9070-FE56-4F3A-7A23BBE99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536" y="2418112"/>
            <a:ext cx="6762750" cy="43243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02" name="Google Shape;202;p11"/>
          <p:cNvSpPr txBox="1">
            <a:spLocks noGrp="1"/>
          </p:cNvSpPr>
          <p:nvPr>
            <p:ph type="body" idx="1"/>
          </p:nvPr>
        </p:nvSpPr>
        <p:spPr>
          <a:xfrm>
            <a:off x="581192" y="1962603"/>
            <a:ext cx="8589441" cy="56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4. Ahora se crea una clase para hacer Conexión a la BDD y se codifica su lógica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05" name="Google Shape;205;p11" descr="Interfaz de usuario gráfica, Texto, Aplicación, Correo electrónic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7663" y="2957196"/>
            <a:ext cx="6756501" cy="33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11" name="Google Shape;211;p13"/>
          <p:cNvSpPr txBox="1">
            <a:spLocks noGrp="1"/>
          </p:cNvSpPr>
          <p:nvPr>
            <p:ph type="body" idx="1"/>
          </p:nvPr>
        </p:nvSpPr>
        <p:spPr>
          <a:xfrm>
            <a:off x="581192" y="1721974"/>
            <a:ext cx="8589441" cy="84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5. Ahora en la carpeta Servicio creamos la clase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CreditoService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y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CreditoValidatorService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para manejar las funciones que se utilizarán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14" name="Google Shape;214;p13" descr="Interfaz de usuario gráfica, Texto, Aplicación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6860" y="2831125"/>
            <a:ext cx="5098099" cy="36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20" name="Google Shape;220;p15"/>
          <p:cNvSpPr txBox="1">
            <a:spLocks noGrp="1"/>
          </p:cNvSpPr>
          <p:nvPr>
            <p:ph type="body" idx="1"/>
          </p:nvPr>
        </p:nvSpPr>
        <p:spPr>
          <a:xfrm>
            <a:off x="580915" y="1952011"/>
            <a:ext cx="8531932" cy="601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7. Se procede a codificar la lógica para usar los métodos desarrollados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dirty="0"/>
          </a:p>
        </p:txBody>
      </p:sp>
      <p:sp>
        <p:nvSpPr>
          <p:cNvPr id="221" name="Google Shape;221;p15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22" name="Google Shape;22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875" y="2469499"/>
            <a:ext cx="3579525" cy="430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5675" y="2469499"/>
            <a:ext cx="3684803" cy="430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29" name="Google Shape;229;p17"/>
          <p:cNvSpPr txBox="1">
            <a:spLocks noGrp="1"/>
          </p:cNvSpPr>
          <p:nvPr>
            <p:ph type="body" idx="1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457200" lvl="0" indent="-294322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7.1    CLIENTE CONSOLA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294322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Cliente de línea de comandos desarrollado en Java que permite realizar operaciones bancarias mediante una interfaz de texto: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32" name="Google Shape;232;p17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1368" y="3285676"/>
            <a:ext cx="4529079" cy="2263556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38" name="Google Shape;238;p18"/>
          <p:cNvSpPr txBox="1">
            <a:spLocks noGrp="1"/>
          </p:cNvSpPr>
          <p:nvPr>
            <p:ph type="body" idx="1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 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Se crea un cliente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consola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 Tomar en cuenta que el proyecto servidor debe estar desplegado,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y configurar las rutas del aplicativo.</a:t>
            </a:r>
            <a:endParaRPr dirty="0"/>
          </a:p>
        </p:txBody>
      </p:sp>
      <p:sp>
        <p:nvSpPr>
          <p:cNvPr id="239" name="Google Shape;239;p18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41" name="Google Shape;241;p18" descr="Interfaz de usuario gráfica, Texto, Aplicación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51292" y="3229272"/>
            <a:ext cx="5449248" cy="3017708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47" name="Google Shape;247;p19"/>
          <p:cNvSpPr txBox="1">
            <a:spLocks noGrp="1"/>
          </p:cNvSpPr>
          <p:nvPr>
            <p:ph type="body" idx="1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2. Se crea la estructura del proyecto consola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50" name="Google Shape;25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06716" y="2786503"/>
            <a:ext cx="4138400" cy="3717300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56" name="Google Shape;256;p20"/>
          <p:cNvSpPr txBox="1">
            <a:spLocks noGrp="1"/>
          </p:cNvSpPr>
          <p:nvPr>
            <p:ph type="body" idx="1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3. Se procede a implementar los modelos necesario para llevar a cabo las acciones en el paquete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Models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59" name="Google Shape;259;p20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199" y="2786500"/>
            <a:ext cx="4070050" cy="3678975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60" name="Google Shape;260;p20" descr="Text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0587" y="3190826"/>
            <a:ext cx="4070049" cy="2870328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66" name="Google Shape;266;p22"/>
          <p:cNvSpPr txBox="1">
            <a:spLocks noGrp="1"/>
          </p:cNvSpPr>
          <p:nvPr>
            <p:ph type="body" idx="1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4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Se procede a implementar el modelo necesario para llevar a cabo las acciones, esto en una clase Eureka. 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69" name="Google Shape;269;p22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3451" y="2786498"/>
            <a:ext cx="3745824" cy="3876575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75" name="Google Shape;275;p28"/>
          <p:cNvSpPr txBox="1">
            <a:spLocks noGrp="1"/>
          </p:cNvSpPr>
          <p:nvPr>
            <p:ph type="body" idx="1"/>
          </p:nvPr>
        </p:nvSpPr>
        <p:spPr>
          <a:xfrm>
            <a:off x="581192" y="1897900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Consola: Cliente Consola - Pantalla de Login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78" name="Google Shape;2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3575" y="2700250"/>
            <a:ext cx="3713750" cy="38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5b9630aa3_8_3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84" name="Google Shape;284;g3a5b9630aa3_8_36"/>
          <p:cNvSpPr txBox="1">
            <a:spLocks noGrp="1"/>
          </p:cNvSpPr>
          <p:nvPr>
            <p:ph type="body" idx="1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Consola: Cliente Consola - Menú Principal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85" name="Google Shape;285;g3a5b9630aa3_8_3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86" name="Google Shape;286;g3a5b9630aa3_8_3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87" name="Google Shape;287;g3a5b9630aa3_8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613" y="2718325"/>
            <a:ext cx="5171675" cy="391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5b9630aa3_8_4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93" name="Google Shape;293;g3a5b9630aa3_8_45"/>
          <p:cNvSpPr txBox="1">
            <a:spLocks noGrp="1"/>
          </p:cNvSpPr>
          <p:nvPr>
            <p:ph type="body" idx="1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Consola: Cliente Consola - Realizar Depósito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94" name="Google Shape;294;g3a5b9630aa3_8_4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95" name="Google Shape;295;g3a5b9630aa3_8_4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96" name="Google Shape;296;g3a5b9630aa3_8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213" y="2525350"/>
            <a:ext cx="5330475" cy="40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5b9630aa3_8_5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302" name="Google Shape;302;g3a5b9630aa3_8_54"/>
          <p:cNvSpPr txBox="1">
            <a:spLocks noGrp="1"/>
          </p:cNvSpPr>
          <p:nvPr>
            <p:ph type="body" idx="1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Consola: Cliente Consola - Realizar Retiro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303" name="Google Shape;303;g3a5b9630aa3_8_5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304" name="Google Shape;304;g3a5b9630aa3_8_5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05" name="Google Shape;305;g3a5b9630aa3_8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725" y="2679450"/>
            <a:ext cx="5981450" cy="39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5b9630aa3_8_6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311" name="Google Shape;311;g3a5b9630aa3_8_63"/>
          <p:cNvSpPr txBox="1">
            <a:spLocks noGrp="1"/>
          </p:cNvSpPr>
          <p:nvPr>
            <p:ph type="body" idx="1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de Consola: Cliente Consola – Realizar Transferencia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312" name="Google Shape;312;g3a5b9630aa3_8_6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313" name="Google Shape;313;g3a5b9630aa3_8_6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14" name="Google Shape;314;g3a5b9630aa3_8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325" y="2362775"/>
            <a:ext cx="352425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320" name="Google Shape;320;p29"/>
          <p:cNvSpPr txBox="1">
            <a:spLocks noGrp="1"/>
          </p:cNvSpPr>
          <p:nvPr>
            <p:ph type="body" idx="1"/>
          </p:nvPr>
        </p:nvSpPr>
        <p:spPr>
          <a:xfrm>
            <a:off x="581192" y="1860969"/>
            <a:ext cx="8431632" cy="111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Creación de Cliente Escritorio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	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Crear nuevo proyecto del tipo Aplicación de Windows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Forms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  (.NET Framework).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23" name="Google Shape;32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0889" y="3120282"/>
            <a:ext cx="6552249" cy="3578481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2" name="Google Shape;403;g3a5b9630aa3_8_177">
            <a:extLst>
              <a:ext uri="{FF2B5EF4-FFF2-40B4-BE49-F238E27FC236}">
                <a16:creationId xmlns:a16="http://schemas.microsoft.com/office/drawing/2014/main" id="{61942B46-37D4-ABB0-AEFC-E8DEF3BBD915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>
          <a:extLst>
            <a:ext uri="{FF2B5EF4-FFF2-40B4-BE49-F238E27FC236}">
              <a16:creationId xmlns:a16="http://schemas.microsoft.com/office/drawing/2014/main" id="{54F12519-60EE-CB29-D434-CD8E427CB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>
            <a:extLst>
              <a:ext uri="{FF2B5EF4-FFF2-40B4-BE49-F238E27FC236}">
                <a16:creationId xmlns:a16="http://schemas.microsoft.com/office/drawing/2014/main" id="{4F48BB50-D781-7CFE-F410-6D46B94ED2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18" name="Google Shape;418;p47">
            <a:extLst>
              <a:ext uri="{FF2B5EF4-FFF2-40B4-BE49-F238E27FC236}">
                <a16:creationId xmlns:a16="http://schemas.microsoft.com/office/drawing/2014/main" id="{3551CADE-C46D-78F1-4FFD-F9D5C4D63E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6095" y="1986220"/>
            <a:ext cx="8504777" cy="55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1.	Estructura cliente ESCRITORIO. </a:t>
            </a:r>
            <a:endParaRPr dirty="0"/>
          </a:p>
        </p:txBody>
      </p:sp>
      <p:sp>
        <p:nvSpPr>
          <p:cNvPr id="419" name="Google Shape;419;p47">
            <a:extLst>
              <a:ext uri="{FF2B5EF4-FFF2-40B4-BE49-F238E27FC236}">
                <a16:creationId xmlns:a16="http://schemas.microsoft.com/office/drawing/2014/main" id="{C1B3B2AE-7441-0056-4BB6-C2203C9C471D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19D1017-F8ED-2376-050D-4761DF960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440" y="2060270"/>
            <a:ext cx="1433120" cy="4520253"/>
          </a:xfrm>
          <a:prstGeom prst="rect">
            <a:avLst/>
          </a:prstGeom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04477D80-3FCD-5552-472A-571C984C459E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9470140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8B839989-93F4-79C2-DE84-D69A30CCD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5b9630aa3_8_228">
            <a:extLst>
              <a:ext uri="{FF2B5EF4-FFF2-40B4-BE49-F238E27FC236}">
                <a16:creationId xmlns:a16="http://schemas.microsoft.com/office/drawing/2014/main" id="{6FB027C2-88DC-D1C1-8022-166F408B2F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26" name="Google Shape;426;g3a5b9630aa3_8_228">
            <a:extLst>
              <a:ext uri="{FF2B5EF4-FFF2-40B4-BE49-F238E27FC236}">
                <a16:creationId xmlns:a16="http://schemas.microsoft.com/office/drawing/2014/main" id="{B31F5B93-5066-9902-94EC-3B3CB1104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escritorio: </a:t>
            </a:r>
            <a:r>
              <a:rPr lang="es-EC" i="1" dirty="0"/>
              <a:t>Página de Login</a:t>
            </a:r>
            <a:br>
              <a:rPr lang="es-EC" dirty="0"/>
            </a:br>
            <a:r>
              <a:rPr lang="es-EC" dirty="0"/>
              <a:t>Pantalla de autenticación que permite el ingreso de los empleados al sistema mediante credenciales válidas.</a:t>
            </a: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C09C88F-C02C-9D36-C710-7E0170FCCA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051258"/>
            <a:ext cx="573151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A4A384D2-6EE1-2CFD-3A68-5797C01FCCA0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7974329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>
          <a:extLst>
            <a:ext uri="{FF2B5EF4-FFF2-40B4-BE49-F238E27FC236}">
              <a16:creationId xmlns:a16="http://schemas.microsoft.com/office/drawing/2014/main" id="{F74D7FE8-6A08-3628-816B-D03CD6592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5b9630aa3_8_289">
            <a:extLst>
              <a:ext uri="{FF2B5EF4-FFF2-40B4-BE49-F238E27FC236}">
                <a16:creationId xmlns:a16="http://schemas.microsoft.com/office/drawing/2014/main" id="{4861F8C9-29A6-5B01-19FF-2A4FEC9ED5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34" name="Google Shape;434;g3a5b9630aa3_8_289">
            <a:extLst>
              <a:ext uri="{FF2B5EF4-FFF2-40B4-BE49-F238E27FC236}">
                <a16:creationId xmlns:a16="http://schemas.microsoft.com/office/drawing/2014/main" id="{5CA47542-9CFD-3065-B0C7-4D196D08F8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 : Cliente escritorio - </a:t>
            </a:r>
            <a:r>
              <a:rPr lang="es-EC" i="1" dirty="0"/>
              <a:t>Registro de nuevo cliente</a:t>
            </a:r>
            <a:br>
              <a:rPr lang="es-EC" dirty="0"/>
            </a:br>
            <a:r>
              <a:rPr lang="es-EC" dirty="0"/>
              <a:t>Formulario para el registro de nuevos clientes bancarios en el sistema.</a:t>
            </a:r>
            <a:endParaRPr dirty="0"/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E3E540D-D8BE-24CA-2CD0-136F847B55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083326"/>
            <a:ext cx="5731510" cy="28409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9DBC8B15-D446-7161-036E-0F6F8BDD78A8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655894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>
          <a:extLst>
            <a:ext uri="{FF2B5EF4-FFF2-40B4-BE49-F238E27FC236}">
              <a16:creationId xmlns:a16="http://schemas.microsoft.com/office/drawing/2014/main" id="{90494B6E-14F4-5414-B9EE-6B8E48497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5b9630aa3_8_235">
            <a:extLst>
              <a:ext uri="{FF2B5EF4-FFF2-40B4-BE49-F238E27FC236}">
                <a16:creationId xmlns:a16="http://schemas.microsoft.com/office/drawing/2014/main" id="{FD06BD20-19EA-66CA-CBD0-08AA83270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42" name="Google Shape;442;g3a5b9630aa3_8_235">
            <a:extLst>
              <a:ext uri="{FF2B5EF4-FFF2-40B4-BE49-F238E27FC236}">
                <a16:creationId xmlns:a16="http://schemas.microsoft.com/office/drawing/2014/main" id="{7DC777CF-4DC2-BF6C-30BD-F1626C564F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 : Cliente escritorio - </a:t>
            </a:r>
            <a:r>
              <a:rPr lang="es-EC" i="1" dirty="0"/>
              <a:t>Cliente registrado exitosamente</a:t>
            </a:r>
            <a:br>
              <a:rPr lang="es-EC" i="1" dirty="0"/>
            </a:br>
            <a:r>
              <a:rPr lang="es-EC" dirty="0"/>
              <a:t>Confirmación visual del registro exitoso de un cliente.</a:t>
            </a: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8E2324A-192D-3932-8A0B-607688A766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260849"/>
            <a:ext cx="573151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FC4D7FF0-DC6B-42E7-F712-AFFF72B4304C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7577195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6383B329-68B6-BE18-533E-35CD13972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1E9D626B-A065-8B3C-91DC-B5EB4379B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4B546B62-0B35-D1FD-A46F-67562AC297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escritorio: Cliente escritorio - </a:t>
            </a:r>
            <a:r>
              <a:rPr lang="es-EC" i="1" dirty="0"/>
              <a:t>Edición de datos del cliente</a:t>
            </a:r>
            <a:br>
              <a:rPr lang="es-EC" i="1" dirty="0"/>
            </a:br>
            <a:r>
              <a:rPr lang="es-EC" dirty="0"/>
              <a:t>Interfaz para la actualización de la información personal del cliente.</a:t>
            </a:r>
            <a:endParaRPr dirty="0"/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C4C7906-3353-60D5-6FA3-2BBA55EBF9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074603"/>
            <a:ext cx="5731510" cy="28905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B04820B6-EAAF-8CD4-8AE5-8C21C2C4630B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8176757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A50F1619-3307-96E3-300B-C6053B821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4BC709F8-1015-6AC7-CC0C-CB9A105B71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6B73E13E-051F-C2D0-97EC-8CEE177391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escritorio: Cliente escritorio - </a:t>
            </a:r>
            <a:r>
              <a:rPr lang="es-EC" i="1" dirty="0"/>
              <a:t>Eliminación de cliente</a:t>
            </a:r>
            <a:br>
              <a:rPr lang="es-EC" i="1" dirty="0"/>
            </a:br>
            <a:r>
              <a:rPr lang="es-EC" dirty="0"/>
              <a:t>Pantalla que permite la eliminación lógica de un cliente del sistema.</a:t>
            </a:r>
            <a:endParaRPr dirty="0"/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741F26E-66F8-819B-8E5A-85806F61AD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157374"/>
            <a:ext cx="5731510" cy="299847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36E9078E-7632-1D4F-AC02-09BEF1E362F5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8234827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EBA9DD17-79F4-45DB-2437-AF780A6E8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7E640B44-64B2-FB07-3CD0-591510F6A4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A028BED9-DA07-FF83-6724-667DBF8C9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escritorio: Cliente escritorio - </a:t>
            </a:r>
            <a:r>
              <a:rPr lang="es-EC" i="1" dirty="0"/>
              <a:t>Registro de nueva cuenta</a:t>
            </a:r>
            <a:br>
              <a:rPr lang="es-EC" i="1" dirty="0"/>
            </a:br>
            <a:r>
              <a:rPr lang="es-EC" dirty="0"/>
              <a:t>Formulario para la creación de una nueva cuenta de ahorro asociada a un cliente.</a:t>
            </a:r>
            <a:endParaRPr dirty="0"/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CA7F555-BF7F-76BD-F217-07531CEB18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189338"/>
            <a:ext cx="5731510" cy="250063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5048DC97-FE1E-2B32-DF33-AC80385A2D69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573126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DE59712B-F030-260D-F1AA-56FA75223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D1692195-A401-7F3F-47E0-7C5F2F1557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6A67A6F2-F1B8-A33B-8A2A-B76B2E5533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escritorio: Cliente escritorio - </a:t>
            </a:r>
            <a:r>
              <a:rPr lang="es-EC" i="1" dirty="0"/>
              <a:t>Listado de cuentas abiertas</a:t>
            </a:r>
            <a:br>
              <a:rPr lang="es-EC" i="1" dirty="0"/>
            </a:br>
            <a:r>
              <a:rPr lang="es-EC" dirty="0"/>
              <a:t>Vista general de las cuentas registradas y su estado actual.</a:t>
            </a:r>
            <a:endParaRPr dirty="0"/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19A9E7F-31C7-B270-E11E-0013309FE1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429000"/>
            <a:ext cx="5731510" cy="213169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B506554F-3414-6934-5B98-C73B3DEF1B4A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2581277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1194037F-4C4D-2FCB-42B5-C4F98A6F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496213E7-2163-34C1-E1F0-A5273339DF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0E77715E-5C51-22BE-C306-3D71F777F9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escritorio: Cliente escritorio - </a:t>
            </a:r>
            <a:r>
              <a:rPr lang="es-EC" i="1" dirty="0"/>
              <a:t>Edición de cuenta</a:t>
            </a:r>
            <a:br>
              <a:rPr lang="es-EC" i="1" dirty="0"/>
            </a:br>
            <a:r>
              <a:rPr lang="es-EC" dirty="0"/>
              <a:t>Pantalla para la modificación de datos administrativos de una cuenta.</a:t>
            </a:r>
            <a:endParaRPr dirty="0"/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6916539-7E24-7821-8034-41572D5DC9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2994392"/>
            <a:ext cx="5731510" cy="28905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4326B0C4-07D4-3206-0801-89755C260C69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3518942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DF53DB85-011D-5348-2A6F-918325E02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98F7FEF3-144A-1748-8155-45EB465DFA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8B3874E0-1EBD-BBD5-1EFD-67E762EDD4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escritorio: Cliente escritorio - </a:t>
            </a:r>
            <a:r>
              <a:rPr lang="es-EC" i="1" dirty="0"/>
              <a:t>Cancelación de cuenta</a:t>
            </a:r>
            <a:br>
              <a:rPr lang="es-EC" i="1" dirty="0"/>
            </a:br>
            <a:r>
              <a:rPr lang="es-EC" dirty="0"/>
              <a:t>Interfaz para la cancelación o desactivación de cuentas bancarias.</a:t>
            </a:r>
            <a:endParaRPr dirty="0"/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1249F00-9849-B666-991D-F59B4E6D42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257704"/>
            <a:ext cx="5731510" cy="28981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EE5F76F5-2C1F-2F5A-4C0F-66EC2822D108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6789789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055914DE-39D4-DAE2-0090-B3668ED59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5E128F39-F906-AE88-8C57-DC876F690F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4239A9EF-754C-4DB2-FDC2-4E52B3B28E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escritorio: Cliente escritorio - </a:t>
            </a:r>
            <a:r>
              <a:rPr lang="es-EC" i="1" dirty="0"/>
              <a:t>Realizar depósito</a:t>
            </a:r>
            <a:br>
              <a:rPr lang="es-EC" i="1" dirty="0"/>
            </a:br>
            <a:r>
              <a:rPr lang="es-EC" dirty="0"/>
              <a:t>Pantalla para ejecutar depósitos en cuentas activas.</a:t>
            </a:r>
            <a:endParaRPr dirty="0"/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4DD1E93-429F-9E85-4466-FDDC1B7F1D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429000"/>
            <a:ext cx="5731510" cy="22313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11C3A4D9-BCA7-D705-424B-4770A0550C3A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721324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1FBD6F29-EC12-E93D-D55D-84C4B5B94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2272BA58-7F0E-669C-B658-06FDC5FE86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EEFB9D16-97CE-7E70-1577-8D9F7BBF00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escritorio: Cliente escritorio - </a:t>
            </a:r>
            <a:r>
              <a:rPr lang="es-EC" i="1" dirty="0"/>
              <a:t>Realizar retiro</a:t>
            </a:r>
            <a:br>
              <a:rPr lang="es-EC" i="1" dirty="0"/>
            </a:br>
            <a:r>
              <a:rPr lang="es-EC" dirty="0"/>
              <a:t>Interfaz para realizar retiros con validaciones de saldo y cargos.</a:t>
            </a:r>
            <a:endParaRPr dirty="0"/>
          </a:p>
        </p:txBody>
      </p:sp>
      <p:pic>
        <p:nvPicPr>
          <p:cNvPr id="3" name="Imagen 2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100E8C4E-F161-9B76-3037-370D2FCBC8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429000"/>
            <a:ext cx="5731510" cy="23393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2BA2B847-60C3-397B-96A1-66287B864C5E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7831051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54145413-954E-6364-1FF4-94CF2FE4D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D07DB09C-5178-6A09-39F6-0019EB7B1C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CF475FFA-50DE-4B57-41DF-3B793738F2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escritorio: Cliente escritorio - </a:t>
            </a:r>
            <a:r>
              <a:rPr lang="es-EC" i="1" dirty="0"/>
              <a:t>Realizar transferencia</a:t>
            </a:r>
            <a:br>
              <a:rPr lang="es-EC" i="1" dirty="0"/>
            </a:br>
            <a:r>
              <a:rPr lang="es-EC" dirty="0"/>
              <a:t>Pantalla para la transferencia de fondos entre cuentas.</a:t>
            </a: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32E3528-F4D9-C47E-71E6-4BC5FAFC96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252938"/>
            <a:ext cx="5731510" cy="27584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676D048A-EAE0-388C-9BF2-D7B8655536E9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6979444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32B2E29B-4425-7527-5E5C-50BEEFBA2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3A4AB6C1-317E-3B13-AEED-EE48491801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ECAC8E79-DEDC-A65D-A29E-11A144A349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 : Cliente escritorio - </a:t>
            </a:r>
            <a:r>
              <a:rPr lang="es-EC" i="1" dirty="0"/>
              <a:t>Reporte de movimientos</a:t>
            </a:r>
            <a:br>
              <a:rPr lang="es-EC" dirty="0"/>
            </a:br>
            <a:r>
              <a:rPr lang="es-EC" dirty="0"/>
              <a:t>Consulta de movimientos históricos de una cuenta, con información detallada.</a:t>
            </a:r>
          </a:p>
        </p:txBody>
      </p:sp>
      <p:pic>
        <p:nvPicPr>
          <p:cNvPr id="3" name="Imagen 2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88DBF570-A846-B449-31A5-A38F59F43A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2990258"/>
            <a:ext cx="5731510" cy="25933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980F2CF9-4E34-7CD2-A141-6684DC584D39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8958315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3E9E3C81-47FE-CD2C-5BE8-0237F48FB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6C6D0CBB-F59E-4E3C-22B8-3C17F78B65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613C7093-1F35-FE21-3467-62F2EE7257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 : Cliente escritorio - </a:t>
            </a:r>
            <a:r>
              <a:rPr lang="es-EC" i="1" dirty="0"/>
              <a:t>Reserva y bloqueo de cuentas</a:t>
            </a:r>
            <a:br>
              <a:rPr lang="es-EC" i="1" dirty="0"/>
            </a:br>
            <a:r>
              <a:rPr lang="es-EC" dirty="0"/>
              <a:t>Vista del módulo de control para bloquear cuentas por motivos administrativos o de seguridad.</a:t>
            </a: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9246881-284E-411B-A437-42E1696DA8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178710"/>
            <a:ext cx="5731510" cy="255397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803B1F7A-63BA-D38F-48A6-B784C49387B7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020818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5F8FB05F-1AF0-2904-F0AE-AD5ECD5F9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334242EA-2F07-4969-5400-FD0035E1A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1639BF03-4741-0CB3-0023-AD36F11651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escritorio: Cliente escritorio - </a:t>
            </a:r>
            <a:r>
              <a:rPr lang="es-EC" i="1" dirty="0"/>
              <a:t>Reserva y bloqueo de transferencias</a:t>
            </a:r>
            <a:br>
              <a:rPr lang="es-EC" i="1" dirty="0"/>
            </a:br>
            <a:r>
              <a:rPr lang="es-EC" dirty="0"/>
              <a:t>Pantalla que restringe temporalmente las transferencias de una cuenta.</a:t>
            </a: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0D8776B-E30F-BC1B-5BF3-1860688B44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2965256"/>
            <a:ext cx="5731510" cy="268668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630B8667-EF83-D443-0C24-AC0AB53D2546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8802320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BB6D3847-9E3C-C41D-19AB-5767270B7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0D4EC7B9-5F25-39C5-8377-1AA6542645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37688960-6DBA-C76F-819F-B2A87BE1BE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escritorio: Cliente escritorio - </a:t>
            </a:r>
            <a:r>
              <a:rPr lang="es-EC" i="1" dirty="0"/>
              <a:t>Operación bloqueada</a:t>
            </a:r>
            <a:br>
              <a:rPr lang="es-EC" dirty="0"/>
            </a:br>
            <a:r>
              <a:rPr lang="es-EC" dirty="0"/>
              <a:t>Mensaje informativo que indica que una operación no puede ejecutarse debido al estado de la cuenta..</a:t>
            </a: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D16697D-1B89-BFFA-2CA9-54E2F48ABA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2869441"/>
            <a:ext cx="5731510" cy="29552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2D96FF4D-F2FB-671C-E303-DDB5DDCBF0C2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4449267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A4D93183-F90D-220A-F726-8C8AA85B0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6BB00532-D5EB-C522-0602-263750356F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C9E85D31-B056-2356-07D8-7584CA2890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escritorio: Cliente escritorio - </a:t>
            </a:r>
            <a:r>
              <a:rPr lang="es-EC" i="1" dirty="0"/>
              <a:t>Monitor de cuentas</a:t>
            </a:r>
            <a:br>
              <a:rPr lang="es-EC" dirty="0"/>
            </a:br>
            <a:r>
              <a:rPr lang="es-EC" dirty="0"/>
              <a:t>Panel de monitoreo que muestra el estado actual de las cuentas del sistema.</a:t>
            </a: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46C000D-8C7F-556C-3358-38FF8C3CAB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092366"/>
            <a:ext cx="5731510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g3a5b9630aa3_8_177">
            <a:extLst>
              <a:ext uri="{FF2B5EF4-FFF2-40B4-BE49-F238E27FC236}">
                <a16:creationId xmlns:a16="http://schemas.microsoft.com/office/drawing/2014/main" id="{351CC13E-8B7B-28C1-FE4E-18C6B136C470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6502018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10" name="Google Shape;410;p46"/>
          <p:cNvSpPr txBox="1">
            <a:spLocks noGrp="1"/>
          </p:cNvSpPr>
          <p:nvPr>
            <p:ph type="body" idx="1"/>
          </p:nvPr>
        </p:nvSpPr>
        <p:spPr>
          <a:xfrm>
            <a:off x="484209" y="1715956"/>
            <a:ext cx="8576663" cy="1442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Proyecto web 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Crear un proyecto de tipo web y seleccionar el tipo de plantilla del proyecto.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411" name="Google Shape;411;p4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12" name="Google Shape;412;p46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638" y="3158726"/>
            <a:ext cx="6273799" cy="33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10" name="Google Shape;410;p46"/>
          <p:cNvSpPr txBox="1">
            <a:spLocks noGrp="1"/>
          </p:cNvSpPr>
          <p:nvPr>
            <p:ph type="body" idx="1"/>
          </p:nvPr>
        </p:nvSpPr>
        <p:spPr>
          <a:xfrm>
            <a:off x="484209" y="1715956"/>
            <a:ext cx="8576663" cy="1442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Proyecto web 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Crear un proyecto de tipo web y seleccionar el tipo de plantilla del proyecto.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411" name="Google Shape;411;p4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12" name="Google Shape;412;p46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638" y="3158726"/>
            <a:ext cx="6273799" cy="33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19;p47">
            <a:extLst>
              <a:ext uri="{FF2B5EF4-FFF2-40B4-BE49-F238E27FC236}">
                <a16:creationId xmlns:a16="http://schemas.microsoft.com/office/drawing/2014/main" id="{7CDAB77D-E29F-7ABB-D5C2-ACD25B5044DC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18" name="Google Shape;418;p47"/>
          <p:cNvSpPr txBox="1">
            <a:spLocks noGrp="1"/>
          </p:cNvSpPr>
          <p:nvPr>
            <p:ph type="body" idx="1"/>
          </p:nvPr>
        </p:nvSpPr>
        <p:spPr>
          <a:xfrm>
            <a:off x="556095" y="1986220"/>
            <a:ext cx="8504777" cy="55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1.	Estructura cliente WEB. </a:t>
            </a:r>
            <a:endParaRPr dirty="0"/>
          </a:p>
        </p:txBody>
      </p:sp>
      <p:sp>
        <p:nvSpPr>
          <p:cNvPr id="419" name="Google Shape;419;p4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B05CD70-94B1-971B-294E-C91D544FD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440" y="2060270"/>
            <a:ext cx="1433120" cy="4520253"/>
          </a:xfrm>
          <a:prstGeom prst="rect">
            <a:avLst/>
          </a:prstGeom>
        </p:spPr>
      </p:pic>
      <p:sp>
        <p:nvSpPr>
          <p:cNvPr id="2" name="Google Shape;419;p47">
            <a:extLst>
              <a:ext uri="{FF2B5EF4-FFF2-40B4-BE49-F238E27FC236}">
                <a16:creationId xmlns:a16="http://schemas.microsoft.com/office/drawing/2014/main" id="{8256666B-04D3-2304-BCA4-A04C9927E38D}"/>
              </a:ext>
            </a:extLst>
          </p:cNvPr>
          <p:cNvSpPr/>
          <p:nvPr/>
        </p:nvSpPr>
        <p:spPr>
          <a:xfrm>
            <a:off x="9383700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5b9630aa3_8_2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26" name="Google Shape;426;g3a5b9630aa3_8_228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</a:t>
            </a:r>
            <a:r>
              <a:rPr lang="es-EC" i="1" dirty="0"/>
              <a:t>Página de Login</a:t>
            </a:r>
            <a:br>
              <a:rPr lang="es-EC" dirty="0"/>
            </a:br>
            <a:r>
              <a:rPr lang="es-EC" dirty="0"/>
              <a:t>Pantalla de autenticación que permite el ingreso de los empleados al sistema mediante credenciales válidas.</a:t>
            </a: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FAE1B87-5627-7BA8-CB4F-7792EA646A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051258"/>
            <a:ext cx="573151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19;p47">
            <a:extLst>
              <a:ext uri="{FF2B5EF4-FFF2-40B4-BE49-F238E27FC236}">
                <a16:creationId xmlns:a16="http://schemas.microsoft.com/office/drawing/2014/main" id="{22DF7F89-790E-0642-D7BA-8173353307F8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5b9630aa3_8_28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34" name="Google Shape;434;g3a5b9630aa3_8_289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Registro de nuevo cliente</a:t>
            </a:r>
            <a:br>
              <a:rPr lang="es-EC" dirty="0"/>
            </a:br>
            <a:r>
              <a:rPr lang="es-EC" dirty="0"/>
              <a:t>Formulario para el registro de nuevos clientes bancarios en el sistema.</a:t>
            </a:r>
            <a:endParaRPr dirty="0"/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9C16596-60C6-A11E-A7BA-B095204AD3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083326"/>
            <a:ext cx="5731510" cy="28409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19;p47">
            <a:extLst>
              <a:ext uri="{FF2B5EF4-FFF2-40B4-BE49-F238E27FC236}">
                <a16:creationId xmlns:a16="http://schemas.microsoft.com/office/drawing/2014/main" id="{8FE538AF-59C8-DCF2-28DA-FC664853D192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5b9630aa3_8_2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42" name="Google Shape;442;g3a5b9630aa3_8_235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Cliente registrado exitosamente</a:t>
            </a:r>
            <a:br>
              <a:rPr lang="es-EC" i="1" dirty="0"/>
            </a:br>
            <a:r>
              <a:rPr lang="es-EC" dirty="0"/>
              <a:t>Confirmación visual del registro exitoso de un cliente.</a:t>
            </a: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701BB02-675D-78AE-1B6A-0F0320B7BE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260849"/>
            <a:ext cx="573151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19;p47">
            <a:extLst>
              <a:ext uri="{FF2B5EF4-FFF2-40B4-BE49-F238E27FC236}">
                <a16:creationId xmlns:a16="http://schemas.microsoft.com/office/drawing/2014/main" id="{CD2EE6BD-8971-937D-4DCF-F5EA3B71A2C8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Edición de datos del cliente</a:t>
            </a:r>
            <a:br>
              <a:rPr lang="es-EC" i="1" dirty="0"/>
            </a:br>
            <a:r>
              <a:rPr lang="es-EC" dirty="0"/>
              <a:t>Interfaz para la actualización de la información personal del cliente.</a:t>
            </a:r>
            <a:endParaRPr dirty="0"/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EDF029E-4E18-E4CC-8A2E-C265554822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074603"/>
            <a:ext cx="5731510" cy="28905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19;p47">
            <a:extLst>
              <a:ext uri="{FF2B5EF4-FFF2-40B4-BE49-F238E27FC236}">
                <a16:creationId xmlns:a16="http://schemas.microsoft.com/office/drawing/2014/main" id="{A59F3BFC-197E-FB98-D1C6-C001FC435941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4B16B1CB-C1DA-63F5-08F0-53009CABE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659A8874-1C9E-7E0E-C1AB-E36CEB200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40C3CA5F-2C38-DC6F-5DC6-08EF897097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Eliminación de cliente</a:t>
            </a:r>
            <a:br>
              <a:rPr lang="es-EC" i="1" dirty="0"/>
            </a:br>
            <a:r>
              <a:rPr lang="es-EC" dirty="0"/>
              <a:t>Pantalla que permite la eliminación lógica de un cliente del sistema.</a:t>
            </a:r>
            <a:endParaRPr dirty="0"/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28D6A46-0881-549E-63B9-91528FE9EA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157374"/>
            <a:ext cx="5731510" cy="29984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19;p47">
            <a:extLst>
              <a:ext uri="{FF2B5EF4-FFF2-40B4-BE49-F238E27FC236}">
                <a16:creationId xmlns:a16="http://schemas.microsoft.com/office/drawing/2014/main" id="{44E37E71-E3E6-A0C0-50E8-1A0D34F3BAF6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6489869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C8C9F60C-5F0E-7788-9F7E-A2CD333C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58978B19-EA6F-1D47-036B-C807235610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69EF21CF-0707-4770-C553-A955FEECC0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Registro de nueva cuenta</a:t>
            </a:r>
            <a:br>
              <a:rPr lang="es-EC" i="1" dirty="0"/>
            </a:br>
            <a:r>
              <a:rPr lang="es-EC" dirty="0"/>
              <a:t>Formulario para la creación de una nueva cuenta de ahorro asociada a un cliente.</a:t>
            </a:r>
            <a:endParaRPr dirty="0"/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7B85EC37-54A2-F3DB-C4D8-98A70FD86F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189338"/>
            <a:ext cx="5731510" cy="2500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19;p47">
            <a:extLst>
              <a:ext uri="{FF2B5EF4-FFF2-40B4-BE49-F238E27FC236}">
                <a16:creationId xmlns:a16="http://schemas.microsoft.com/office/drawing/2014/main" id="{3EE76CDE-60B9-F26E-C5B1-76E84381C971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8783805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8B5A0E3E-BBD9-88CF-1F40-8EAA7F03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6DB6C2DF-C6D4-F7C3-A930-4B34032093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D49ED726-3ECC-CD6E-0F1F-3EE8480968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Listado de cuentas abiertas</a:t>
            </a:r>
            <a:br>
              <a:rPr lang="es-EC" i="1" dirty="0"/>
            </a:br>
            <a:r>
              <a:rPr lang="es-EC" dirty="0"/>
              <a:t>Vista general de las cuentas registradas y su estado actual.</a:t>
            </a:r>
            <a:endParaRPr dirty="0"/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AECE120-9CAA-7AC8-9A04-2DD61B1C0E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429000"/>
            <a:ext cx="5731510" cy="21316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19;p47">
            <a:extLst>
              <a:ext uri="{FF2B5EF4-FFF2-40B4-BE49-F238E27FC236}">
                <a16:creationId xmlns:a16="http://schemas.microsoft.com/office/drawing/2014/main" id="{78A58DD7-1FC2-0D52-3DD4-A9A953D3900E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0369401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28276EF4-0A92-2643-78E8-9656453CC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EB132198-D6BC-E8A0-1741-E3CBC6D167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100EF645-A096-FF84-AE1E-1A4C111C3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Edición de cuenta</a:t>
            </a:r>
            <a:br>
              <a:rPr lang="es-EC" i="1" dirty="0"/>
            </a:br>
            <a:r>
              <a:rPr lang="es-EC" dirty="0"/>
              <a:t>Pantalla para la modificación de datos administrativos de una cuenta.</a:t>
            </a:r>
            <a:endParaRPr dirty="0"/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1A25556-F53D-A221-F2F8-866F415B93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2994392"/>
            <a:ext cx="5731510" cy="28905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19;p47">
            <a:extLst>
              <a:ext uri="{FF2B5EF4-FFF2-40B4-BE49-F238E27FC236}">
                <a16:creationId xmlns:a16="http://schemas.microsoft.com/office/drawing/2014/main" id="{415AA5A4-B337-8DA8-E0F3-1F68085C1F3C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9554954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66F13639-7173-5618-F17D-A610527F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CA5C4DF9-7DD5-99CC-2308-85DD1AAFD0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1D44C928-692B-217F-65AF-30C249F6F5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Cancelación de cuenta</a:t>
            </a:r>
            <a:br>
              <a:rPr lang="es-EC" i="1" dirty="0"/>
            </a:br>
            <a:r>
              <a:rPr lang="es-EC" dirty="0"/>
              <a:t>Interfaz para la cancelación o desactivación de cuentas bancarias.</a:t>
            </a:r>
            <a:endParaRPr dirty="0"/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3604FDD-F9D5-FFF3-9EC2-95D2A1EAD1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257704"/>
            <a:ext cx="5731510" cy="28981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19;p47">
            <a:extLst>
              <a:ext uri="{FF2B5EF4-FFF2-40B4-BE49-F238E27FC236}">
                <a16:creationId xmlns:a16="http://schemas.microsoft.com/office/drawing/2014/main" id="{46D230A3-DA51-C5F9-7AB5-2F34164AEF14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9033459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E9C3D75F-9D38-FD17-D6D8-699C412E9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00045CBA-E964-605F-C7C1-DE88B4713D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9DD195DD-F96F-401B-C94E-AB0FED222F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Realizar depósito</a:t>
            </a:r>
            <a:br>
              <a:rPr lang="es-EC" i="1" dirty="0"/>
            </a:br>
            <a:r>
              <a:rPr lang="es-EC" dirty="0"/>
              <a:t>Pantalla para ejecutar depósitos en cuentas activas.</a:t>
            </a:r>
            <a:endParaRPr dirty="0"/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414FB9F-8AA5-4149-7C11-57FB23C846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429000"/>
            <a:ext cx="5731510" cy="22313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19;p47">
            <a:extLst>
              <a:ext uri="{FF2B5EF4-FFF2-40B4-BE49-F238E27FC236}">
                <a16:creationId xmlns:a16="http://schemas.microsoft.com/office/drawing/2014/main" id="{FE2B6440-41F0-EB7C-602D-E6C3FD1CDF48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45037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DF4A35AA-3D54-75A5-9545-F84F69A8F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6150D470-1C14-A586-A54C-E051DE6FD6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F2D53901-5B6F-BDDC-C178-28D42648F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Realizar retiro</a:t>
            </a:r>
            <a:br>
              <a:rPr lang="es-EC" i="1" dirty="0"/>
            </a:br>
            <a:r>
              <a:rPr lang="es-EC" dirty="0"/>
              <a:t>Interfaz para realizar retiros con validaciones de saldo y cargos.</a:t>
            </a:r>
            <a:endParaRPr dirty="0"/>
          </a:p>
        </p:txBody>
      </p:sp>
      <p:pic>
        <p:nvPicPr>
          <p:cNvPr id="3" name="Imagen 2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BC801B16-AFEF-01A5-61CD-516FD9377E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429000"/>
            <a:ext cx="5731510" cy="23393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19;p47">
            <a:extLst>
              <a:ext uri="{FF2B5EF4-FFF2-40B4-BE49-F238E27FC236}">
                <a16:creationId xmlns:a16="http://schemas.microsoft.com/office/drawing/2014/main" id="{FA2B0376-EDCE-9070-F973-359A4066A5B3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0230076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9ADF588F-FF55-0B36-1859-CF4624EE3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6F4DB277-C815-DE29-C79D-4078D896EB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BD36477F-AD41-D949-C9C5-C4001CEC4E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Realizar transferencia</a:t>
            </a:r>
            <a:br>
              <a:rPr lang="es-EC" i="1" dirty="0"/>
            </a:br>
            <a:r>
              <a:rPr lang="es-EC" dirty="0"/>
              <a:t>Pantalla para la transferencia de fondos entre cuentas.</a:t>
            </a: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1343D9F-0CCB-01AD-B65D-0ED89B0D12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252938"/>
            <a:ext cx="5731510" cy="27584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19;p47">
            <a:extLst>
              <a:ext uri="{FF2B5EF4-FFF2-40B4-BE49-F238E27FC236}">
                <a16:creationId xmlns:a16="http://schemas.microsoft.com/office/drawing/2014/main" id="{CBEC8EAC-1D02-2ED5-99AE-B870C471EEF9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8493484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ED7ACE8A-9F38-744B-7F63-87776DDF0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4D7AA9BE-8C0E-90D4-D0DF-80A2951AB1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709F5B6A-9268-3DE5-EB16-FAF93FD90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Reporte de movimientos</a:t>
            </a:r>
            <a:br>
              <a:rPr lang="es-EC" dirty="0"/>
            </a:br>
            <a:r>
              <a:rPr lang="es-EC" dirty="0"/>
              <a:t>Consulta de movimientos históricos de una cuenta, con información detallada.</a:t>
            </a:r>
          </a:p>
        </p:txBody>
      </p:sp>
      <p:pic>
        <p:nvPicPr>
          <p:cNvPr id="3" name="Imagen 2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F09F7901-927E-920C-CAAA-E847DA6E2D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2990258"/>
            <a:ext cx="5731510" cy="25933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19;p47">
            <a:extLst>
              <a:ext uri="{FF2B5EF4-FFF2-40B4-BE49-F238E27FC236}">
                <a16:creationId xmlns:a16="http://schemas.microsoft.com/office/drawing/2014/main" id="{04E1F81D-BA26-2D09-3524-FF4651E38B6C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0209718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7579EB45-CB36-C3E7-E75B-EB1BCE4E4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8F70EC4E-C6E4-3262-51C9-67240F7D7F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2186BC86-A977-71E3-1AB9-1DAD7F707D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Reserva y bloqueo de cuentas</a:t>
            </a:r>
            <a:br>
              <a:rPr lang="es-EC" i="1" dirty="0"/>
            </a:br>
            <a:r>
              <a:rPr lang="es-EC" dirty="0"/>
              <a:t>Vista del módulo de control para bloquear cuentas por motivos administrativos o de seguridad.</a:t>
            </a: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C1F9D9B-FB45-AD6C-F508-1BA067C31D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178710"/>
            <a:ext cx="5731510" cy="255397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19;p47">
            <a:extLst>
              <a:ext uri="{FF2B5EF4-FFF2-40B4-BE49-F238E27FC236}">
                <a16:creationId xmlns:a16="http://schemas.microsoft.com/office/drawing/2014/main" id="{17BC8EF6-8FD8-94E2-11A4-3DDB32ECE4ED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9590075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F2FBA617-7BEC-A039-99D7-2A8BE780D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2D7C4366-EF3B-4954-A937-2C3C7EC077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43CD050B-4307-BCE6-3589-C062AA47D2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Reserva y bloqueo de transferencias</a:t>
            </a:r>
            <a:br>
              <a:rPr lang="es-EC" i="1" dirty="0"/>
            </a:br>
            <a:r>
              <a:rPr lang="es-EC" dirty="0"/>
              <a:t>Pantalla que restringe temporalmente las transferencias de una cuenta.</a:t>
            </a: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65EF2D3-F127-9FAD-406D-39D13473B1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2965256"/>
            <a:ext cx="5731510" cy="268668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19;p47">
            <a:extLst>
              <a:ext uri="{FF2B5EF4-FFF2-40B4-BE49-F238E27FC236}">
                <a16:creationId xmlns:a16="http://schemas.microsoft.com/office/drawing/2014/main" id="{30690BFF-BD43-F44E-1FB3-7068D9840154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6233451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B7D5C740-3B42-C36E-E047-71206642C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44390877-EBA6-C1F8-4214-9CFCBBD6EF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6DBE3A8C-42EF-59EC-7961-B2A6163CA3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Operación bloqueada</a:t>
            </a:r>
            <a:br>
              <a:rPr lang="es-EC" dirty="0"/>
            </a:br>
            <a:r>
              <a:rPr lang="es-EC" dirty="0"/>
              <a:t>Mensaje informativo que indica que una operación no puede ejecutarse debido al estado de la cuenta..</a:t>
            </a: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CD0CC24-8197-7B41-C339-A6D1A96CD8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2869441"/>
            <a:ext cx="5731510" cy="29552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19;p47">
            <a:extLst>
              <a:ext uri="{FF2B5EF4-FFF2-40B4-BE49-F238E27FC236}">
                <a16:creationId xmlns:a16="http://schemas.microsoft.com/office/drawing/2014/main" id="{6B873468-6079-2E8E-F79B-BF151A10B4F8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8516794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09C8BF26-8376-BB08-055D-E9A8D8D41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03FFA999-33F2-667F-0D8B-ABB151ABCA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4736D64F-DCB2-6B75-37BA-087FBA05D9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Monitor de cuentas</a:t>
            </a:r>
            <a:br>
              <a:rPr lang="es-EC" dirty="0"/>
            </a:br>
            <a:r>
              <a:rPr lang="es-EC" dirty="0"/>
              <a:t>Panel de monitoreo que muestra el estado actual de las cuentas del sistema.</a:t>
            </a: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454E74D-E453-196A-1FDF-C7D883599D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092366"/>
            <a:ext cx="5731510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19;p47">
            <a:extLst>
              <a:ext uri="{FF2B5EF4-FFF2-40B4-BE49-F238E27FC236}">
                <a16:creationId xmlns:a16="http://schemas.microsoft.com/office/drawing/2014/main" id="{77C49F6C-ED94-B89B-3E6D-57CDC2D5F96E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2240706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/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1.	Creación proyecto cliente móvil. </a:t>
            </a:r>
            <a:endParaRPr dirty="0"/>
          </a:p>
        </p:txBody>
      </p:sp>
      <p:pic>
        <p:nvPicPr>
          <p:cNvPr id="460" name="Google Shape;460;p62" descr="Captura de pantalla de un celular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5647" y="2975288"/>
            <a:ext cx="6555475" cy="315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23;g3a5b9630aa3_8_367">
            <a:extLst>
              <a:ext uri="{FF2B5EF4-FFF2-40B4-BE49-F238E27FC236}">
                <a16:creationId xmlns:a16="http://schemas.microsoft.com/office/drawing/2014/main" id="{68F4A60E-4D83-F002-AF1B-A42639D0B8C4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66" name="Google Shape;466;p63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72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2.	Clases en diferentes paquetes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A7DDFB-ACE9-28A5-28E2-F49C2C125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239" y="1911212"/>
            <a:ext cx="1425094" cy="4772526"/>
          </a:xfrm>
          <a:prstGeom prst="rect">
            <a:avLst/>
          </a:prstGeom>
        </p:spPr>
      </p:pic>
      <p:sp>
        <p:nvSpPr>
          <p:cNvPr id="2" name="Google Shape;523;g3a5b9630aa3_8_367">
            <a:extLst>
              <a:ext uri="{FF2B5EF4-FFF2-40B4-BE49-F238E27FC236}">
                <a16:creationId xmlns:a16="http://schemas.microsoft.com/office/drawing/2014/main" id="{8F8A4924-7D15-A9D9-1775-C30A3D2452CE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74" name="Google Shape;474;p66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</a:t>
            </a:r>
            <a:r>
              <a:rPr lang="es-EC" i="1" dirty="0"/>
              <a:t>Pantalla de Login</a:t>
            </a:r>
            <a:br>
              <a:rPr lang="es-EC" dirty="0"/>
            </a:br>
            <a:r>
              <a:rPr lang="es-EC" dirty="0"/>
              <a:t>Pantalla inicial para la autenticación del empleado desde el dispositivo móvil.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E38B966-1429-4070-EB48-583EB074B7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503" y="3021484"/>
            <a:ext cx="1657350" cy="313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23;g3a5b9630aa3_8_367">
            <a:extLst>
              <a:ext uri="{FF2B5EF4-FFF2-40B4-BE49-F238E27FC236}">
                <a16:creationId xmlns:a16="http://schemas.microsoft.com/office/drawing/2014/main" id="{8BACBF4E-1A54-C539-725F-EDFEA4599279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5b9630aa3_8_31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82" name="Google Shape;482;g3a5b9630aa3_8_31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Listado de clientes</a:t>
            </a:r>
            <a:br>
              <a:rPr lang="es-EC" i="1" dirty="0"/>
            </a:br>
            <a:r>
              <a:rPr lang="es-EC" dirty="0"/>
              <a:t>Vista general de los clientes registrados en el sistema.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87FA51A-990A-D7CE-754D-5D4CEFBD8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157" y="2831619"/>
            <a:ext cx="1791970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23;g3a5b9630aa3_8_367">
            <a:extLst>
              <a:ext uri="{FF2B5EF4-FFF2-40B4-BE49-F238E27FC236}">
                <a16:creationId xmlns:a16="http://schemas.microsoft.com/office/drawing/2014/main" id="{C058ED8C-C1C5-0B32-DD8E-63FBF8DBAE41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5b9630aa3_8_3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90" name="Google Shape;490;g3a5b9630aa3_8_32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Registro de nuevo cliente</a:t>
            </a:r>
            <a:br>
              <a:rPr lang="es-EC" dirty="0"/>
            </a:br>
            <a:r>
              <a:rPr lang="es-EC" dirty="0"/>
              <a:t>Formulario para la creación de un nuevo cliente desde el dispositivo móvil.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F755C23-D2E2-A846-9517-7E63AE414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367" y="2617168"/>
            <a:ext cx="173355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23;g3a5b9630aa3_8_367">
            <a:extLst>
              <a:ext uri="{FF2B5EF4-FFF2-40B4-BE49-F238E27FC236}">
                <a16:creationId xmlns:a16="http://schemas.microsoft.com/office/drawing/2014/main" id="{1C7750FA-379E-32BA-B167-5D56639D86D0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5b9630aa3_8_3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98" name="Google Shape;498;g3a5b9630aa3_8_33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</a:t>
            </a:r>
            <a:r>
              <a:rPr lang="es-EC" i="1" dirty="0"/>
              <a:t>Edición de cliente</a:t>
            </a:r>
            <a:br>
              <a:rPr lang="es-EC" i="1" dirty="0"/>
            </a:br>
            <a:r>
              <a:rPr lang="es-EC" dirty="0"/>
              <a:t>Pantalla para la modificación de datos del cliente.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E96B15B-4498-8436-8180-3910C92B80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409" y="2688351"/>
            <a:ext cx="1815465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23;g3a5b9630aa3_8_367">
            <a:extLst>
              <a:ext uri="{FF2B5EF4-FFF2-40B4-BE49-F238E27FC236}">
                <a16:creationId xmlns:a16="http://schemas.microsoft.com/office/drawing/2014/main" id="{BF9CB600-6401-1FAD-3582-98380BA37AEB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a5b9630aa3_8_34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06" name="Google Shape;506;g3a5b9630aa3_8_34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</a:t>
            </a:r>
            <a:r>
              <a:rPr lang="es-EC" i="1" dirty="0"/>
              <a:t>Eliminación de cliente</a:t>
            </a:r>
            <a:br>
              <a:rPr lang="es-EC" dirty="0"/>
            </a:br>
            <a:r>
              <a:rPr lang="es-EC" dirty="0"/>
              <a:t>Interfaz para la eliminación lógica de clientes.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9F80BCC-90F9-3C59-24F1-AAAF9DDCE4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002" y="2958766"/>
            <a:ext cx="173228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23;g3a5b9630aa3_8_367">
            <a:extLst>
              <a:ext uri="{FF2B5EF4-FFF2-40B4-BE49-F238E27FC236}">
                <a16:creationId xmlns:a16="http://schemas.microsoft.com/office/drawing/2014/main" id="{80C671A5-7589-3D74-6114-F0826533167D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a5b9630aa3_8_35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14" name="Google Shape;514;g3a5b9630aa3_8_35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297237" algn="just">
              <a:lnSpc>
                <a:spcPct val="107000"/>
              </a:lnSpc>
              <a:spcBef>
                <a:spcPts val="0"/>
              </a:spcBef>
              <a:buSzPct val="91999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Listado de cuentas</a:t>
            </a:r>
            <a:br>
              <a:rPr lang="es-EC" i="1" dirty="0"/>
            </a:br>
            <a:r>
              <a:rPr lang="es-EC" dirty="0"/>
              <a:t>Vista general de las cuentas asociadas a los clientes.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07C6832-BD68-2FBC-945D-7F3DF5897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479" y="2662915"/>
            <a:ext cx="1711325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23;g3a5b9630aa3_8_367">
            <a:extLst>
              <a:ext uri="{FF2B5EF4-FFF2-40B4-BE49-F238E27FC236}">
                <a16:creationId xmlns:a16="http://schemas.microsoft.com/office/drawing/2014/main" id="{A8368BD4-CFFA-B3E5-23F0-C749665C0EEF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Registro de nueva cuenta</a:t>
            </a:r>
            <a:br>
              <a:rPr lang="es-EC" dirty="0"/>
            </a:br>
            <a:r>
              <a:rPr lang="es-EC" dirty="0"/>
              <a:t>Formulario para la creación de una cuenta de ahorro.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2" name="Imagen 1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0D508B48-BBF1-BE96-E673-01017A556C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044" y="2936001"/>
            <a:ext cx="1560195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23;g3a5b9630aa3_8_367">
            <a:extLst>
              <a:ext uri="{FF2B5EF4-FFF2-40B4-BE49-F238E27FC236}">
                <a16:creationId xmlns:a16="http://schemas.microsoft.com/office/drawing/2014/main" id="{61EED8FB-95DF-85E5-9307-A8FE5F8ED9BA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1018D1DB-A538-7EF6-37A7-8DFEA47A9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0184E154-AC24-DA30-7BE3-FE70B6257B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C62BAAFA-977B-33D5-F69F-3C7BA42A02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Edición de cuenta</a:t>
            </a:r>
            <a:br>
              <a:rPr lang="es-EC" i="1" dirty="0"/>
            </a:br>
            <a:r>
              <a:rPr lang="es-EC" dirty="0"/>
              <a:t>Pantalla para actualizar la información de una cuenta existente.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C222128-442D-B2A3-6E8F-4A5A616A60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044" y="2893139"/>
            <a:ext cx="1560195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23;g3a5b9630aa3_8_367">
            <a:extLst>
              <a:ext uri="{FF2B5EF4-FFF2-40B4-BE49-F238E27FC236}">
                <a16:creationId xmlns:a16="http://schemas.microsoft.com/office/drawing/2014/main" id="{26457473-01C9-D609-2B88-9FDA4D779C58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7973715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F975C3AF-599E-5C00-A981-E759A955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FFA02C9B-A2C8-9315-55DC-B4737A963D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F797792F-B05D-61E4-A4FE-3C41AF5DCB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Cancelación de cuenta</a:t>
            </a:r>
            <a:br>
              <a:rPr lang="es-EC" i="1" dirty="0"/>
            </a:br>
            <a:r>
              <a:rPr lang="es-EC" dirty="0"/>
              <a:t>Interfaz para cancelar o desactivar una cuenta bancaria.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5C8D802-D7DC-7C60-8632-CC2ED80AE7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279" y="3050059"/>
            <a:ext cx="1609725" cy="31057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23;g3a5b9630aa3_8_367">
            <a:extLst>
              <a:ext uri="{FF2B5EF4-FFF2-40B4-BE49-F238E27FC236}">
                <a16:creationId xmlns:a16="http://schemas.microsoft.com/office/drawing/2014/main" id="{DFF6DCEE-01C8-CC1B-D0C3-2D435DB0FCBA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1259407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AAF855BF-4977-5F99-9BBF-D7C5722C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F773C838-AA52-82F6-4C7E-EB5FFBBBCF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F836A0F3-721C-FCD5-87F6-A5249707D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Realizar depósito</a:t>
            </a:r>
            <a:br>
              <a:rPr lang="es-EC" i="1" dirty="0"/>
            </a:br>
            <a:r>
              <a:rPr lang="es-EC" dirty="0"/>
              <a:t>Pantalla para ejecutar depósitos desde el cliente móvil.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3" name="Imagen 2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2D2D0696-2A3D-A8D8-3A1E-F0756A519D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704" y="2979574"/>
            <a:ext cx="1666875" cy="31762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23;g3a5b9630aa3_8_367">
            <a:extLst>
              <a:ext uri="{FF2B5EF4-FFF2-40B4-BE49-F238E27FC236}">
                <a16:creationId xmlns:a16="http://schemas.microsoft.com/office/drawing/2014/main" id="{B25A463A-9E2F-9254-C44B-FAEB2A31E749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2137832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60F43025-C0B3-C5CA-9C35-39BB1A71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0284499A-63B3-6DBC-64A9-B39BAD4D44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383E21AF-6714-1F43-8B36-BBFA4E265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Realizar retiro</a:t>
            </a:r>
            <a:br>
              <a:rPr lang="es-EC" dirty="0"/>
            </a:br>
            <a:r>
              <a:rPr lang="es-EC" dirty="0"/>
              <a:t>Interfaz para la ejecución de retiros con validaciones automáticas.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2" name="Imagen 1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B2EFE7AC-8B39-5900-9730-30002C19A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159" y="2707401"/>
            <a:ext cx="1751965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23;g3a5b9630aa3_8_367">
            <a:extLst>
              <a:ext uri="{FF2B5EF4-FFF2-40B4-BE49-F238E27FC236}">
                <a16:creationId xmlns:a16="http://schemas.microsoft.com/office/drawing/2014/main" id="{FC0D494F-DB47-9D94-21FB-2FFBA5074B9B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6813953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EF040EC9-9A45-68C6-305E-4E1C60B1C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0184C4A8-6CA0-69A5-5095-8750B422DC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DD2E651A-9378-AE66-4049-88E9B53A39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Realizar transferencia</a:t>
            </a:r>
            <a:br>
              <a:rPr lang="es-EC" i="1" dirty="0"/>
            </a:br>
            <a:r>
              <a:rPr lang="es-EC" dirty="0"/>
              <a:t>Pantalla para transferencias entre cuentas.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B559D59-F4F2-AA98-99C5-DE4CAEF041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179" y="2846224"/>
            <a:ext cx="1685925" cy="33096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23;g3a5b9630aa3_8_367">
            <a:extLst>
              <a:ext uri="{FF2B5EF4-FFF2-40B4-BE49-F238E27FC236}">
                <a16:creationId xmlns:a16="http://schemas.microsoft.com/office/drawing/2014/main" id="{1E5FCBA7-74FC-D38B-5C43-8BCA8207359F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95535275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C212AFFE-F0FA-9F10-9C95-97D916A1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DBAE8C40-F8F5-85E8-D51D-411C48B637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30627908-CACF-F41D-0F26-4226CFE9E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Bloqueo de movimientos</a:t>
            </a:r>
            <a:br>
              <a:rPr lang="es-EC" i="1" dirty="0"/>
            </a:br>
            <a:r>
              <a:rPr lang="es-EC" dirty="0"/>
              <a:t>Vista que indica la restricción de operaciones debido al estado de la cuenta.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2" name="Imagen 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5BDDF45E-DBD7-7144-911D-F5795FAAE0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704" y="2999894"/>
            <a:ext cx="1666875" cy="31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23;g3a5b9630aa3_8_367">
            <a:extLst>
              <a:ext uri="{FF2B5EF4-FFF2-40B4-BE49-F238E27FC236}">
                <a16:creationId xmlns:a16="http://schemas.microsoft.com/office/drawing/2014/main" id="{4302F731-DCFC-D6C0-F073-832DD3838BBD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66445531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E197E27F-2D2D-8B0D-E049-41CBD1502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A505E115-2036-DA1B-E149-043D812071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98A8FB4C-72A6-5F5C-91AD-69CDC028C6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Monitor de cuentas</a:t>
            </a:r>
            <a:br>
              <a:rPr lang="es-EC" i="1" dirty="0"/>
            </a:br>
            <a:r>
              <a:rPr lang="es-EC" dirty="0"/>
              <a:t>Pantalla de monitoreo del estado de las cuentas en tiempo real..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B8EC4BD4-398A-FD44-4E0B-89DD4EBC9C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679" y="3159204"/>
            <a:ext cx="1304925" cy="25539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23;g3a5b9630aa3_8_367">
            <a:extLst>
              <a:ext uri="{FF2B5EF4-FFF2-40B4-BE49-F238E27FC236}">
                <a16:creationId xmlns:a16="http://schemas.microsoft.com/office/drawing/2014/main" id="{CA80E1D7-AB1C-50DE-A2A7-C5562FAEBBE9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17108942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13489F84-19DF-B69F-9C01-3F4FABED9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F462B0F7-50B7-8742-7A76-128D4A1E35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35CFACC3-7667-D8C5-05D6-1A583C6919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Historial de movimientos</a:t>
            </a:r>
            <a:br>
              <a:rPr lang="es-EC" dirty="0"/>
            </a:br>
            <a:r>
              <a:rPr lang="es-EC" dirty="0"/>
              <a:t>Consulta del historial de movimientos financieros de una cuenta desde el dispositivo móvil.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34B6F72-063C-A3B3-0581-40DA74E5D7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241" y="2865019"/>
            <a:ext cx="1717759" cy="343551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23;g3a5b9630aa3_8_367">
            <a:extLst>
              <a:ext uri="{FF2B5EF4-FFF2-40B4-BE49-F238E27FC236}">
                <a16:creationId xmlns:a16="http://schemas.microsoft.com/office/drawing/2014/main" id="{1076F472-69AE-5F5D-4DE0-8E36638AE8F8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43416636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30" name="Google Shape;530;p68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Diagrama Arquitectura de Software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31" name="Google Shape;531;p6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FE229F43-2A7B-DEDB-AA7E-BF12C0FA7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429" y="2387207"/>
            <a:ext cx="4197497" cy="4097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38" name="Google Shape;538;p69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Diagrama de Casos de Uso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39" name="Google Shape;539;p6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540" name="Google Shape;54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313" y="2494355"/>
            <a:ext cx="7679755" cy="4131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a5b9630aa3_8_47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46" name="Google Shape;546;g3a5b9630aa3_8_476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Diagrama de Casos de Uso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47" name="Google Shape;547;g3a5b9630aa3_8_47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548" name="Google Shape;548;g3a5b9630aa3_8_4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7175" y="2474387"/>
            <a:ext cx="3455010" cy="4131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54" name="Google Shape;554;p70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Diagrama de Diagrama Eureka Bank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556" name="Google Shape;55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863" y="2617050"/>
            <a:ext cx="6514650" cy="40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CONCLUSIONES</a:t>
            </a:r>
            <a:endParaRPr dirty="0"/>
          </a:p>
        </p:txBody>
      </p:sp>
      <p:sp>
        <p:nvSpPr>
          <p:cNvPr id="562" name="Google Shape;562;p71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445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lvl="0"/>
            <a:r>
              <a:rPr lang="es-EC" dirty="0"/>
              <a:t>Se implementó exitosamente un sistema bancario integral basado en servicios web SOAP desarrollados con Spring </a:t>
            </a:r>
            <a:r>
              <a:rPr lang="es-EC" dirty="0" err="1"/>
              <a:t>Boot</a:t>
            </a:r>
            <a:r>
              <a:rPr lang="es-EC" dirty="0"/>
              <a:t> y Spring Web </a:t>
            </a:r>
            <a:r>
              <a:rPr lang="es-EC" dirty="0" err="1"/>
              <a:t>Services</a:t>
            </a:r>
            <a:r>
              <a:rPr lang="es-EC" dirty="0"/>
              <a:t>, ampliado con funcionalidades administrativas y mecanismos de control en tiempo real. Esto demostró la viabilidad y vigencia de la Arquitectura Orientada a Servicios (SOA) en entornos modernos, incluso cuando se integra con tecnologías actuales como contenedores Docker y API Gateway.</a:t>
            </a:r>
          </a:p>
          <a:p>
            <a:pPr marL="123444" lvl="0" indent="0">
              <a:buNone/>
            </a:pPr>
            <a:endParaRPr lang="es-ES" dirty="0">
              <a:ea typeface="Cambria"/>
              <a:cs typeface="Arial" panose="020B0604020202020204" pitchFamily="34" charset="0"/>
              <a:sym typeface="Cambria"/>
            </a:endParaRPr>
          </a:p>
          <a:p>
            <a:r>
              <a:rPr lang="es-EC" dirty="0"/>
              <a:t>La incorporación de servicios administrativos CRUD para clientes, cuentas y ventanillas permitió una gestión integral del sistema bancario, fortaleciendo el control operativo y reduciendo la dependencia de procesos manuales, todo ello sin romper el modelo </a:t>
            </a:r>
            <a:r>
              <a:rPr lang="es-EC" dirty="0" err="1"/>
              <a:t>contract-first</a:t>
            </a:r>
            <a:r>
              <a:rPr lang="es-EC" dirty="0"/>
              <a:t> propio de SOAP.</a:t>
            </a:r>
          </a:p>
          <a:p>
            <a:pPr marL="123444" indent="0">
              <a:buNone/>
            </a:pPr>
            <a:endParaRPr lang="es-EC" dirty="0"/>
          </a:p>
          <a:p>
            <a:r>
              <a:rPr lang="es-EC" dirty="0"/>
              <a:t>El despliegue de los servicios mediante contenedores Docker mejoró la portabilidad, aislamiento y facilidad de despliegue del sistema, permitiendo replicar entornos de desarrollo y producción de manera consistente.</a:t>
            </a:r>
          </a:p>
          <a:p>
            <a:pPr lvl="0"/>
            <a:endParaRPr lang="es-EC" dirty="0"/>
          </a:p>
        </p:txBody>
      </p:sp>
      <p:sp>
        <p:nvSpPr>
          <p:cNvPr id="563" name="Google Shape;563;p71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RECOMENDACIONES</a:t>
            </a:r>
            <a:endParaRPr dirty="0"/>
          </a:p>
        </p:txBody>
      </p:sp>
      <p:sp>
        <p:nvSpPr>
          <p:cNvPr id="569" name="Google Shape;569;p72"/>
          <p:cNvSpPr txBox="1">
            <a:spLocks noGrp="1"/>
          </p:cNvSpPr>
          <p:nvPr>
            <p:ph type="body" idx="1"/>
          </p:nvPr>
        </p:nvSpPr>
        <p:spPr>
          <a:xfrm>
            <a:off x="581206" y="2440053"/>
            <a:ext cx="8500800" cy="24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457200" lvl="0" indent="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Implementar medidas de seguridad adicionales como autenticación de dos factores (2FA) y encriptación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end-to-end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para proteger la información financiera sensible de los clientes y garantizar transacciones seguras en el sistema bancario.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Migrar gradualmente de SOAP a arquitecturas REST o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GraphQL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para aprovechar las ventajas de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APIs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más ligeras y modernas, manteniendo compatibilidad con sistemas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legacy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mediante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gateways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Implementar un sistema de notificaciones en tiempo real que alerte a los clientes sobre movimientos bancarios, saldos bajos y operaciones sospechosas, mejorando la experiencia de usuario y la seguridad.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Añadir pruebas automatizadas unitarias e integración continua (CI/CD) para garantizar la calidad del código y facilitar el despliegue de nuevas funcionalidades sin interrumpir el servicio.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70" name="Google Shape;570;p72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BIBLIOGRAFÍA</a:t>
            </a:r>
            <a:endParaRPr dirty="0"/>
          </a:p>
        </p:txBody>
      </p:sp>
      <p:sp>
        <p:nvSpPr>
          <p:cNvPr id="576" name="Google Shape;576;p73"/>
          <p:cNvSpPr txBox="1">
            <a:spLocks noGrp="1"/>
          </p:cNvSpPr>
          <p:nvPr>
            <p:ph type="body" idx="1"/>
          </p:nvPr>
        </p:nvSpPr>
        <p:spPr>
          <a:xfrm>
            <a:off x="581200" y="2180501"/>
            <a:ext cx="8571600" cy="4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[1]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Microsoft .NET Framework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Documentation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https://docs.microsoft.com/en-us/dotnet/framework/ Documentación oficial de .NET Framework 4.8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[2]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Windows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Communication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Foundation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(WCF)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Documentation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https://docs.microsoft.com/en-us/dotnet/framework/wcf/ Especificación y guías de WCF para servicios SOAP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[3] ASP.NET Web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Services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Documentation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https://docs.microsoft.com/en-us/aspnet/web-forms/ Documentación de ASP.NET Web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Forms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y servicios web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[4] JPA/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Hibernate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Documentation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https://docs.microsoft.com/en-us/ef/ Documentación oficial de JPA/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Hibernate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para acceso a datos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[5] SQL Server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LocalDB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Documentation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https://docs.microsoft.com/en-us/sql/database-engine/configure-windows/sql-server-express-localdb Documentación de SQL Server Express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LocalDB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77" name="Google Shape;577;p73"/>
          <p:cNvSpPr/>
          <p:nvPr/>
        </p:nvSpPr>
        <p:spPr>
          <a:xfrm>
            <a:off x="9377946" y="-5751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8408</Words>
  <Application>Microsoft Office PowerPoint</Application>
  <PresentationFormat>Panorámica</PresentationFormat>
  <Paragraphs>1894</Paragraphs>
  <Slides>93</Slides>
  <Notes>93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93</vt:i4>
      </vt:variant>
    </vt:vector>
  </HeadingPairs>
  <TitlesOfParts>
    <vt:vector size="98" baseType="lpstr">
      <vt:lpstr>Arial</vt:lpstr>
      <vt:lpstr>Cambria</vt:lpstr>
      <vt:lpstr>Gill Sans</vt:lpstr>
      <vt:lpstr>Noto Sans Symbols</vt:lpstr>
      <vt:lpstr>Dividendo</vt:lpstr>
      <vt:lpstr>SISTEMA BANCARIO EUREKA BANK CON MICROSERVICIOS SOAP JAVA Y BASE DE DATOS EN LA NUBE</vt:lpstr>
      <vt:lpstr>Presentación de PowerPoint</vt:lpstr>
      <vt:lpstr>MARCO TEÓRICO</vt:lpstr>
      <vt:lpstr>MARCO TEÓRICO</vt:lpstr>
      <vt:lpstr>MARCO TEÓRICO</vt:lpstr>
      <vt:lpstr>MARCO TEÓRICO</vt:lpstr>
      <vt:lpstr>MARCO TEÓRICO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Villarruel</dc:creator>
  <cp:lastModifiedBy>Javier Gonzaga</cp:lastModifiedBy>
  <cp:revision>15</cp:revision>
  <dcterms:created xsi:type="dcterms:W3CDTF">2020-08-13T07:15:02Z</dcterms:created>
  <dcterms:modified xsi:type="dcterms:W3CDTF">2026-02-12T16:32:52Z</dcterms:modified>
</cp:coreProperties>
</file>