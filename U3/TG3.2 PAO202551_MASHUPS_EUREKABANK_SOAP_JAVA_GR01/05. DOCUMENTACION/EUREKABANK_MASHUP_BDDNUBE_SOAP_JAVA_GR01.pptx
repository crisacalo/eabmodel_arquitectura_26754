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92" r:id="rId18"/>
    <p:sldId id="293" r:id="rId19"/>
    <p:sldId id="294" r:id="rId20"/>
    <p:sldId id="295" r:id="rId21"/>
    <p:sldId id="296" r:id="rId22"/>
    <p:sldId id="297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27" r:id="rId46"/>
    <p:sldId id="328" r:id="rId47"/>
    <p:sldId id="329" r:id="rId48"/>
    <p:sldId id="330" r:id="rId49"/>
    <p:sldId id="331" r:id="rId50"/>
    <p:sldId id="332" r:id="rId51"/>
    <p:sldId id="333" r:id="rId52"/>
    <p:sldId id="334" r:id="rId53"/>
    <p:sldId id="307" r:id="rId54"/>
    <p:sldId id="308" r:id="rId55"/>
    <p:sldId id="309" r:id="rId56"/>
    <p:sldId id="310" r:id="rId57"/>
    <p:sldId id="311" r:id="rId58"/>
    <p:sldId id="312" r:id="rId59"/>
    <p:sldId id="313" r:id="rId6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1" roundtripDataSignature="AMtx7miWLgu9kzzWIDXIuR7isTEOiZa2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9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5b9630aa3_8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5b9630aa3_8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5b9630aa3_7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a5b9630aa3_7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b9630aa3_7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a5b9630aa3_7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b9630aa3_8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a5b9630aa3_8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" name="Google Shape;2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7" name="Google Shape;40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5" name="Google Shape;41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5b9630aa3_8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3" name="Google Shape;423;g3a5b9630aa3_8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5b9630aa3_8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1" name="Google Shape;431;g3a5b9630aa3_8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5b9630aa3_8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9" name="Google Shape;439;g3a5b9630aa3_8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EE8F9E52-F3A2-880F-519B-B7896AFE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94007303-3D65-5B42-41D9-780E7110D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29940D23-FACC-172E-7000-34516C607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334415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0B47E84E-7EBC-01C4-CCD7-EE988BC54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42AC5878-61C8-0705-F719-DCB6D2BC6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EE92D9E5-4CFC-333E-4313-A9EF1B12F0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27006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C2650002-62FF-7489-BC7F-D2349E5E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BDAB70D7-2616-F578-BBC6-FDD04B44C9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01904F00-982B-E8BA-9067-24338C46B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72579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D8A949F2-57F1-813C-AEB9-F35B02B7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C90B96FA-A82C-7ADA-D2CD-552F6652E8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FD438522-687A-7172-3BA9-F33A3800F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91464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E9079CD2-962E-D628-9C67-F3685108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82D79C18-EAF0-BABE-EA30-AD018276F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23D97E7A-4FC1-AAF9-30E1-2B9605987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17403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CD6C8DCE-5AF3-4417-5640-52AAF80D0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11F1B692-17DC-E99D-851C-E337BD6AC7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01D7BBBC-1CCE-1754-D479-7B05A8D1F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82300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7D85E4A5-F01E-C5DE-294E-F03669B4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53F46351-C976-9F04-4680-71F00BDBF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A843414D-9C94-A78F-E198-C368AEF6E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92111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B7097C44-0180-108A-A5D6-473DCE73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268B3DAD-B68C-6DCA-A3DB-FDD6B3E6B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ACC5089E-B5A9-87F0-D8B2-EB6559E1B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40892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0A5164DB-3DEB-8C6B-C176-C2F66F0E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2A26EBE7-A8F8-6BBC-2E37-120697257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E271587A-34B2-0391-6901-1177B3CA5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25458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667F8DED-14B1-9799-A1EB-A4EE1E99E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0738CF30-4C93-2349-928E-2438E07D7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007463FF-4399-9233-E5B7-4E05FA853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23385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FD8CB8FD-9B51-5D74-2FFE-35765F90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13C1CF6F-D472-882A-6D40-B5A8A17C6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882AC44C-5B6C-CFF6-5B70-FD771128A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46961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BDD731ED-8484-B34F-F5B3-B9AC8288A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A1A67757-B990-9F0E-0868-7C664C1C19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806190B0-BE39-34AC-4C5C-FD996B6F5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3162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>
          <a:extLst>
            <a:ext uri="{FF2B5EF4-FFF2-40B4-BE49-F238E27FC236}">
              <a16:creationId xmlns:a16="http://schemas.microsoft.com/office/drawing/2014/main" id="{73E4F7C6-39C1-665B-C753-3EBD6070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5b9630aa3_8_242:notes">
            <a:extLst>
              <a:ext uri="{FF2B5EF4-FFF2-40B4-BE49-F238E27FC236}">
                <a16:creationId xmlns:a16="http://schemas.microsoft.com/office/drawing/2014/main" id="{4666E0C0-C7E2-FA1C-DEE7-A78ECC0B8D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7" name="Google Shape;447;g3a5b9630aa3_8_242:notes">
            <a:extLst>
              <a:ext uri="{FF2B5EF4-FFF2-40B4-BE49-F238E27FC236}">
                <a16:creationId xmlns:a16="http://schemas.microsoft.com/office/drawing/2014/main" id="{79AE465A-3858-953C-AFB1-CD976FF32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80682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5" name="Google Shape;45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3" name="Google Shape;463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1" name="Google Shape;471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5b9630aa3_8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9" name="Google Shape;479;g3a5b9630aa3_8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5b9630aa3_8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7" name="Google Shape;487;g3a5b9630aa3_8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5b9630aa3_8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5" name="Google Shape;495;g3a5b9630aa3_8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5b9630aa3_8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3" name="Google Shape;503;g3a5b9630aa3_8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5b9630aa3_8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1" name="Google Shape;511;g3a5b9630aa3_8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0D49288E-3B00-2757-3598-705993A6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5359F6FA-378C-024A-B2F7-758FA8EFA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74D429FA-0B81-7498-9AD5-E653C58D1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410640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4B7623CB-99E0-E344-F74C-E582FB9A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B7360BF7-7988-A114-65BA-AB7965BD6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ECBC94EE-DED5-4B4F-F0CA-149E89BA9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77959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8FC82DAB-3B0B-C14C-3D93-16558C20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11AB4718-6A2F-1FA5-F09A-F6D53092B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B375C216-D0D8-EA58-0D16-AA2D349B0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59694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F63C1F55-0DE8-AC89-3A6B-85DA7C089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07EBC506-97CD-ECC5-997D-076B1E563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CC49619D-EA49-406B-7238-07AEBA987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22981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36575E95-00EE-66D6-6999-896ABE30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BBD5F818-041B-C5F1-DFA0-F2F5EF7AD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85767606-AA71-3F17-E004-A2779C870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01893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3A2C1E43-BE0F-9636-7CE3-2EA25A28A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6323F251-70D5-1910-D94A-D8018A6B8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ED010D2B-834B-BE0D-5567-C3841F6F4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23842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A2F2C01E-F96B-F19B-1F53-6217B669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5540AECC-CDA3-F925-09E9-EFA9AE16B8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440D92D9-DA10-8027-8690-19605BCFD7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63896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A9E59B09-A832-0E4D-D387-7F1057645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5b9630aa3_8_367:notes">
            <a:extLst>
              <a:ext uri="{FF2B5EF4-FFF2-40B4-BE49-F238E27FC236}">
                <a16:creationId xmlns:a16="http://schemas.microsoft.com/office/drawing/2014/main" id="{802CB48E-5350-713C-1CA2-269299703F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g3a5b9630aa3_8_367:notes">
            <a:extLst>
              <a:ext uri="{FF2B5EF4-FFF2-40B4-BE49-F238E27FC236}">
                <a16:creationId xmlns:a16="http://schemas.microsoft.com/office/drawing/2014/main" id="{C5F2BA33-016B-D221-5DC9-893732129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03011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7" name="Google Shape;52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5" name="Google Shape;535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5b9630aa3_8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3" name="Google Shape;543;g3a5b9630aa3_8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1" name="Google Shape;551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9" name="Google Shape;55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3" name="Google Shape;573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7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18" name="Google Shape;18;p7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19" name="Google Shape;19;p7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20" name="Google Shape;20;p7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7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25" name="Google Shape;25;p7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26" name="Google Shape;26;p7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27" name="Google Shape;27;p7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32" name="Google Shape;32;p7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33" name="Google Shape;33;p7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34" name="Google Shape;34;p7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7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7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39" name="Google Shape;39;p7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40" name="Google Shape;40;p7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41" name="Google Shape;41;p7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42" name="Google Shape;42;p7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6" name="Google Shape;46;p7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7" name="Google Shape;47;p7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48" name="Google Shape;48;p7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49" name="Google Shape;49;p7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50" name="Google Shape;50;p7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1" name="Google Shape;51;p7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2" name="Google Shape;52;p7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5" name="Google Shape;55;p8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56" name="Google Shape;56;p8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57" name="Google Shape;57;p8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8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61" name="Google Shape;61;p8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62" name="Google Shape;62;p8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8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67" name="Google Shape;67;p8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 dirty="0"/>
          </a:p>
        </p:txBody>
      </p:sp>
      <p:sp>
        <p:nvSpPr>
          <p:cNvPr id="68" name="Google Shape;68;p8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69" name="Google Shape;69;p8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70" name="Google Shape;70;p8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8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 dirty="0"/>
          </a:p>
        </p:txBody>
      </p:sp>
      <p:sp>
        <p:nvSpPr>
          <p:cNvPr id="75" name="Google Shape;75;p8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76" name="Google Shape;76;p8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77" name="Google Shape;77;p8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8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82" name="Google Shape;82;p8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83" name="Google Shape;83;p8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84" name="Google Shape;84;p8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8" name="Google Shape;88;p8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>
                <a:latin typeface="Arial" panose="020B0604020202020204" pitchFamily="34" charset="0"/>
                <a:ea typeface="Cambria" panose="02040503050406030204" pitchFamily="18" charset="0"/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 dirty="0"/>
          </a:p>
        </p:txBody>
      </p:sp>
      <p:sp>
        <p:nvSpPr>
          <p:cNvPr id="89" name="Google Shape;89;p8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90" name="Google Shape;90;p8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EC" dirty="0"/>
          </a:p>
        </p:txBody>
      </p:sp>
      <p:sp>
        <p:nvSpPr>
          <p:cNvPr id="91" name="Google Shape;91;p8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7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dirty="0"/>
          </a:p>
        </p:txBody>
      </p:sp>
      <p:sp>
        <p:nvSpPr>
          <p:cNvPr id="8" name="Google Shape;8;p7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s-EC" dirty="0"/>
          </a:p>
        </p:txBody>
      </p:sp>
      <p:sp>
        <p:nvSpPr>
          <p:cNvPr id="9" name="Google Shape;9;p7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 lang="es-EC" dirty="0"/>
          </a:p>
        </p:txBody>
      </p:sp>
      <p:sp>
        <p:nvSpPr>
          <p:cNvPr id="10" name="Google Shape;10;p7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1" name="Google Shape;11;p7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7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mbria" panose="02040503050406030204" pitchFamily="18" charset="0"/>
          <a:ea typeface="Cambria" panose="02040503050406030204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52600" y="3192998"/>
            <a:ext cx="10993500" cy="13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dirty="0">
                <a:solidFill>
                  <a:schemeClr val="lt1"/>
                </a:solidFill>
              </a:rPr>
              <a:t>SISTEMA BANCARIO EUREKA BANK CON MASHUP SOAP JAVA Y BASE DE DATOS EN LA NUBE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1355001" y="4572000"/>
            <a:ext cx="4261500" cy="1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Cristian </a:t>
            </a:r>
            <a:r>
              <a:rPr lang="es-ES" b="1" dirty="0" err="1">
                <a:solidFill>
                  <a:schemeClr val="lt1"/>
                </a:solidFill>
              </a:rPr>
              <a:t>Jose</a:t>
            </a:r>
            <a:r>
              <a:rPr lang="es-ES" b="1" dirty="0">
                <a:solidFill>
                  <a:schemeClr val="lt1"/>
                </a:solidFill>
              </a:rPr>
              <a:t> </a:t>
            </a:r>
            <a:r>
              <a:rPr lang="es-ES" b="1" dirty="0" err="1">
                <a:solidFill>
                  <a:schemeClr val="lt1"/>
                </a:solidFill>
              </a:rPr>
              <a:t>Acalo</a:t>
            </a:r>
            <a:r>
              <a:rPr lang="es-ES" b="1" dirty="0">
                <a:solidFill>
                  <a:schemeClr val="lt1"/>
                </a:solidFill>
              </a:rPr>
              <a:t> Cruz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Javier </a:t>
            </a:r>
            <a:r>
              <a:rPr lang="es-ES" b="1" dirty="0" err="1">
                <a:solidFill>
                  <a:schemeClr val="lt1"/>
                </a:solidFill>
              </a:rPr>
              <a:t>Cristobal</a:t>
            </a:r>
            <a:r>
              <a:rPr lang="es-ES" b="1" dirty="0">
                <a:solidFill>
                  <a:schemeClr val="lt1"/>
                </a:solidFill>
              </a:rPr>
              <a:t> Gonzaga Peñafiel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</a:rPr>
              <a:t>Jefferson Leonardo Obando Carlosama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6909663" y="4572001"/>
            <a:ext cx="4261500" cy="12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FECHA: 03/02/2026</a:t>
            </a: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lvl="0" indent="0" algn="l" rtl="0">
              <a:spcBef>
                <a:spcPts val="9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ING: MAURICIO CAMPAÑA</a:t>
            </a: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endParaRPr sz="1600" b="1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601252" y="716872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98704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MARCO TEÓRICO</a:t>
            </a:r>
            <a:endParaRPr dirty="0">
              <a:solidFill>
                <a:schemeClr val="lt1"/>
              </a:solidFill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DESARROLLO</a:t>
            </a:r>
            <a:endParaRPr sz="1200" b="1" dirty="0">
              <a:solidFill>
                <a:schemeClr val="lt1"/>
              </a:solidFill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OBJETIVO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MODELO CONCEPTUAL DE LA BASE DE DATOS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CREAR BASE DE DATOS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SERVIDOR SOAP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WEB</a:t>
            </a:r>
            <a:endParaRPr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</a:endParaRP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CREACIÓN DEL PROYECTO – CLIENTE MÓVIL</a:t>
            </a:r>
          </a:p>
          <a:p>
            <a:pPr marL="914400" lvl="1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</a:rPr>
              <a:t>DIAGRAMAS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CONCLUSIONES</a:t>
            </a:r>
            <a:endParaRPr sz="1200" b="1" dirty="0">
              <a:solidFill>
                <a:schemeClr val="lt1"/>
              </a:solidFill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RECOMENDACIONES</a:t>
            </a:r>
            <a:endParaRPr sz="1200" b="1" dirty="0">
              <a:solidFill>
                <a:schemeClr val="lt1"/>
              </a:solidFill>
            </a:endParaRPr>
          </a:p>
          <a:p>
            <a:pPr marL="457200" lvl="0" indent="-298704" algn="l" rtl="0">
              <a:spcBef>
                <a:spcPts val="840"/>
              </a:spcBef>
              <a:spcAft>
                <a:spcPts val="0"/>
              </a:spcAft>
              <a:buSzPts val="1104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BIBLIOGRAFÍA</a:t>
            </a:r>
            <a:endParaRPr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79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5437"/>
          <a:stretch/>
        </p:blipFill>
        <p:spPr>
          <a:xfrm>
            <a:off x="4343750" y="1869813"/>
            <a:ext cx="7678700" cy="31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1.1 ARQUITECTURA ORIENTADA A SERVICIOS (SOAP)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La Arquitectura Orientada a Servicios es un paradigma de diseño que permite crear componentes de software modulares, reutilizables y desacoplados. En este proyecto, SOA facilita la integración entre el sistema de comercialización de electrodomésticos y el módulo de créditos de Eureka Bank mediante servicios SOAP.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Características principales: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Interoperabilidad entre sistemas heterogéneos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Reutilización de servicios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Acoplamiento débil entre componentes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Escalabilidad y mantenibilidad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5b9630aa3_8_4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22" name="Google Shape;122;g3a5b9630aa3_8_470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1.2 SERVICIOS WEB 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SOAP (Simple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Object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Access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Protocol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) es un protocolo de mensajería basado en XML que permite la comunicación entre aplicaciones a través de Internet. En este proyecto, SOAP se implementa mediante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Jakarta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EE (JAX-WS).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Ventajas de SOAP: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Estándares bien definidos (WSDL, XSD)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Seguridad robusta (WS-Security)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Transacciones distribuidas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Independencia de plataforma y lenguaje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23" name="Google Shape;123;g3a5b9630aa3_8_47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5b9630aa3_7_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29" name="Google Shape;129;g3a5b9630aa3_7_7"/>
          <p:cNvSpPr txBox="1">
            <a:spLocks noGrp="1"/>
          </p:cNvSpPr>
          <p:nvPr>
            <p:ph type="body" idx="1"/>
          </p:nvPr>
        </p:nvSpPr>
        <p:spPr>
          <a:xfrm>
            <a:off x="581198" y="2180500"/>
            <a:ext cx="85908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1.3 TECNOLOGÍAS UTILIZADAS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El proyecto implementa un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stack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tecnológico robusto basado en el ecosistema Java: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Lenguaje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Backend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: Java 17 +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Jakarta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EE (JAX-WS)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Lenguaje Clientes: .NET Framework 4.8+ / .NET 6+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Servidor Web: Apache Tomcat 10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ORM: JPA /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Base de Datos: MySQL 8.0 (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Railway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Cloud)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IDE: IntelliJ IDEA / NetBeans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Build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Tool: Maven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Estas tecnologías garantizan un desarrollo eficiente, mantenible y escalable del sistema de integración bancaria.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ct val="6111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3" name="Google Shape;123;g3a5b9630aa3_8_470">
            <a:extLst>
              <a:ext uri="{FF2B5EF4-FFF2-40B4-BE49-F238E27FC236}">
                <a16:creationId xmlns:a16="http://schemas.microsoft.com/office/drawing/2014/main" id="{D93D0568-D939-DC28-FB00-31329E47EB7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5b9630aa3_7_1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dirty="0"/>
              <a:t>MARCO TEÓRICO</a:t>
            </a:r>
            <a:endParaRPr dirty="0"/>
          </a:p>
        </p:txBody>
      </p:sp>
      <p:sp>
        <p:nvSpPr>
          <p:cNvPr id="136" name="Google Shape;136;g3a5b9630aa3_7_14"/>
          <p:cNvSpPr txBox="1">
            <a:spLocks noGrp="1"/>
          </p:cNvSpPr>
          <p:nvPr>
            <p:ph type="body" idx="1"/>
          </p:nvPr>
        </p:nvSpPr>
        <p:spPr>
          <a:xfrm>
            <a:off x="581198" y="2180500"/>
            <a:ext cx="85629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1.4 ARQUITECTURA EN CAPAS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El sistema se estructura en tres capas lógicas principales que garantizan la separación de responsabilidades: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Capa de Presentación: Compuesta por aplicaciones cliente (Consola, Escritorio, Web, Móvil) que interactúan con el usuario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Capa de Lógica de Negocio: Contiene los servicios web SOAP (Servicio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) que implementan las reglas de negocio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Capa de Acceso a Datos: Utiliza JPA/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la comunicación con las bases de datos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EurekaBank_db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Esta arquitectura facilita el mantenimiento,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testing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escalabilidad del sistema.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99459"/>
              <a:buNone/>
            </a:pPr>
            <a:endParaRPr dirty="0"/>
          </a:p>
        </p:txBody>
      </p:sp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271D3A8B-95EF-A695-7447-5AF150292A4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5b9630aa3_8_46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43" name="Google Shape;143;g3a5b9630aa3_8_462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2.1    OBJETIVO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Desarrollar un sistema bancario integral basado en una Arquitectura Orientada a Servicios (SOAP) que implemente funcionalidades de gestión de cuentas, transacciones, depósitos, retiros y transferencias del Banco Eureka Bank, con el fin de automatizar y agilizar las operaciones bancarias mediante múltiples clientes multiplataforma.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AA00DDAA-0B94-1CF9-F84D-05EA10D5586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50" name="Google Shape;150;p4"/>
          <p:cNvSpPr txBox="1">
            <a:spLocks noGrp="1"/>
          </p:cNvSpPr>
          <p:nvPr>
            <p:ph type="body" idx="1"/>
          </p:nvPr>
        </p:nvSpPr>
        <p:spPr>
          <a:xfrm>
            <a:off x="581192" y="1971721"/>
            <a:ext cx="85893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2.2    MODELO CONCEPTUAL DE LA BASE DE DATOS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1.      A continuación, se presenta el modelo conceptual de la base de datos "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" desplegada en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Railway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(MySQL 8.0)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152" name="Google Shape;15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954" y="3016928"/>
            <a:ext cx="5819775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3;g3a5b9630aa3_8_470">
            <a:extLst>
              <a:ext uri="{FF2B5EF4-FFF2-40B4-BE49-F238E27FC236}">
                <a16:creationId xmlns:a16="http://schemas.microsoft.com/office/drawing/2014/main" id="{75D73DF6-A6D1-DF8D-167C-FBD94848CF52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58" name="Google Shape;158;p5"/>
          <p:cNvSpPr txBox="1">
            <a:spLocks noGrp="1"/>
          </p:cNvSpPr>
          <p:nvPr>
            <p:ph type="body" idx="1"/>
          </p:nvPr>
        </p:nvSpPr>
        <p:spPr>
          <a:xfrm>
            <a:off x="595569" y="1849818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2.3	CREAR BASE DE DATOS</a:t>
            </a:r>
            <a:endParaRPr dirty="0"/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Al abrir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Railway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 se crean las bases de datos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EurekaBank_db</a:t>
            </a:r>
            <a:endParaRPr dirty="0"/>
          </a:p>
        </p:txBody>
      </p:sp>
      <p:sp>
        <p:nvSpPr>
          <p:cNvPr id="159" name="Google Shape;159;p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161" name="Google Shape;161;p5" descr="Una captura de pantalla de una computador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l="4565" t="14647" r="2824" b="7440"/>
          <a:stretch/>
        </p:blipFill>
        <p:spPr>
          <a:xfrm>
            <a:off x="1145975" y="3232200"/>
            <a:ext cx="6910199" cy="3270499"/>
          </a:xfrm>
          <a:prstGeom prst="rect">
            <a:avLst/>
          </a:prstGeom>
          <a:noFill/>
          <a:ln w="88900" cap="sq" cmpd="thickThin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212F9417-34B9-B9C1-73ED-6759F0E6349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581192" y="1848998"/>
            <a:ext cx="8589441" cy="76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2.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4.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Ahora para insertar datos deberemos usar nuestro script </a:t>
            </a:r>
            <a:r>
              <a:rPr lang="es-ES" sz="1800" dirty="0" err="1">
                <a:ea typeface="Cambria"/>
                <a:cs typeface="Arial" panose="020B0604020202020204" pitchFamily="34" charset="0"/>
                <a:sym typeface="Cambria"/>
              </a:rPr>
              <a:t>Carga_Datos.sql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, copiamos y PEGAMOS su contenido en la herramienta y verificamos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1763" y="2612175"/>
            <a:ext cx="2808299" cy="40871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3;g3a5b9630aa3_8_470">
            <a:extLst>
              <a:ext uri="{FF2B5EF4-FFF2-40B4-BE49-F238E27FC236}">
                <a16:creationId xmlns:a16="http://schemas.microsoft.com/office/drawing/2014/main" id="{7F848F4B-D7A8-5858-865E-7D769E1936F0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bg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450550" y="1919250"/>
            <a:ext cx="87960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342900" marR="0" lvl="0" indent="-32712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Font typeface="Noto Sans Symbols"/>
              <a:buChar char="∙"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2.4	Creación del Servidor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8235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Para comenzar con la creación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del proyecto servidor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se procede a crear un nuevo proyecto en Visual Studio 2022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,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el proyecto 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que 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se deberá seleccionar es del tipo Aplicación ASP.NET Core Web API.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9"/>
              <a:buFont typeface="Noto Sans Symbols"/>
              <a:buNone/>
            </a:pP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2172" y="3136258"/>
            <a:ext cx="5052757" cy="3407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84" name="Google Shape;184;p9"/>
          <p:cNvSpPr txBox="1">
            <a:spLocks noGrp="1"/>
          </p:cNvSpPr>
          <p:nvPr>
            <p:ph type="body" idx="1"/>
          </p:nvPr>
        </p:nvSpPr>
        <p:spPr>
          <a:xfrm>
            <a:off x="390692" y="1962876"/>
            <a:ext cx="8589441" cy="60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2.	Luego ajustar las configuraciones del servidor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elegir proyecto vacío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187" name="Google Shape;187;p9" descr="Interfaz de usuario gráfica, Texto, Aplicación, Correo electrónic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5392" y="2819397"/>
            <a:ext cx="5400040" cy="370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193" name="Google Shape;193;p10"/>
          <p:cNvSpPr txBox="1">
            <a:spLocks noGrp="1"/>
          </p:cNvSpPr>
          <p:nvPr>
            <p:ph type="body" idx="1"/>
          </p:nvPr>
        </p:nvSpPr>
        <p:spPr>
          <a:xfrm>
            <a:off x="581191" y="1905093"/>
            <a:ext cx="8589441" cy="52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3. Ahora se crea la estructura del proyecto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/>
          </a:p>
        </p:txBody>
      </p:sp>
      <p:sp>
        <p:nvSpPr>
          <p:cNvPr id="194" name="Google Shape;194;p1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196" name="Google Shape;196;p10" descr="Interfaz de usuario gráfica, Texto, Aplicación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7288" y="2782728"/>
            <a:ext cx="7077248" cy="37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02" name="Google Shape;202;p11"/>
          <p:cNvSpPr txBox="1">
            <a:spLocks noGrp="1"/>
          </p:cNvSpPr>
          <p:nvPr>
            <p:ph type="body" idx="1"/>
          </p:nvPr>
        </p:nvSpPr>
        <p:spPr>
          <a:xfrm>
            <a:off x="581192" y="1962603"/>
            <a:ext cx="8589441" cy="56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4. Ahora se crea una clase para hacer Conexión a la BDD y se codifica su lógica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05" name="Google Shape;205;p11" descr="Interfaz de usuario gráfica, Texto, Aplicación, Correo electrónic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7663" y="2957196"/>
            <a:ext cx="6756501" cy="333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11" name="Google Shape;211;p13"/>
          <p:cNvSpPr txBox="1">
            <a:spLocks noGrp="1"/>
          </p:cNvSpPr>
          <p:nvPr>
            <p:ph type="body" idx="1"/>
          </p:nvPr>
        </p:nvSpPr>
        <p:spPr>
          <a:xfrm>
            <a:off x="581192" y="1721974"/>
            <a:ext cx="8589441" cy="84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5. Ahora en la carpeta Servicio creamos la clase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CreditoService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CreditoValidatorService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manejar las funciones que se utilizarán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endParaRPr sz="18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14" name="Google Shape;214;p13" descr="Interfaz de usuario gráfica, Texto, Aplicación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6860" y="2831125"/>
            <a:ext cx="5098099" cy="36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220" name="Google Shape;220;p15"/>
          <p:cNvSpPr txBox="1">
            <a:spLocks noGrp="1"/>
          </p:cNvSpPr>
          <p:nvPr>
            <p:ph type="body" idx="1"/>
          </p:nvPr>
        </p:nvSpPr>
        <p:spPr>
          <a:xfrm>
            <a:off x="580915" y="1952011"/>
            <a:ext cx="8531932" cy="60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7. Se procede a codificar la lógica para usar los métodos desarrollados</a:t>
            </a: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/>
          </a:p>
        </p:txBody>
      </p:sp>
      <p:sp>
        <p:nvSpPr>
          <p:cNvPr id="221" name="Google Shape;221;p15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875" y="2469499"/>
            <a:ext cx="3579525" cy="430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5675" y="2469499"/>
            <a:ext cx="3684803" cy="430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10" name="Google Shape;410;p46"/>
          <p:cNvSpPr txBox="1">
            <a:spLocks noGrp="1"/>
          </p:cNvSpPr>
          <p:nvPr>
            <p:ph type="body" idx="1"/>
          </p:nvPr>
        </p:nvSpPr>
        <p:spPr>
          <a:xfrm>
            <a:off x="484209" y="1715956"/>
            <a:ext cx="8576663" cy="144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Proyecto web 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Crear un proyecto de tipo web y seleccionar el tipo de plantilla del proyecto.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11" name="Google Shape;41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12" name="Google Shape;412;p46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638" y="3158726"/>
            <a:ext cx="6273799" cy="33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18" name="Google Shape;418;p47"/>
          <p:cNvSpPr txBox="1">
            <a:spLocks noGrp="1"/>
          </p:cNvSpPr>
          <p:nvPr>
            <p:ph type="body" idx="1"/>
          </p:nvPr>
        </p:nvSpPr>
        <p:spPr>
          <a:xfrm>
            <a:off x="556095" y="1986220"/>
            <a:ext cx="8504777" cy="55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1.	Estructura cliente WEB. </a:t>
            </a:r>
            <a:endParaRPr dirty="0"/>
          </a:p>
        </p:txBody>
      </p:sp>
      <p:sp>
        <p:nvSpPr>
          <p:cNvPr id="419" name="Google Shape;419;p4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B05CD70-94B1-971B-294E-C91D544FD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440" y="2060270"/>
            <a:ext cx="1433120" cy="45202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5b9630aa3_8_2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26" name="Google Shape;426;g3a5b9630aa3_8_228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</a:t>
            </a:r>
            <a:r>
              <a:rPr lang="es-EC" i="1" dirty="0"/>
              <a:t>Página de Login</a:t>
            </a:r>
            <a:br>
              <a:rPr lang="es-EC" dirty="0"/>
            </a:br>
            <a:r>
              <a:rPr lang="es-EC" dirty="0"/>
              <a:t>Pantalla de autenticación que permite el ingreso de los empleados al sistema mediante credenciales válidas.</a:t>
            </a:r>
            <a:endParaRPr dirty="0"/>
          </a:p>
        </p:txBody>
      </p:sp>
      <p:sp>
        <p:nvSpPr>
          <p:cNvPr id="427" name="Google Shape;427;g3a5b9630aa3_8_2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FAE1B87-5627-7BA8-CB4F-7792EA646A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51258"/>
            <a:ext cx="573151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5b9630aa3_8_28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34" name="Google Shape;434;g3a5b9630aa3_8_289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Registro de nuevo cliente</a:t>
            </a:r>
            <a:br>
              <a:rPr lang="es-EC" dirty="0"/>
            </a:br>
            <a:r>
              <a:rPr lang="es-EC" dirty="0"/>
              <a:t>Formulario para el registro de nuevos clientes bancarios en el sistema.</a:t>
            </a:r>
            <a:endParaRPr dirty="0"/>
          </a:p>
        </p:txBody>
      </p:sp>
      <p:sp>
        <p:nvSpPr>
          <p:cNvPr id="435" name="Google Shape;435;g3a5b9630aa3_8_28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9C16596-60C6-A11E-A7BA-B095204AD3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83326"/>
            <a:ext cx="5731510" cy="2840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5b9630aa3_8_2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42" name="Google Shape;442;g3a5b9630aa3_8_235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Cliente registrado exitosamente</a:t>
            </a:r>
            <a:br>
              <a:rPr lang="es-EC" i="1" dirty="0"/>
            </a:br>
            <a:r>
              <a:rPr lang="es-EC" dirty="0"/>
              <a:t>Confirmación visual del registro exitoso de un cliente.</a:t>
            </a:r>
          </a:p>
        </p:txBody>
      </p:sp>
      <p:sp>
        <p:nvSpPr>
          <p:cNvPr id="443" name="Google Shape;443;g3a5b9630aa3_8_2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701BB02-675D-78AE-1B6A-0F0320B7BE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260849"/>
            <a:ext cx="573151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/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Edición de datos del cliente</a:t>
            </a:r>
            <a:br>
              <a:rPr lang="es-EC" i="1" dirty="0"/>
            </a:br>
            <a:r>
              <a:rPr lang="es-EC" dirty="0"/>
              <a:t>Interfaz para la actualización de la información personal del cliente.</a:t>
            </a:r>
            <a:endParaRPr dirty="0"/>
          </a:p>
        </p:txBody>
      </p:sp>
      <p:sp>
        <p:nvSpPr>
          <p:cNvPr id="451" name="Google Shape;451;g3a5b9630aa3_8_2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EDF029E-4E18-E4CC-8A2E-C265554822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74603"/>
            <a:ext cx="5731510" cy="2890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4B16B1CB-C1DA-63F5-08F0-53009CAB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59A8874-1C9E-7E0E-C1AB-E36CEB200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40C3CA5F-2C38-DC6F-5DC6-08EF897097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Eliminación de cliente</a:t>
            </a:r>
            <a:br>
              <a:rPr lang="es-EC" i="1" dirty="0"/>
            </a:br>
            <a:r>
              <a:rPr lang="es-EC" dirty="0"/>
              <a:t>Pantalla que permite la eliminación lógica de un cliente del sistema.</a:t>
            </a:r>
            <a:endParaRPr dirty="0"/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FFF9E3E6-25FF-490E-D4F2-090265A8E26A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28D6A46-0881-549E-63B9-91528FE9EA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157374"/>
            <a:ext cx="5731510" cy="29984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8986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C8C9F60C-5F0E-7788-9F7E-A2CD333C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58978B19-EA6F-1D47-036B-C80723561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69EF21CF-0707-4770-C553-A955FEECC0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Registro de nueva cuenta</a:t>
            </a:r>
            <a:br>
              <a:rPr lang="es-EC" i="1" dirty="0"/>
            </a:br>
            <a:r>
              <a:rPr lang="es-EC" dirty="0"/>
              <a:t>Formulario para la creación de una nueva cuenta de ahorro asociada a un cliente.</a:t>
            </a:r>
            <a:endParaRPr dirty="0"/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F728ECA0-E2DE-55BA-C065-00E521AE617D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B85EC37-54A2-F3DB-C4D8-98A70FD86F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189338"/>
            <a:ext cx="5731510" cy="2500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8380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8B5A0E3E-BBD9-88CF-1F40-8EAA7F03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DB6C2DF-C6D4-F7C3-A930-4B34032093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D49ED726-3ECC-CD6E-0F1F-3EE848096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Listado de cuentas abiertas</a:t>
            </a:r>
            <a:br>
              <a:rPr lang="es-EC" i="1" dirty="0"/>
            </a:br>
            <a:r>
              <a:rPr lang="es-EC" dirty="0"/>
              <a:t>Vista general de las cuentas registradas y su estado actual.</a:t>
            </a:r>
            <a:endParaRPr dirty="0"/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9B67835B-CC30-289F-5A74-F0948AEA8D3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AECE120-9CAA-7AC8-9A04-2DD61B1C0E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429000"/>
            <a:ext cx="5731510" cy="21316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6940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28276EF4-0A92-2643-78E8-9656453C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EB132198-D6BC-E8A0-1741-E3CBC6D167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100EF645-A096-FF84-AE1E-1A4C111C3B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Edición de cuenta</a:t>
            </a:r>
            <a:br>
              <a:rPr lang="es-EC" i="1" dirty="0"/>
            </a:br>
            <a:r>
              <a:rPr lang="es-EC" dirty="0"/>
              <a:t>Pantalla para la modificación de datos administrativos de una cuenta.</a:t>
            </a:r>
            <a:endParaRPr dirty="0"/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B7986833-FF30-5E06-DDDF-4FC0D61B0BD5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1A25556-F53D-A221-F2F8-866F415B93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994392"/>
            <a:ext cx="5731510" cy="2890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5495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66F13639-7173-5618-F17D-A610527F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CA5C4DF9-7DD5-99CC-2308-85DD1AAFD0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1D44C928-692B-217F-65AF-30C249F6F5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Cancelación de cuenta</a:t>
            </a:r>
            <a:br>
              <a:rPr lang="es-EC" i="1" dirty="0"/>
            </a:br>
            <a:r>
              <a:rPr lang="es-EC" dirty="0"/>
              <a:t>Interfaz para la cancelación o desactivación de cuentas bancarias.</a:t>
            </a:r>
            <a:endParaRPr dirty="0"/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DCB59F65-BEC1-2FF5-6D56-D25A44A22711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3604FDD-F9D5-FFF3-9EC2-95D2A1EAD1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257704"/>
            <a:ext cx="5731510" cy="2898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3345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E9C3D75F-9D38-FD17-D6D8-699C412E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00045CBA-E964-605F-C7C1-DE88B4713D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9DD195DD-F96F-401B-C94E-AB0FED222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Realizar depósito</a:t>
            </a:r>
            <a:br>
              <a:rPr lang="es-EC" i="1" dirty="0"/>
            </a:br>
            <a:r>
              <a:rPr lang="es-EC" dirty="0"/>
              <a:t>Pantalla para ejecutar depósitos en cuentas activas.</a:t>
            </a:r>
            <a:endParaRPr dirty="0"/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235793FC-F453-A940-0345-A01E054A99B4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414FB9F-8AA5-4149-7C11-57FB23C846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429000"/>
            <a:ext cx="5731510" cy="22313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503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DF4A35AA-3D54-75A5-9545-F84F69A8F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150D470-1C14-A586-A54C-E051DE6FD6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F2D53901-5B6F-BDDC-C178-28D42648F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Realizar retiro</a:t>
            </a:r>
            <a:br>
              <a:rPr lang="es-EC" i="1" dirty="0"/>
            </a:br>
            <a:r>
              <a:rPr lang="es-EC" dirty="0"/>
              <a:t>Interfaz para realizar retiros con validaciones de saldo y cargos.</a:t>
            </a:r>
            <a:endParaRPr dirty="0"/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C86A2B5B-B3C3-8369-CF09-51DC3C24DBE4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BC801B16-AFEF-01A5-61CD-516FD9377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429000"/>
            <a:ext cx="5731510" cy="2339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3007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9ADF588F-FF55-0B36-1859-CF4624EE3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6F4DB277-C815-DE29-C79D-4078D896EB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BD36477F-AD41-D949-C9C5-C4001CEC4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Realizar transferencia</a:t>
            </a:r>
            <a:br>
              <a:rPr lang="es-EC" i="1" dirty="0"/>
            </a:br>
            <a:r>
              <a:rPr lang="es-EC" dirty="0"/>
              <a:t>Pantalla para la transferencia de fondos entre cuentas.</a:t>
            </a:r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6120E19F-3957-FBC1-1695-054A21C834C1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1343D9F-0CCB-01AD-B65D-0ED89B0D12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252938"/>
            <a:ext cx="5731510" cy="2758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9348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ED7ACE8A-9F38-744B-7F63-87776DDF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4D7AA9BE-8C0E-90D4-D0DF-80A2951AB1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709F5B6A-9268-3DE5-EB16-FAF93FD90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Reporte de movimientos</a:t>
            </a:r>
            <a:br>
              <a:rPr lang="es-EC" dirty="0"/>
            </a:br>
            <a:r>
              <a:rPr lang="es-EC" dirty="0"/>
              <a:t>Consulta de movimientos históricos de una cuenta, con información detallada.</a:t>
            </a:r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82D094C5-AE52-45DE-7157-79A54195C4E7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F09F7901-927E-920C-CAAA-E847DA6E2D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990258"/>
            <a:ext cx="5731510" cy="2593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0971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7579EB45-CB36-C3E7-E75B-EB1BCE4E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8F70EC4E-C6E4-3262-51C9-67240F7D7F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2186BC86-A977-71E3-1AB9-1DAD7F707D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Reserva y bloqueo de cuentas</a:t>
            </a:r>
            <a:br>
              <a:rPr lang="es-EC" i="1" dirty="0"/>
            </a:br>
            <a:r>
              <a:rPr lang="es-EC" dirty="0"/>
              <a:t>Vista del módulo de control para bloquear cuentas por motivos administrativos o de seguridad.</a:t>
            </a:r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B8DDE520-DB57-15ED-2ECC-A51966986568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C1F9D9B-FB45-AD6C-F508-1BA067C31D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178710"/>
            <a:ext cx="5731510" cy="2553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9007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F2FBA617-7BEC-A039-99D7-2A8BE780D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2D7C4366-EF3B-4954-A937-2C3C7EC077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43CD050B-4307-BCE6-3589-C062AA47D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Reserva y bloqueo de transferencias</a:t>
            </a:r>
            <a:br>
              <a:rPr lang="es-EC" i="1" dirty="0"/>
            </a:br>
            <a:r>
              <a:rPr lang="es-EC" dirty="0"/>
              <a:t>Pantalla que restringe temporalmente las transferencias de una cuenta.</a:t>
            </a:r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A71048E5-4C18-E2C5-FDFF-942FE467F6CB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65EF2D3-F127-9FAD-406D-39D13473B1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965256"/>
            <a:ext cx="5731510" cy="26866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3345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B7D5C740-3B42-C36E-E047-71206642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44390877-EBA6-C1F8-4214-9CFCBBD6E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6DBE3A8C-42EF-59EC-7961-B2A6163CA3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Operación bloqueada</a:t>
            </a:r>
            <a:br>
              <a:rPr lang="es-EC" dirty="0"/>
            </a:br>
            <a:r>
              <a:rPr lang="es-EC" dirty="0"/>
              <a:t>Mensaje informativo que indica que una operación no puede ejecutarse debido al estado de la cuenta..</a:t>
            </a:r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6B88D511-5936-1A28-5E16-6BB1DBA2FD16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CD0CC24-8197-7B41-C339-A6D1A96CD8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2869441"/>
            <a:ext cx="5731510" cy="29552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1679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>
          <a:extLst>
            <a:ext uri="{FF2B5EF4-FFF2-40B4-BE49-F238E27FC236}">
              <a16:creationId xmlns:a16="http://schemas.microsoft.com/office/drawing/2014/main" id="{09C8BF26-8376-BB08-055D-E9A8D8D4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5b9630aa3_8_242">
            <a:extLst>
              <a:ext uri="{FF2B5EF4-FFF2-40B4-BE49-F238E27FC236}">
                <a16:creationId xmlns:a16="http://schemas.microsoft.com/office/drawing/2014/main" id="{03FFA999-33F2-667F-0D8B-ABB151ABCA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0" name="Google Shape;450;g3a5b9630aa3_8_242">
            <a:extLst>
              <a:ext uri="{FF2B5EF4-FFF2-40B4-BE49-F238E27FC236}">
                <a16:creationId xmlns:a16="http://schemas.microsoft.com/office/drawing/2014/main" id="{4736D64F-DCB2-6B75-37BA-087FBA05D9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783502"/>
            <a:ext cx="8431500" cy="7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Noto Sans Symbols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Web: Cliente Web - </a:t>
            </a:r>
            <a:r>
              <a:rPr lang="es-EC" i="1" dirty="0"/>
              <a:t>Monitor de cuentas</a:t>
            </a:r>
            <a:br>
              <a:rPr lang="es-EC" dirty="0"/>
            </a:br>
            <a:r>
              <a:rPr lang="es-EC" dirty="0"/>
              <a:t>Panel de monitoreo que muestra el estado actual de las cuentas del sistema.</a:t>
            </a:r>
          </a:p>
        </p:txBody>
      </p:sp>
      <p:sp>
        <p:nvSpPr>
          <p:cNvPr id="451" name="Google Shape;451;g3a5b9630aa3_8_242">
            <a:extLst>
              <a:ext uri="{FF2B5EF4-FFF2-40B4-BE49-F238E27FC236}">
                <a16:creationId xmlns:a16="http://schemas.microsoft.com/office/drawing/2014/main" id="{339A5E96-FCBC-13F1-1C14-6777FFE8BAF0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454E74D-E453-196A-1FDF-C7D883599D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187" y="3092366"/>
            <a:ext cx="5731510" cy="2790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24070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58" name="Google Shape;458;p62"/>
          <p:cNvSpPr txBox="1">
            <a:spLocks noGrp="1"/>
          </p:cNvSpPr>
          <p:nvPr>
            <p:ph type="body" idx="1"/>
          </p:nvPr>
        </p:nvSpPr>
        <p:spPr>
          <a:xfrm>
            <a:off x="477435" y="2128872"/>
            <a:ext cx="84519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1.	Creación proyecto cliente móvil. </a:t>
            </a:r>
            <a:endParaRPr dirty="0"/>
          </a:p>
        </p:txBody>
      </p:sp>
      <p:sp>
        <p:nvSpPr>
          <p:cNvPr id="459" name="Google Shape;459;p6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460" name="Google Shape;460;p62" descr="Captura de pantalla de un celular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5647" y="2975288"/>
            <a:ext cx="6555475" cy="315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66" name="Google Shape;466;p63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Noto Sans Symbols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2.	Clases en diferentes paquetes</a:t>
            </a:r>
            <a:endParaRPr dirty="0"/>
          </a:p>
        </p:txBody>
      </p:sp>
      <p:sp>
        <p:nvSpPr>
          <p:cNvPr id="467" name="Google Shape;467;p6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A7DDFB-ACE9-28A5-28E2-F49C2C125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239" y="1911212"/>
            <a:ext cx="1425094" cy="477252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74" name="Google Shape;474;p66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</a:t>
            </a:r>
            <a:r>
              <a:rPr lang="es-EC" i="1" dirty="0"/>
              <a:t>Pantalla de Login</a:t>
            </a:r>
            <a:br>
              <a:rPr lang="es-EC" dirty="0"/>
            </a:br>
            <a:r>
              <a:rPr lang="es-EC" dirty="0"/>
              <a:t>Pantalla inicial para la autenticación del empleado desde el dispositivo móvil.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75" name="Google Shape;475;p66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E38B966-1429-4070-EB48-583EB074B7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503" y="3021484"/>
            <a:ext cx="1657350" cy="313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5b9630aa3_8_3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82" name="Google Shape;482;g3a5b9630aa3_8_31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Listado de clientes</a:t>
            </a:r>
            <a:br>
              <a:rPr lang="es-EC" i="1" dirty="0"/>
            </a:br>
            <a:r>
              <a:rPr lang="es-EC" dirty="0"/>
              <a:t>Vista general de los clientes registrados en el sistema.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83" name="Google Shape;483;g3a5b9630aa3_8_3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87FA51A-990A-D7CE-754D-5D4CEFBD8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157" y="2831619"/>
            <a:ext cx="179197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5b9630aa3_8_3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90" name="Google Shape;490;g3a5b9630aa3_8_32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Registro de nuevo cliente</a:t>
            </a:r>
            <a:br>
              <a:rPr lang="es-EC" dirty="0"/>
            </a:br>
            <a:r>
              <a:rPr lang="es-EC" dirty="0"/>
              <a:t>Formulario para la creación de un nuevo cliente desde el dispositivo móvil.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91" name="Google Shape;491;g3a5b9630aa3_8_3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F755C23-D2E2-A846-9517-7E63AE414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367" y="2617168"/>
            <a:ext cx="173355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5b9630aa3_8_3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498" name="Google Shape;498;g3a5b9630aa3_8_33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</a:t>
            </a:r>
            <a:r>
              <a:rPr lang="es-EC" i="1" dirty="0"/>
              <a:t>Edición de cliente</a:t>
            </a:r>
            <a:br>
              <a:rPr lang="es-EC" i="1" dirty="0"/>
            </a:br>
            <a:r>
              <a:rPr lang="es-EC" dirty="0"/>
              <a:t>Pantalla para la modificación de datos del cliente.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499" name="Google Shape;499;g3a5b9630aa3_8_3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E96B15B-4498-8436-8180-3910C92B8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409" y="2688351"/>
            <a:ext cx="181546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5b9630aa3_8_34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06" name="Google Shape;506;g3a5b9630aa3_8_34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</a:t>
            </a:r>
            <a:r>
              <a:rPr lang="es-EC" i="1" dirty="0"/>
              <a:t>Eliminación de cliente</a:t>
            </a:r>
            <a:br>
              <a:rPr lang="es-EC" dirty="0"/>
            </a:br>
            <a:r>
              <a:rPr lang="es-EC" dirty="0"/>
              <a:t>Interfaz para la eliminación lógica de clientes.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07" name="Google Shape;507;g3a5b9630aa3_8_34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9F80BCC-90F9-3C59-24F1-AAAF9DDCE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002" y="2958766"/>
            <a:ext cx="173228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5b9630aa3_8_3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14" name="Google Shape;514;g3a5b9630aa3_8_35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297237" algn="just">
              <a:lnSpc>
                <a:spcPct val="107000"/>
              </a:lnSpc>
              <a:spcBef>
                <a:spcPts val="0"/>
              </a:spcBef>
              <a:buSzPct val="91999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Listado de cuentas</a:t>
            </a:r>
            <a:br>
              <a:rPr lang="es-EC" i="1" dirty="0"/>
            </a:br>
            <a:r>
              <a:rPr lang="es-EC" dirty="0"/>
              <a:t>Vista general de las cuentas asociadas a los clientes.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15" name="Google Shape;515;g3a5b9630aa3_8_3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07C6832-BD68-2FBC-945D-7F3DF5897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479" y="2662915"/>
            <a:ext cx="1711325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Registro de nueva cuenta</a:t>
            </a:r>
            <a:br>
              <a:rPr lang="es-EC" dirty="0"/>
            </a:br>
            <a:r>
              <a:rPr lang="es-EC" dirty="0"/>
              <a:t>Formulario para la creación de una cuenta de ahorro.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0D508B48-BBF1-BE96-E673-01017A556C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044" y="2936001"/>
            <a:ext cx="1560195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1018D1DB-A538-7EF6-37A7-8DFEA47A9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0184E154-AC24-DA30-7BE3-FE70B6257B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C62BAAFA-977B-33D5-F69F-3C7BA42A0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Edición de cuenta</a:t>
            </a:r>
            <a:br>
              <a:rPr lang="es-EC" i="1" dirty="0"/>
            </a:br>
            <a:r>
              <a:rPr lang="es-EC" dirty="0"/>
              <a:t>Pantalla para actualizar la información de una cuenta existente.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>
            <a:extLst>
              <a:ext uri="{FF2B5EF4-FFF2-40B4-BE49-F238E27FC236}">
                <a16:creationId xmlns:a16="http://schemas.microsoft.com/office/drawing/2014/main" id="{16F8AFF0-4B8E-926A-A507-7F9D5B37F2F1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6C222128-442D-B2A3-6E8F-4A5A616A60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044" y="2893139"/>
            <a:ext cx="1560195" cy="3086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73715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F975C3AF-599E-5C00-A981-E759A955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FFA02C9B-A2C8-9315-55DC-B4737A963D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F797792F-B05D-61E4-A4FE-3C41AF5DCB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Cancelación de cuenta</a:t>
            </a:r>
            <a:br>
              <a:rPr lang="es-EC" i="1" dirty="0"/>
            </a:br>
            <a:r>
              <a:rPr lang="es-EC" dirty="0"/>
              <a:t>Interfaz para cancelar o desactivar una cuenta bancaria.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>
            <a:extLst>
              <a:ext uri="{FF2B5EF4-FFF2-40B4-BE49-F238E27FC236}">
                <a16:creationId xmlns:a16="http://schemas.microsoft.com/office/drawing/2014/main" id="{286DA31C-1D6A-BF64-9E32-8EE8AAB6726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5C8D802-D7DC-7C60-8632-CC2ED80AE7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279" y="3050059"/>
            <a:ext cx="1609725" cy="3105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59407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AAF855BF-4977-5F99-9BBF-D7C5722C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F773C838-AA52-82F6-4C7E-EB5FFBBBCF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F836A0F3-721C-FCD5-87F6-A5249707D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Realizar depósito</a:t>
            </a:r>
            <a:br>
              <a:rPr lang="es-EC" i="1" dirty="0"/>
            </a:br>
            <a:r>
              <a:rPr lang="es-EC" dirty="0"/>
              <a:t>Pantalla para ejecutar depósitos desde el cliente móvil.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>
            <a:extLst>
              <a:ext uri="{FF2B5EF4-FFF2-40B4-BE49-F238E27FC236}">
                <a16:creationId xmlns:a16="http://schemas.microsoft.com/office/drawing/2014/main" id="{79D8890A-92B3-4309-C8EB-24C9D98B1877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2D2D0696-2A3D-A8D8-3A1E-F0756A519D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704" y="2979574"/>
            <a:ext cx="1666875" cy="31762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832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60F43025-C0B3-C5CA-9C35-39BB1A71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0284499A-63B3-6DBC-64A9-B39BAD4D44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383E21AF-6714-1F43-8B36-BBFA4E265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Realizar retiro</a:t>
            </a:r>
            <a:br>
              <a:rPr lang="es-EC" dirty="0"/>
            </a:br>
            <a:r>
              <a:rPr lang="es-EC" dirty="0"/>
              <a:t>Interfaz para la ejecución de retiros con validaciones automáticas.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>
            <a:extLst>
              <a:ext uri="{FF2B5EF4-FFF2-40B4-BE49-F238E27FC236}">
                <a16:creationId xmlns:a16="http://schemas.microsoft.com/office/drawing/2014/main" id="{6A625A54-BA62-2A10-D047-1BBC369FC985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B2EFE7AC-8B39-5900-9730-30002C19A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159" y="2707401"/>
            <a:ext cx="1751965" cy="345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139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EF040EC9-9A45-68C6-305E-4E1C60B1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0184C4A8-6CA0-69A5-5095-8750B422DC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DD2E651A-9378-AE66-4049-88E9B53A3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Realizar transferencia</a:t>
            </a:r>
            <a:br>
              <a:rPr lang="es-EC" i="1" dirty="0"/>
            </a:br>
            <a:r>
              <a:rPr lang="es-EC" dirty="0"/>
              <a:t>Pantalla para transferencias entre cuentas.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>
            <a:extLst>
              <a:ext uri="{FF2B5EF4-FFF2-40B4-BE49-F238E27FC236}">
                <a16:creationId xmlns:a16="http://schemas.microsoft.com/office/drawing/2014/main" id="{81277D0B-F1D8-DB0F-9B1F-820695329BF3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B559D59-F4F2-AA98-99C5-DE4CAEF041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179" y="2846224"/>
            <a:ext cx="1685925" cy="3309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5352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C212AFFE-F0FA-9F10-9C95-97D916A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DBAE8C40-F8F5-85E8-D51D-411C48B637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30627908-CACF-F41D-0F26-4226CFE9E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Bloqueo de movimientos</a:t>
            </a:r>
            <a:br>
              <a:rPr lang="es-EC" i="1" dirty="0"/>
            </a:br>
            <a:r>
              <a:rPr lang="es-EC" dirty="0"/>
              <a:t>Vista que indica la restricción de operaciones debido al estado de la cuenta.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>
            <a:extLst>
              <a:ext uri="{FF2B5EF4-FFF2-40B4-BE49-F238E27FC236}">
                <a16:creationId xmlns:a16="http://schemas.microsoft.com/office/drawing/2014/main" id="{A0116935-9DA9-5A92-916F-F136DC1DE92C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BDDF45E-DBD7-7144-911D-F5795FAAE0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704" y="2999894"/>
            <a:ext cx="1666875" cy="3155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44553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E197E27F-2D2D-8B0D-E049-41CBD1502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A505E115-2036-DA1B-E149-043D812071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98A8FB4C-72A6-5F5C-91AD-69CDC028C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Monitor de cuentas</a:t>
            </a:r>
            <a:br>
              <a:rPr lang="es-EC" i="1" dirty="0"/>
            </a:br>
            <a:r>
              <a:rPr lang="es-EC" dirty="0"/>
              <a:t>Pantalla de monitoreo del estado de las cuentas en tiempo real..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>
            <a:extLst>
              <a:ext uri="{FF2B5EF4-FFF2-40B4-BE49-F238E27FC236}">
                <a16:creationId xmlns:a16="http://schemas.microsoft.com/office/drawing/2014/main" id="{3023B4EE-868F-9671-69C2-C83370F51CCF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B8EC4BD4-398A-FD44-4E0B-89DD4EBC9C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679" y="3159204"/>
            <a:ext cx="1304925" cy="2553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10894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13489F84-19DF-B69F-9C01-3F4FABED9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5b9630aa3_8_367">
            <a:extLst>
              <a:ext uri="{FF2B5EF4-FFF2-40B4-BE49-F238E27FC236}">
                <a16:creationId xmlns:a16="http://schemas.microsoft.com/office/drawing/2014/main" id="{F462B0F7-50B7-8742-7A76-128D4A1E3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22" name="Google Shape;522;g3a5b9630aa3_8_367">
            <a:extLst>
              <a:ext uri="{FF2B5EF4-FFF2-40B4-BE49-F238E27FC236}">
                <a16:creationId xmlns:a16="http://schemas.microsoft.com/office/drawing/2014/main" id="{35CFACC3-7667-D8C5-05D6-1A583C691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06000" lvl="0" indent="-306000" algn="just">
              <a:lnSpc>
                <a:spcPct val="107000"/>
              </a:lnSpc>
              <a:spcBef>
                <a:spcPts val="0"/>
              </a:spcBef>
              <a:buSzPts val="1840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Capturas del Sistema Móvil: Cliente Móvil - </a:t>
            </a:r>
            <a:r>
              <a:rPr lang="es-EC" i="1" dirty="0"/>
              <a:t>Historial de movimientos</a:t>
            </a:r>
            <a:br>
              <a:rPr lang="es-EC" dirty="0"/>
            </a:br>
            <a:r>
              <a:rPr lang="es-EC" dirty="0"/>
              <a:t>Consulta del historial de movimientos financieros de una cuenta desde el dispositivo móvil.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23" name="Google Shape;523;g3a5b9630aa3_8_367">
            <a:extLst>
              <a:ext uri="{FF2B5EF4-FFF2-40B4-BE49-F238E27FC236}">
                <a16:creationId xmlns:a16="http://schemas.microsoft.com/office/drawing/2014/main" id="{58139D13-BB7A-F998-F303-C3CAEA5868BA}"/>
              </a:ext>
            </a:extLst>
          </p:cNvPr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  <a:endParaRPr lang="es-ES" sz="1200" b="1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34B6F72-063C-A3B3-0581-40DA74E5D7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241" y="2865019"/>
            <a:ext cx="1717759" cy="34355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41663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30" name="Google Shape;530;p68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Arquitectura de Software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31" name="Google Shape;531;p6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7C271557-312B-8FA2-3259-55BA07449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319" y="2381277"/>
            <a:ext cx="3867717" cy="410983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38" name="Google Shape;538;p69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de Casos de Uso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39" name="Google Shape;539;p6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40" name="Google Shape;54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13" y="2494355"/>
            <a:ext cx="7679755" cy="413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a5b9630aa3_8_4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46" name="Google Shape;546;g3a5b9630aa3_8_476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de Casos de Uso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47" name="Google Shape;547;g3a5b9630aa3_8_47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48" name="Google Shape;548;g3a5b9630aa3_8_4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175" y="2474387"/>
            <a:ext cx="3455010" cy="413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DESARROLLO</a:t>
            </a:r>
            <a:endParaRPr dirty="0"/>
          </a:p>
        </p:txBody>
      </p:sp>
      <p:sp>
        <p:nvSpPr>
          <p:cNvPr id="554" name="Google Shape;554;p70"/>
          <p:cNvSpPr txBox="1">
            <a:spLocks noGrp="1"/>
          </p:cNvSpPr>
          <p:nvPr>
            <p:ph type="body" idx="1"/>
          </p:nvPr>
        </p:nvSpPr>
        <p:spPr>
          <a:xfrm>
            <a:off x="581192" y="1911212"/>
            <a:ext cx="8451972" cy="51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40"/>
              <a:buFont typeface="Cambria"/>
              <a:buChar char="∙"/>
            </a:pPr>
            <a:r>
              <a:rPr lang="es-ES" sz="2000" dirty="0">
                <a:ea typeface="Cambria"/>
                <a:cs typeface="Arial" panose="020B0604020202020204" pitchFamily="34" charset="0"/>
                <a:sym typeface="Cambria"/>
              </a:rPr>
              <a:t>Diagrama de Diagrama Eureka Bank</a:t>
            </a:r>
            <a:endParaRPr sz="2000"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  <p:pic>
        <p:nvPicPr>
          <p:cNvPr id="556" name="Google Shape;55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863" y="2617050"/>
            <a:ext cx="6514650" cy="40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CONCLUSIONES</a:t>
            </a:r>
            <a:endParaRPr dirty="0"/>
          </a:p>
        </p:txBody>
      </p:sp>
      <p:sp>
        <p:nvSpPr>
          <p:cNvPr id="562" name="Google Shape;562;p7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Se implementó exitosamente un sistema bancario completo basado en servicios web SOAP, demostrando la viabilidad y beneficios de la Arquitectura Orientada a Servicios (SOA) para aplicaciones empresariales complejas.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La separación de responsabilidades en tres capas (Presentación, Lógica de Negocio y Datos) facilitó el desarrollo paralelo, el mantenimiento y las pruebas independientes de cada componente.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El uso de patrones de diseño como DAO, DTO y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Service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Layer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mejoró significativamente la calidad del código, facilitando su comprensión, mantenimiento y extensibilidad futura.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-317982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La implementación de cuatro tipos de clientes diferentes (Consola, Escritorio, Web y Móvil) desde una única API de servicios web SOAP demostró la interoperabilidad y reutilización efectiva de la lógica de negocio.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306000" lvl="0" indent="-290226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SzPct val="91999"/>
              <a:buFont typeface="Cambria"/>
              <a:buChar char="∙"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63" name="Google Shape;563;p71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RECOMENDACIONES</a:t>
            </a:r>
            <a:endParaRPr dirty="0"/>
          </a:p>
        </p:txBody>
      </p:sp>
      <p:sp>
        <p:nvSpPr>
          <p:cNvPr id="569" name="Google Shape;569;p72"/>
          <p:cNvSpPr txBox="1">
            <a:spLocks noGrp="1"/>
          </p:cNvSpPr>
          <p:nvPr>
            <p:ph type="body" idx="1"/>
          </p:nvPr>
        </p:nvSpPr>
        <p:spPr>
          <a:xfrm>
            <a:off x="581206" y="2440053"/>
            <a:ext cx="8500800" cy="24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Implementar medidas de seguridad adicionales como autenticación de dos factores (2FA) y encriptación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end-to-end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proteger la información financiera sensible de los clientes y garantizar transacciones seguras en el sistema bancario.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Migrar gradualmente de SOAP a arquitecturas REST o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GraphQL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aprovechar las ventajas de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APIs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más ligeras y modernas, manteniendo compatibilidad con sistemas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legacy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mediante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gateways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Implementar un sistema de notificaciones en tiempo real que alerte a los clientes sobre movimientos bancarios, saldos bajos y operaciones sospechosas, mejorando la experiencia de usuario y la seguridad.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• Añadir pruebas automatizadas unitarias e integración continua (CI/CD) para garantizar la calidad del código y facilitar el despliegue de nuevas funcionalidades sin interrumpir el servicio.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70" name="Google Shape;570;p72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 dirty="0"/>
              <a:t>BIBLIOGRAFÍA</a:t>
            </a:r>
            <a:endParaRPr dirty="0"/>
          </a:p>
        </p:txBody>
      </p:sp>
      <p:sp>
        <p:nvSpPr>
          <p:cNvPr id="576" name="Google Shape;576;p73"/>
          <p:cNvSpPr txBox="1">
            <a:spLocks noGrp="1"/>
          </p:cNvSpPr>
          <p:nvPr>
            <p:ph type="body" idx="1"/>
          </p:nvPr>
        </p:nvSpPr>
        <p:spPr>
          <a:xfrm>
            <a:off x="581200" y="2180501"/>
            <a:ext cx="8571600" cy="4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[1]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Microsoft .NET Framework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https://docs.microsoft.com/en-us/dotnet/framework/ Documentación oficial de .NET Framework 4.8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sz="1800" dirty="0">
                <a:ea typeface="Cambria"/>
                <a:cs typeface="Arial" panose="020B0604020202020204" pitchFamily="34" charset="0"/>
                <a:sym typeface="Cambria"/>
              </a:rPr>
              <a:t>[2]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Windows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Communication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Foundation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(WCF)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https://docs.microsoft.com/en-us/dotnet/framework/wcf/ Especificación y guías de WCF para servicios SOAP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[3] ASP.NET Web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Services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https://docs.microsoft.com/en-us/aspnet/web-forms/ Documentación de ASP.NET Web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Forms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y servicios web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[4] JPA/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https://docs.microsoft.com/en-us/ef/ Documentación oficial de JPA/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Hibernate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para acceso a datos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endParaRPr dirty="0">
              <a:ea typeface="Cambria"/>
              <a:cs typeface="Arial" panose="020B0604020202020204" pitchFamily="34" charset="0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9459"/>
              <a:buNone/>
            </a:pP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[5] SQL Server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LocalDB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Documentation</a:t>
            </a:r>
            <a:r>
              <a:rPr lang="es-ES" dirty="0">
                <a:ea typeface="Cambria"/>
                <a:cs typeface="Arial" panose="020B0604020202020204" pitchFamily="34" charset="0"/>
                <a:sym typeface="Cambria"/>
              </a:rPr>
              <a:t>. https://docs.microsoft.com/en-us/sql/database-engine/configure-windows/sql-server-express-localdb Documentación de SQL Server Express </a:t>
            </a:r>
            <a:r>
              <a:rPr lang="es-ES" dirty="0" err="1">
                <a:ea typeface="Cambria"/>
                <a:cs typeface="Arial" panose="020B0604020202020204" pitchFamily="34" charset="0"/>
                <a:sym typeface="Cambria"/>
              </a:rPr>
              <a:t>LocalDB</a:t>
            </a:r>
            <a:endParaRPr dirty="0">
              <a:ea typeface="Cambria"/>
              <a:cs typeface="Arial" panose="020B0604020202020204" pitchFamily="34" charset="0"/>
              <a:sym typeface="Cambria"/>
            </a:endParaRPr>
          </a:p>
        </p:txBody>
      </p:sp>
      <p:sp>
        <p:nvSpPr>
          <p:cNvPr id="577" name="Google Shape;577;p73"/>
          <p:cNvSpPr/>
          <p:nvPr/>
        </p:nvSpPr>
        <p:spPr>
          <a:xfrm>
            <a:off x="9377946" y="-5751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05435" marR="0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MARCO TEÓRICO</a:t>
            </a:r>
            <a:endParaRPr sz="18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DESARROLLO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OBJETIVO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MODELO CONCEPTUAL DE LA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CREAR BASE DE DATOS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SERVIDOR SOAP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WEB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CREACIÓN DEL PROYECTO – CLIENTE MÓVIL</a:t>
            </a:r>
          </a:p>
          <a:p>
            <a:pPr marL="762635" lvl="1" indent="-305435">
              <a:spcBef>
                <a:spcPts val="840"/>
              </a:spcBef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dirty="0">
                <a:solidFill>
                  <a:schemeClr val="lt1"/>
                </a:solidFill>
              </a:rPr>
              <a:t>CREACION DEL PROYECTO – CLIENTE BPM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762635" marR="0" lvl="1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DIAGRAMAS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CONCLUSIONES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RECOMENDACIONES</a:t>
            </a:r>
            <a:endParaRPr sz="12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  <a:p>
            <a:pPr marL="305435" marR="0" lvl="0" indent="-305435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 dirty="0">
                <a:solidFill>
                  <a:srgbClr val="FFFF00"/>
                </a:solidFill>
                <a:latin typeface="Arial" panose="020B0604020202020204" pitchFamily="34" charset="0"/>
                <a:ea typeface="Cambria" panose="02040503050406030204" pitchFamily="18" charset="0"/>
                <a:cs typeface="Gill Sans"/>
                <a:sym typeface="Gill Sans"/>
              </a:rPr>
              <a:t>BIBLIOGRAFÍA</a:t>
            </a:r>
            <a:endParaRPr sz="1200" b="1" i="0" u="none" strike="noStrike" cap="none" dirty="0">
              <a:solidFill>
                <a:srgbClr val="FFFF00"/>
              </a:solidFill>
              <a:latin typeface="Arial" panose="020B0604020202020204" pitchFamily="34" charset="0"/>
              <a:ea typeface="Cambria" panose="02040503050406030204" pitchFamily="18" charset="0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4342</Words>
  <Application>Microsoft Office PowerPoint</Application>
  <PresentationFormat>Panorámica</PresentationFormat>
  <Paragraphs>985</Paragraphs>
  <Slides>59</Slides>
  <Notes>59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59</vt:i4>
      </vt:variant>
    </vt:vector>
  </HeadingPairs>
  <TitlesOfParts>
    <vt:vector size="64" baseType="lpstr">
      <vt:lpstr>Arial</vt:lpstr>
      <vt:lpstr>Cambria</vt:lpstr>
      <vt:lpstr>Gill Sans</vt:lpstr>
      <vt:lpstr>Noto Sans Symbols</vt:lpstr>
      <vt:lpstr>Dividendo</vt:lpstr>
      <vt:lpstr>SISTEMA BANCARIO EUREKA BANK CON MASHUP SOAP JAVA Y BASE DE DATOS EN LA NUBE</vt:lpstr>
      <vt:lpstr>Presentación de PowerPoint</vt:lpstr>
      <vt:lpstr>MARCO TEÓRICO</vt:lpstr>
      <vt:lpstr>MARCO TEÓRICO</vt:lpstr>
      <vt:lpstr>MARCO TEÓRICO</vt:lpstr>
      <vt:lpstr>MARCO TEÓRICO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Villarruel</dc:creator>
  <cp:lastModifiedBy>Javier Gonzaga</cp:lastModifiedBy>
  <cp:revision>11</cp:revision>
  <dcterms:created xsi:type="dcterms:W3CDTF">2020-08-13T07:15:02Z</dcterms:created>
  <dcterms:modified xsi:type="dcterms:W3CDTF">2026-02-03T03:17:26Z</dcterms:modified>
</cp:coreProperties>
</file>