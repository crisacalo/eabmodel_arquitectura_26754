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07" r:id="rId83"/>
    <p:sldId id="308" r:id="rId84"/>
    <p:sldId id="309" r:id="rId85"/>
    <p:sldId id="310" r:id="rId86"/>
    <p:sldId id="311" r:id="rId87"/>
    <p:sldId id="312" r:id="rId88"/>
    <p:sldId id="313" r:id="rId8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iWLgu9kzzWIDXIuR7isTEOiZa2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5b9630aa3_8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5b9630aa3_8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5b9630aa3_7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a5b9630aa3_7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b9630aa3_7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a5b9630aa3_7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b9630aa3_8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a5b9630aa3_8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" name="Google Shape;2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" name="Google Shape;2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" name="Google Shape;2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5b9630aa3_8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g3a5b9630aa3_8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5b9630aa3_8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0" name="Google Shape;290;g3a5b9630aa3_8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5b9630aa3_8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5b9630aa3_8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5b9630aa3_8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5b9630aa3_8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7" name="Google Shape;3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6" name="Google Shape;32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6" name="Google Shape;33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5" name="Google Shape;34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4" name="Google Shape;35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5b9630aa3_8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3" name="Google Shape;363;g3a5b9630aa3_8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5b9630aa3_8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1" name="Google Shape;371;g3a5b9630aa3_8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5b9630aa3_8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0" name="Google Shape;380;g3a5b9630aa3_8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5b9630aa3_8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9" name="Google Shape;389;g3a5b9630aa3_8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5b9630aa3_8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a5b9630aa3_8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7" name="Google Shape;40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5" name="Google Shape;41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5b9630aa3_8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3" name="Google Shape;423;g3a5b9630aa3_8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5b9630aa3_8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1" name="Google Shape;431;g3a5b9630aa3_8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5b9630aa3_8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9" name="Google Shape;439;g3a5b9630aa3_8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3" name="Google Shape;46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1" name="Google Shape;47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5b9630aa3_8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9" name="Google Shape;479;g3a5b9630aa3_8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5b9630aa3_8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7" name="Google Shape;487;g3a5b9630aa3_8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5b9630aa3_8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5" name="Google Shape;495;g3a5b9630aa3_8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5b9630aa3_8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3" name="Google Shape;503;g3a5b9630aa3_8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5b9630aa3_8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1" name="Google Shape;511;g3a5b9630aa3_8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CE1E0648-F34B-92D5-6E46-9AF01A53A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5DBA4682-468B-0A2D-837C-583EE2D4C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52CDB028-4CD1-447A-C7C8-2C8B910419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26351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20D1CFD9-D414-4B76-C2AE-B8CF651E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372AFA5E-AAA9-41B3-62F4-9C3FCD079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53E2C80D-55E2-0C50-241D-E9A8D112A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68621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487B848F-E5F1-2A3D-188B-E18B1BA09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619A6E2C-F58D-AD6E-67C1-3496B0ECA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9F2154B1-8A54-4A62-C7A3-95BA824C9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00702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247E6433-D71B-F625-B438-71682AF5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8DA9B822-3F7D-D21C-613E-1759EBF16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B38B8FDB-B720-8A31-08EB-0312E59E1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1834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34540C24-5D48-32FA-E53C-32D09FCE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3FA41143-FAD5-AA21-5525-24EA05EE45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B0FC048F-1457-9E48-FE6A-1295D664F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435677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E9431D28-10EA-0CAB-B1A6-00D09C40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20B1FC05-06EC-FD54-DB48-49ABBD89C4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FA32671B-E031-AFF3-25E0-92C34A7B8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46570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C1C00875-A642-4463-CE59-E7D3F6BE1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DA449902-5C2F-68CE-2458-4F14E9E0F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2664E40C-A98D-652F-BE69-6750ACC3D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04325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88C1CEF3-AFFE-12FD-5A92-E633D89E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00764CCA-A434-1B62-1A0A-56D854F13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4FED2BA5-E62D-4BC1-031F-BF8F5A1AB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376045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A5FCA502-5826-5872-AD5C-45D64B2A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AC9F4BBC-A4CC-B349-05AA-0564A049C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5756962A-427A-2AC6-FD02-9F47F68C7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110577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CEDA17E0-0B14-E61D-4BA0-1BDFC7D6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2E2C08F4-3D3A-B4BE-0173-AE4F74B67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08969DAB-A008-04E0-FB19-E48A560FC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250902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9C482C94-9B15-7311-7D4F-4A83EEA1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02BF5E18-911B-21BB-FBAB-3C52CC881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9CEEDAAE-BAFA-2CC8-91BC-DF05C26C3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83448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0B1E92E9-54B7-FA5C-5355-486C9AC3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CDC22FD7-F372-A956-3896-D8E8A7F0D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D3D067B6-FC9A-0762-F253-F875A2164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147707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E87611D9-3EA9-0DE2-C706-CF6DCC689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14012D20-440D-D240-DAF6-4D7C8C534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4254FB35-361B-BE86-47E9-C450091DB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053779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37413A66-2C04-5851-CD9C-B07E4336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F94FACB9-F9A3-D40E-949A-7E125AE2F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9D9889C1-75BC-BB0D-03A2-64C503A85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445561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AA6A5886-F65C-24CA-8DE9-6D4AEB53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9DB52865-DE45-1311-E34E-0298DDF9B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79D011D5-61AB-60C4-CC30-CE45F37F1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517990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EAB2B4B0-F499-8591-6A1C-DDEFE131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5859159B-39A7-0F77-3831-C0D4EA931E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9D7E2739-7989-CFEC-5015-6ACC17E7A4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217789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B91E8021-EE6C-5726-B139-EFE31AB0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5F5F23A4-7173-B8EC-5570-D9CAE98C6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F27F2B52-DF1D-60C0-27F6-0C64D6DA9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783078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708CFB47-DFA1-EEE6-3782-799929EA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31C3F467-A236-7418-FD19-BB64B6D42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F7CA8461-CECC-B986-7524-9B99BB428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50880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AAB59D76-74A5-F5B0-E03A-78A5C983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6E6A6DBA-D31A-CE18-3A01-953374B7F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A814814E-8230-9F9C-6436-BCD442404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919929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E7481112-7FEE-D927-5146-D98B455F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FEDAF493-82AC-99EC-8232-F05C01186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05AD3994-8A4A-901D-4124-4E4EB380CA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585417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46BE4209-1F09-DF2B-FFF1-28587F46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208B2AF7-1024-5494-92FB-32671A0C2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7F6D6339-7CD5-D9BA-23A5-2B8BDB9D9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19995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2886B54B-9361-10DB-F335-808BFFC7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C1CBC509-E161-60E5-49C5-C7D21FC12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CBE78DE5-5E3C-EC9C-C6FF-78BBB1AAA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641974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F8F04B1A-665F-7506-225F-1DD97E41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DBB6B4D1-6655-87BA-CD70-1C191289E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0852570A-E978-D4C6-49CB-ADD103F5F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981790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D2B9A825-983C-9F97-3EB9-F911E778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36DCF166-73DF-AF4C-EFC0-A3B7699299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E92DE9E8-9467-9A3A-3E12-552DE293F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586148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6AC2621F-0299-40CB-B162-DF933F86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8F761AA7-B8EC-6409-2C28-C0EFED5F9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E3D73A3B-5A70-C03A-7D5C-2BD473D79E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091866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D1C262A6-0F3E-CF38-CA1B-0AF63806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1B751ED9-CDC6-19B4-35C9-74F0EA50D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460704A8-7FF2-80CC-476C-DC2D79D62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103406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28743D74-27B4-69F7-0378-B26B8F10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16A876A7-43BB-B3BF-B743-BFB874204B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4EBB9C48-5FA3-E076-4A71-96353F9CC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0609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F987D0C5-4C07-835D-CC5A-610DA31C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4B46B4BD-B608-E437-4140-94BBC79EC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BE2816F8-6603-62BB-DD11-DD0292348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647482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67871280-FB2B-1868-CAD6-EA99D8BD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A81D7CDD-9501-BA5F-5ECB-9D8DC80EB6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9B87A617-56F0-0CAC-917A-5F6ACAF08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967830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B38FC8C3-9381-7FD7-DE8E-89185EF2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>
            <a:extLst>
              <a:ext uri="{FF2B5EF4-FFF2-40B4-BE49-F238E27FC236}">
                <a16:creationId xmlns:a16="http://schemas.microsoft.com/office/drawing/2014/main" id="{1F1691B3-34DC-7691-2DBC-A1F35A613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>
            <a:extLst>
              <a:ext uri="{FF2B5EF4-FFF2-40B4-BE49-F238E27FC236}">
                <a16:creationId xmlns:a16="http://schemas.microsoft.com/office/drawing/2014/main" id="{10756BA2-7FAC-9ACE-0EBF-D96495DCC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502801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7" name="Google Shape;52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5" name="Google Shape;53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5b9630aa3_8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3" name="Google Shape;543;g3a5b9630aa3_8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1" name="Google Shape;55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9" name="Google Shape;55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3" name="Google Shape;57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8" name="Google Shape;18;p7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19" name="Google Shape;19;p7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0" name="Google Shape;20;p7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7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25" name="Google Shape;25;p7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6" name="Google Shape;26;p7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7" name="Google Shape;27;p7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7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33" name="Google Shape;33;p7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34" name="Google Shape;34;p7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7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39" name="Google Shape;39;p7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40" name="Google Shape;40;p7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41" name="Google Shape;41;p7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42" name="Google Shape;42;p7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7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7" name="Google Shape;47;p7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48" name="Google Shape;48;p7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9" name="Google Shape;49;p7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50" name="Google Shape;50;p7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1" name="Google Shape;51;p7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2" name="Google Shape;52;p7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5" name="Google Shape;55;p8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6" name="Google Shape;56;p8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57" name="Google Shape;57;p8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1" name="Google Shape;61;p8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2" name="Google Shape;62;p8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8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67" name="Google Shape;67;p8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 dirty="0"/>
          </a:p>
        </p:txBody>
      </p:sp>
      <p:sp>
        <p:nvSpPr>
          <p:cNvPr id="68" name="Google Shape;68;p8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9" name="Google Shape;69;p8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0" name="Google Shape;70;p8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8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 dirty="0"/>
          </a:p>
        </p:txBody>
      </p:sp>
      <p:sp>
        <p:nvSpPr>
          <p:cNvPr id="75" name="Google Shape;75;p8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6" name="Google Shape;76;p8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7" name="Google Shape;77;p8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8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82" name="Google Shape;82;p8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83" name="Google Shape;83;p8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84" name="Google Shape;84;p8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8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89" name="Google Shape;89;p8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90" name="Google Shape;90;p8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91" name="Google Shape;91;p8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7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dirty="0"/>
          </a:p>
        </p:txBody>
      </p:sp>
      <p:sp>
        <p:nvSpPr>
          <p:cNvPr id="8" name="Google Shape;8;p7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s-EC" dirty="0"/>
          </a:p>
        </p:txBody>
      </p:sp>
      <p:sp>
        <p:nvSpPr>
          <p:cNvPr id="9" name="Google Shape;9;p7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s-EC" dirty="0"/>
          </a:p>
        </p:txBody>
      </p:sp>
      <p:sp>
        <p:nvSpPr>
          <p:cNvPr id="10" name="Google Shape;10;p7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1" name="Google Shape;11;p7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7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52600" y="3192998"/>
            <a:ext cx="10993500" cy="13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dirty="0">
                <a:solidFill>
                  <a:schemeClr val="lt1"/>
                </a:solidFill>
              </a:rPr>
              <a:t>SISTEMA BANCARIO EUREKA BANK CON SOAP JAVA Y BASE DE DATOS EN LA NUBE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1355001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Cristian </a:t>
            </a:r>
            <a:r>
              <a:rPr lang="es-ES" b="1" dirty="0" err="1">
                <a:solidFill>
                  <a:schemeClr val="lt1"/>
                </a:solidFill>
              </a:rPr>
              <a:t>Jose</a:t>
            </a:r>
            <a:r>
              <a:rPr lang="es-ES" b="1" dirty="0">
                <a:solidFill>
                  <a:schemeClr val="lt1"/>
                </a:solidFill>
              </a:rPr>
              <a:t> </a:t>
            </a:r>
            <a:r>
              <a:rPr lang="es-ES" b="1" dirty="0" err="1">
                <a:solidFill>
                  <a:schemeClr val="lt1"/>
                </a:solidFill>
              </a:rPr>
              <a:t>Acalo</a:t>
            </a:r>
            <a:r>
              <a:rPr lang="es-ES" b="1" dirty="0">
                <a:solidFill>
                  <a:schemeClr val="lt1"/>
                </a:solidFill>
              </a:rPr>
              <a:t> Cruz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Javier </a:t>
            </a:r>
            <a:r>
              <a:rPr lang="es-ES" b="1" dirty="0" err="1">
                <a:solidFill>
                  <a:schemeClr val="lt1"/>
                </a:solidFill>
              </a:rPr>
              <a:t>Cristobal</a:t>
            </a:r>
            <a:r>
              <a:rPr lang="es-ES" b="1" dirty="0">
                <a:solidFill>
                  <a:schemeClr val="lt1"/>
                </a:solidFill>
              </a:rPr>
              <a:t> Gonzaga Peñafiel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Jefferson Leonardo Obando Carlosama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6909663" y="4572001"/>
            <a:ext cx="42615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FECHA: 26/01/2026</a:t>
            </a: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ING: MAURICIO CAMPAÑA</a:t>
            </a: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601252" y="716872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29870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MARCO TEÓRICO</a:t>
            </a:r>
            <a:endParaRPr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DESARROLLO</a:t>
            </a:r>
            <a:endParaRPr sz="1200" b="1" dirty="0">
              <a:solidFill>
                <a:schemeClr val="lt1"/>
              </a:solidFill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OBJETIVO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MODELO CONCEPTUAL DE LA BASE DE DATOS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CREAR BASE DE DATOS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SERVIDOR SOAP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CONSOLA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ESCRITORIO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WEB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MÓVIL</a:t>
            </a: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CREACION DEL PROYECTO – CLIENTE BPM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DIAGRAMAS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CONCLUSIONES</a:t>
            </a:r>
            <a:endParaRPr sz="1200" b="1"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RECOMENDACIONES</a:t>
            </a:r>
            <a:endParaRPr sz="1200" b="1"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BIBLIOGRAFÍA</a:t>
            </a:r>
            <a:endParaRPr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79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5437"/>
          <a:stretch/>
        </p:blipFill>
        <p:spPr>
          <a:xfrm>
            <a:off x="4343750" y="1869813"/>
            <a:ext cx="7678700" cy="31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1.1 ARQUITECTURA ORIENTADA A SERVICIOS (SOAP)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La Arquitectura Orientada a Servicios es un paradigma de diseño que permite crear componentes de software modulares, reutilizables y desacoplados. En este proyecto, SOA facilita la integración entre el sistema de comercialización de electrodomésticos y el módulo de créditos de Eureka Bank mediante servicios SOAP.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Características principales: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Interoperabilidad entre sistemas heterogéneos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Reutilización de servicios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Acoplamiento débil entre componentes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Escalabilidad y mantenibilidad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b9630aa3_8_4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22" name="Google Shape;122;g3a5b9630aa3_8_470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1.2 SERVICIOS WEB 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 (Simple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Object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Access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Protocol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) es un protocolo de mensajería basado en XML que permite la comunicación entre aplicaciones a través de Internet. En este proyecto, SOAP se implementa mediante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Jakarta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EE (JAX-WS).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Ventajas de SOAP: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Estándares bien definidos (WSDL, XSD)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Seguridad robusta (WS-Security)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Transacciones distribuidas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Independencia de plataforma y lenguaje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23" name="Google Shape;123;g3a5b9630aa3_8_47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b9630aa3_7_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29" name="Google Shape;129;g3a5b9630aa3_7_7"/>
          <p:cNvSpPr txBox="1">
            <a:spLocks noGrp="1"/>
          </p:cNvSpPr>
          <p:nvPr>
            <p:ph type="body" idx="1"/>
          </p:nvPr>
        </p:nvSpPr>
        <p:spPr>
          <a:xfrm>
            <a:off x="581198" y="2180500"/>
            <a:ext cx="85908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1.3 TECNOLOGÍAS UTILIZADAS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El proyecto implementa un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stack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tecnológico robusto basado en el ecosistema Java: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Lenguaje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Backend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: Java 17 +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Jakarta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EE (JAX-WS)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Lenguaje Clientes: .NET Framework 4.8+ / .NET 6+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Servidor Web: Apache Tomcat 10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ORM: JPA /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Base de Datos: MySQL 8.0 (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Railway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Cloud)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IDE: IntelliJ IDEA / NetBeans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Build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Tool: Maven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Estas tecnologías garantizan un desarrollo eficiente, mantenible y escalable del sistema de integración bancaria.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" name="Google Shape;123;g3a5b9630aa3_8_470">
            <a:extLst>
              <a:ext uri="{FF2B5EF4-FFF2-40B4-BE49-F238E27FC236}">
                <a16:creationId xmlns:a16="http://schemas.microsoft.com/office/drawing/2014/main" id="{D93D0568-D939-DC28-FB00-31329E47EB7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5b9630aa3_7_1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36" name="Google Shape;136;g3a5b9630aa3_7_14"/>
          <p:cNvSpPr txBox="1">
            <a:spLocks noGrp="1"/>
          </p:cNvSpPr>
          <p:nvPr>
            <p:ph type="body" idx="1"/>
          </p:nvPr>
        </p:nvSpPr>
        <p:spPr>
          <a:xfrm>
            <a:off x="581198" y="2180500"/>
            <a:ext cx="85629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1.4 ARQUITECTURA EN CAPAS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El sistema se estructura en tres capas lógicas principales que garantizan la separación de responsabilidades: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Capa de Presentación: Compuesta por aplicaciones cliente (Consola, Escritorio, Web, Móvil) que interactúan con el usuario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Capa de Lógica de Negocio: Contiene los servicios web SOAP (Servicio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) que implementan las reglas de negocio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Capa de Acceso a Datos: Utiliza JPA/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la comunicación con las bases de datos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EurekaBank_db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Esta arquitectura facilita el mantenimiento,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testing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escalabilidad del sistema.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99459"/>
              <a:buNone/>
            </a:pPr>
            <a:endParaRPr dirty="0"/>
          </a:p>
        </p:txBody>
      </p:sp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271D3A8B-95EF-A695-7447-5AF150292A4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b9630aa3_8_46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43" name="Google Shape;143;g3a5b9630aa3_8_462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2.1    OBJETIVO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Desarrollar un sistema bancario integral basado en una Arquitectura Orientada a Servicios (SOAP) que implemente funcionalidades de gestión de cuentas, transacciones, depósitos, retiros y transferencias del Banco Eureka Bank, con el fin de automatizar y agilizar las operaciones bancarias mediante múltiples clientes multiplataforma.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AA00DDAA-0B94-1CF9-F84D-05EA10D5586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50" name="Google Shape;150;p4"/>
          <p:cNvSpPr txBox="1">
            <a:spLocks noGrp="1"/>
          </p:cNvSpPr>
          <p:nvPr>
            <p:ph type="body" idx="1"/>
          </p:nvPr>
        </p:nvSpPr>
        <p:spPr>
          <a:xfrm>
            <a:off x="581192" y="1971721"/>
            <a:ext cx="85893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2.2    MODELO CONCEPTUAL DE LA BASE DE DATOS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      A continuación, se presenta el modelo conceptual de la base de datos "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" desplegada en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Railway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(MySQL 8.0)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954" y="3016928"/>
            <a:ext cx="5819775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0EFA4C3C-0305-ACF8-A91E-584445968DD5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58" name="Google Shape;158;p5"/>
          <p:cNvSpPr txBox="1">
            <a:spLocks noGrp="1"/>
          </p:cNvSpPr>
          <p:nvPr>
            <p:ph type="body" idx="1"/>
          </p:nvPr>
        </p:nvSpPr>
        <p:spPr>
          <a:xfrm>
            <a:off x="595569" y="1849818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2.3	CREAR BASE DE DATOS</a:t>
            </a:r>
            <a:endParaRPr dirty="0"/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Al abrir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Railway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 se crean las bases de datos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EurekaBank_db</a:t>
            </a:r>
            <a:endParaRPr dirty="0"/>
          </a:p>
        </p:txBody>
      </p:sp>
      <p:sp>
        <p:nvSpPr>
          <p:cNvPr id="159" name="Google Shape;159;p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61" name="Google Shape;161;p5" descr="Una captura de pantalla de una computador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4565" t="14647" r="2824" b="7440"/>
          <a:stretch/>
        </p:blipFill>
        <p:spPr>
          <a:xfrm>
            <a:off x="1145975" y="3232200"/>
            <a:ext cx="6910199" cy="3270499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212F9417-34B9-B9C1-73ED-6759F0E6349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581192" y="1848998"/>
            <a:ext cx="8589441" cy="76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4.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Ahora para insertar datos deberemos usar nuestro script </a:t>
            </a:r>
            <a:r>
              <a:rPr lang="es-ES" sz="1800" dirty="0" err="1">
                <a:ea typeface="Cambria"/>
                <a:cs typeface="Arial" panose="020B0604020202020204" pitchFamily="34" charset="0"/>
                <a:sym typeface="Cambria"/>
              </a:rPr>
              <a:t>Carga_Datos.sql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, copiamos y PEGAMOS su contenido en la herramienta y verificamos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1763" y="2612175"/>
            <a:ext cx="2808299" cy="40871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7F848F4B-D7A8-5858-865E-7D769E1936F0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450550" y="1919250"/>
            <a:ext cx="87960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342900" marR="0" lvl="0" indent="-32712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Font typeface="Noto Sans Symbols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2.4	Creación del Servidor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8235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Para comenzar con la creación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del proyecto servidor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se procede a crear un nuevo proyecto en Visual Studio 2022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,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el proyecto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que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se deberá seleccionar es del tipo Aplicación ASP.NET Core Web API.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Font typeface="Noto Sans Symbols"/>
              <a:buNone/>
            </a:pP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2172" y="3136258"/>
            <a:ext cx="5052757" cy="3407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84" name="Google Shape;184;p9"/>
          <p:cNvSpPr txBox="1">
            <a:spLocks noGrp="1"/>
          </p:cNvSpPr>
          <p:nvPr>
            <p:ph type="body" idx="1"/>
          </p:nvPr>
        </p:nvSpPr>
        <p:spPr>
          <a:xfrm>
            <a:off x="390692" y="1962876"/>
            <a:ext cx="8589441" cy="60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	Luego ajustar las configuraciones del servidor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elegir proyecto vacío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87" name="Google Shape;187;p9" descr="Interfaz de usuario gráfica, Texto, Aplicación, Correo electrónic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5392" y="2819397"/>
            <a:ext cx="5400040" cy="370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581191" y="1905093"/>
            <a:ext cx="8589441" cy="52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3. Ahora se crea la estructura del proyecto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/>
          </a:p>
        </p:txBody>
      </p:sp>
      <p:sp>
        <p:nvSpPr>
          <p:cNvPr id="194" name="Google Shape;194;p1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96" name="Google Shape;196;p10" descr="Interfaz de usuario gráfica, Texto, Aplicación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288" y="2782728"/>
            <a:ext cx="7077248" cy="37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02" name="Google Shape;202;p11"/>
          <p:cNvSpPr txBox="1">
            <a:spLocks noGrp="1"/>
          </p:cNvSpPr>
          <p:nvPr>
            <p:ph type="body" idx="1"/>
          </p:nvPr>
        </p:nvSpPr>
        <p:spPr>
          <a:xfrm>
            <a:off x="581192" y="1962603"/>
            <a:ext cx="8589441" cy="56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4. Ahora se crea una clase para hacer Conexión a la BDD y se codifica su lógica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05" name="Google Shape;205;p11" descr="Interfaz de usuario gráfica, Texto, Aplicación, Correo electrónic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7663" y="2957196"/>
            <a:ext cx="6756501" cy="33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581192" y="1721974"/>
            <a:ext cx="8589441" cy="84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5. Ahora en la carpeta Servicio creamos la clase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CreditoService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CreditoValidatorService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manejar las funciones que se utilizarán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14" name="Google Shape;214;p13" descr="Interfaz de usuario gráfica, Texto, Aplicación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6860" y="2831125"/>
            <a:ext cx="5098099" cy="3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20" name="Google Shape;220;p15"/>
          <p:cNvSpPr txBox="1">
            <a:spLocks noGrp="1"/>
          </p:cNvSpPr>
          <p:nvPr>
            <p:ph type="body" idx="1"/>
          </p:nvPr>
        </p:nvSpPr>
        <p:spPr>
          <a:xfrm>
            <a:off x="580915" y="1952011"/>
            <a:ext cx="8531932" cy="60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7. Se procede a codificar la lógica para usar los métodos desarrollados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/>
          </a:p>
        </p:txBody>
      </p:sp>
      <p:sp>
        <p:nvSpPr>
          <p:cNvPr id="221" name="Google Shape;221;p1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875" y="2469499"/>
            <a:ext cx="3579525" cy="430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675" y="2469499"/>
            <a:ext cx="3684803" cy="430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29" name="Google Shape;229;p17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457200" lvl="0" indent="-294322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7.1    CLIENTE CONSOLA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294322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Cliente de línea de comandos desarrollado en Java que permite realizar operaciones bancarias mediante una interfaz de texto: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32" name="Google Shape;232;p17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1368" y="3285676"/>
            <a:ext cx="4529079" cy="2263556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38" name="Google Shape;238;p18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Se crea un cliente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consola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 Tomar en cuenta que el proyecto servidor debe estar desplegado,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y configurar las rutas del aplicativo.</a:t>
            </a:r>
            <a:endParaRPr dirty="0"/>
          </a:p>
        </p:txBody>
      </p:sp>
      <p:sp>
        <p:nvSpPr>
          <p:cNvPr id="239" name="Google Shape;239;p1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41" name="Google Shape;241;p18" descr="Interfaz de usuario gráfica, Texto, Aplicación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1292" y="3229272"/>
            <a:ext cx="5449248" cy="3017708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47" name="Google Shape;247;p19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 Se crea la estructura del proyecto consola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50" name="Google Shape;25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6716" y="2786503"/>
            <a:ext cx="4138400" cy="3717300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56" name="Google Shape;256;p20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3. Se procede a implementar los modelos necesario para llevar a cabo las acciones en el paquete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Models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59" name="Google Shape;259;p20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199" y="2786500"/>
            <a:ext cx="4070050" cy="3678975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60" name="Google Shape;260;p20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0587" y="3190826"/>
            <a:ext cx="4070049" cy="2870328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66" name="Google Shape;266;p22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4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Se procede a implementar el modelo necesario para llevar a cabo las acciones, esto en una clase Eureka. 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69" name="Google Shape;269;p22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451" y="2786498"/>
            <a:ext cx="3745824" cy="3876575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75" name="Google Shape;275;p28"/>
          <p:cNvSpPr txBox="1">
            <a:spLocks noGrp="1"/>
          </p:cNvSpPr>
          <p:nvPr>
            <p:ph type="body" idx="1"/>
          </p:nvPr>
        </p:nvSpPr>
        <p:spPr>
          <a:xfrm>
            <a:off x="581192" y="1897900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- Pantalla de Login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78" name="Google Shape;2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3575" y="2700250"/>
            <a:ext cx="3713750" cy="38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5b9630aa3_8_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84" name="Google Shape;284;g3a5b9630aa3_8_36"/>
          <p:cNvSpPr txBox="1">
            <a:spLocks noGrp="1"/>
          </p:cNvSpPr>
          <p:nvPr>
            <p:ph type="body" idx="1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- Menú Principal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85" name="Google Shape;285;g3a5b9630aa3_8_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86" name="Google Shape;286;g3a5b9630aa3_8_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87" name="Google Shape;287;g3a5b9630aa3_8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613" y="2718325"/>
            <a:ext cx="5171675" cy="391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5b9630aa3_8_4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93" name="Google Shape;293;g3a5b9630aa3_8_45"/>
          <p:cNvSpPr txBox="1">
            <a:spLocks noGrp="1"/>
          </p:cNvSpPr>
          <p:nvPr>
            <p:ph type="body" idx="1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- Realizar Depósito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94" name="Google Shape;294;g3a5b9630aa3_8_4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95" name="Google Shape;295;g3a5b9630aa3_8_4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96" name="Google Shape;296;g3a5b9630aa3_8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213" y="2525350"/>
            <a:ext cx="5330475" cy="40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5b9630aa3_8_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02" name="Google Shape;302;g3a5b9630aa3_8_54"/>
          <p:cNvSpPr txBox="1">
            <a:spLocks noGrp="1"/>
          </p:cNvSpPr>
          <p:nvPr>
            <p:ph type="body" idx="1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- Realizar Retiro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03" name="Google Shape;303;g3a5b9630aa3_8_5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04" name="Google Shape;304;g3a5b9630aa3_8_5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05" name="Google Shape;305;g3a5b9630aa3_8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725" y="2679450"/>
            <a:ext cx="5981450" cy="39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5b9630aa3_8_6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11" name="Google Shape;311;g3a5b9630aa3_8_63"/>
          <p:cNvSpPr txBox="1">
            <a:spLocks noGrp="1"/>
          </p:cNvSpPr>
          <p:nvPr>
            <p:ph type="body" idx="1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– Realizar Transferencia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12" name="Google Shape;312;g3a5b9630aa3_8_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13" name="Google Shape;313;g3a5b9630aa3_8_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14" name="Google Shape;314;g3a5b9630aa3_8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325" y="2362775"/>
            <a:ext cx="352425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20" name="Google Shape;320;p29"/>
          <p:cNvSpPr txBox="1">
            <a:spLocks noGrp="1"/>
          </p:cNvSpPr>
          <p:nvPr>
            <p:ph type="body" idx="1"/>
          </p:nvPr>
        </p:nvSpPr>
        <p:spPr>
          <a:xfrm>
            <a:off x="581192" y="1860969"/>
            <a:ext cx="8431632" cy="111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Creación de Cliente Escritorio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	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Crear nuevo proyecto del tipo Aplicación de Windows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Forms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  (.NET Framework).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23" name="Google Shape;32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0889" y="3120282"/>
            <a:ext cx="6552249" cy="3578481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29" name="Google Shape;329;p31"/>
          <p:cNvSpPr txBox="1">
            <a:spLocks noGrp="1"/>
          </p:cNvSpPr>
          <p:nvPr>
            <p:ph type="body" idx="1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 Crear una nueva clase en la carpeta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Model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, esta clase se llama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CreateProducto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se estructura de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la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siguiente manera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32" name="Google Shape;332;p31" descr="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031" y="3220023"/>
            <a:ext cx="3999844" cy="2860962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333" name="Google Shape;33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2454" y="3220023"/>
            <a:ext cx="3999843" cy="2860962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39" name="Google Shape;339;p32"/>
          <p:cNvSpPr txBox="1">
            <a:spLocks noGrp="1"/>
          </p:cNvSpPr>
          <p:nvPr>
            <p:ph type="body" idx="1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3.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Crear una nueva clase en la carpeta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Metodos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, esta clase se llama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ProductoDTO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se estructura de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la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siguiente manera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40" name="Google Shape;340;p3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42" name="Google Shape;342;p32" descr="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4252" y="2579071"/>
            <a:ext cx="5885499" cy="4053469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48" name="Google Shape;348;p33"/>
          <p:cNvSpPr txBox="1">
            <a:spLocks noGrp="1"/>
          </p:cNvSpPr>
          <p:nvPr>
            <p:ph type="body" idx="1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3.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Esta clase se llama Controlador y se estructura de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la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siguiente manera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7026" y="2715600"/>
            <a:ext cx="6179976" cy="39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57" name="Google Shape;357;p35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Escritorio: Login</a:t>
            </a:r>
            <a:endParaRPr dirty="0"/>
          </a:p>
        </p:txBody>
      </p:sp>
      <p:sp>
        <p:nvSpPr>
          <p:cNvPr id="358" name="Google Shape;358;p3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60" name="Google Shape;3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113" y="3048775"/>
            <a:ext cx="578167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5b9630aa3_8_29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66" name="Google Shape;366;g3a5b9630aa3_8_297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Escritorio: Cliente Escritorio - Menú Principal</a:t>
            </a:r>
            <a:endParaRPr dirty="0"/>
          </a:p>
        </p:txBody>
      </p:sp>
      <p:sp>
        <p:nvSpPr>
          <p:cNvPr id="367" name="Google Shape;367;g3a5b9630aa3_8_29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68" name="Google Shape;368;g3a5b9630aa3_8_2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000" y="2757200"/>
            <a:ext cx="6985900" cy="36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5b9630aa3_8_15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74" name="Google Shape;374;g3a5b9630aa3_8_150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Escritorio: Cliente Escritorio - Formulario de Depósito</a:t>
            </a:r>
            <a:endParaRPr dirty="0"/>
          </a:p>
        </p:txBody>
      </p:sp>
      <p:sp>
        <p:nvSpPr>
          <p:cNvPr id="375" name="Google Shape;375;g3a5b9630aa3_8_15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76" name="Google Shape;376;g3a5b9630aa3_8_15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77" name="Google Shape;377;g3a5b9630aa3_8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850" y="2811425"/>
            <a:ext cx="8044199" cy="36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5b9630aa3_8_15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83" name="Google Shape;383;g3a5b9630aa3_8_159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Escritorio: Cliente Escritorio - Formulario de Retiro</a:t>
            </a:r>
            <a:endParaRPr dirty="0"/>
          </a:p>
        </p:txBody>
      </p:sp>
      <p:sp>
        <p:nvSpPr>
          <p:cNvPr id="384" name="Google Shape;384;g3a5b9630aa3_8_15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85" name="Google Shape;385;g3a5b9630aa3_8_15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86" name="Google Shape;386;g3a5b9630aa3_8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950" y="2757225"/>
            <a:ext cx="7046000" cy="38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5b9630aa3_8_1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92" name="Google Shape;392;g3a5b9630aa3_8_168"/>
          <p:cNvSpPr txBox="1">
            <a:spLocks noGrp="1"/>
          </p:cNvSpPr>
          <p:nvPr>
            <p:ph type="body" idx="1"/>
          </p:nvPr>
        </p:nvSpPr>
        <p:spPr>
          <a:xfrm>
            <a:off x="581192" y="1880649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Escritorio: Cliente Escritorio – Formulario de Transferencia</a:t>
            </a:r>
            <a:endParaRPr dirty="0"/>
          </a:p>
        </p:txBody>
      </p:sp>
      <p:sp>
        <p:nvSpPr>
          <p:cNvPr id="393" name="Google Shape;393;g3a5b9630aa3_8_1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94" name="Google Shape;394;g3a5b9630aa3_8_1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95" name="Google Shape;395;g3a5b9630aa3_8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163" y="2908550"/>
            <a:ext cx="6629575" cy="36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5b9630aa3_8_17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01" name="Google Shape;401;g3a5b9630aa3_8_177"/>
          <p:cNvSpPr txBox="1">
            <a:spLocks noGrp="1"/>
          </p:cNvSpPr>
          <p:nvPr>
            <p:ph type="body" idx="1"/>
          </p:nvPr>
        </p:nvSpPr>
        <p:spPr>
          <a:xfrm>
            <a:off x="581192" y="1880649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Escritorio: Cliente Escritorio - Consulta de Movimientos</a:t>
            </a:r>
            <a:endParaRPr dirty="0"/>
          </a:p>
        </p:txBody>
      </p:sp>
      <p:sp>
        <p:nvSpPr>
          <p:cNvPr id="402" name="Google Shape;402;g3a5b9630aa3_8_17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403" name="Google Shape;403;g3a5b9630aa3_8_17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04" name="Google Shape;404;g3a5b9630aa3_8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175" y="2811350"/>
            <a:ext cx="7355549" cy="37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10" name="Google Shape;410;p46"/>
          <p:cNvSpPr txBox="1">
            <a:spLocks noGrp="1"/>
          </p:cNvSpPr>
          <p:nvPr>
            <p:ph type="body" idx="1"/>
          </p:nvPr>
        </p:nvSpPr>
        <p:spPr>
          <a:xfrm>
            <a:off x="484209" y="1715956"/>
            <a:ext cx="8576663" cy="144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Proyecto web 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Crear un proyecto de tipo web y seleccionar el tipo de plantilla del proyecto.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12" name="Google Shape;412;p4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638" y="3158726"/>
            <a:ext cx="6273799" cy="33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18" name="Google Shape;418;p47"/>
          <p:cNvSpPr txBox="1">
            <a:spLocks noGrp="1"/>
          </p:cNvSpPr>
          <p:nvPr>
            <p:ph type="body" idx="1"/>
          </p:nvPr>
        </p:nvSpPr>
        <p:spPr>
          <a:xfrm>
            <a:off x="556095" y="1986220"/>
            <a:ext cx="8504777" cy="5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1.	Estructura cliente WEB. </a:t>
            </a:r>
            <a:endParaRPr dirty="0"/>
          </a:p>
        </p:txBody>
      </p:sp>
      <p:sp>
        <p:nvSpPr>
          <p:cNvPr id="419" name="Google Shape;419;p4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20" name="Google Shape;420;p47" descr="Interfaz de usuario gráfica, Texto, Aplicación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2587" y="2686020"/>
            <a:ext cx="3071813" cy="381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5b9630aa3_8_2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26" name="Google Shape;426;g3a5b9630aa3_8_228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Login</a:t>
            </a:r>
            <a:endParaRPr dirty="0"/>
          </a:p>
        </p:txBody>
      </p:sp>
      <p:sp>
        <p:nvSpPr>
          <p:cNvPr id="427" name="Google Shape;427;g3a5b9630aa3_8_2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28" name="Google Shape;428;g3a5b9630aa3_8_228"/>
          <p:cNvPicPr preferRelativeResize="0"/>
          <p:nvPr/>
        </p:nvPicPr>
        <p:blipFill rotWithShape="1">
          <a:blip r:embed="rId3">
            <a:alphaModFix/>
          </a:blip>
          <a:srcRect l="1491" t="6242" r="2261" b="3554"/>
          <a:stretch/>
        </p:blipFill>
        <p:spPr>
          <a:xfrm>
            <a:off x="1173863" y="2815500"/>
            <a:ext cx="7246174" cy="361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5b9630aa3_8_28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34" name="Google Shape;434;g3a5b9630aa3_8_289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Dashboard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Principal</a:t>
            </a:r>
            <a:endParaRPr dirty="0"/>
          </a:p>
        </p:txBody>
      </p:sp>
      <p:sp>
        <p:nvSpPr>
          <p:cNvPr id="435" name="Google Shape;435;g3a5b9630aa3_8_28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36" name="Google Shape;436;g3a5b9630aa3_8_289"/>
          <p:cNvPicPr preferRelativeResize="0"/>
          <p:nvPr/>
        </p:nvPicPr>
        <p:blipFill rotWithShape="1">
          <a:blip r:embed="rId3">
            <a:alphaModFix/>
          </a:blip>
          <a:srcRect t="5667" b="1722"/>
          <a:stretch/>
        </p:blipFill>
        <p:spPr>
          <a:xfrm>
            <a:off x="1200300" y="2869750"/>
            <a:ext cx="7193300" cy="35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5b9630aa3_8_2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42" name="Google Shape;442;g3a5b9630aa3_8_235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Módulo de Transacciones con mensaje de depósito exitoso</a:t>
            </a:r>
            <a:endParaRPr dirty="0"/>
          </a:p>
        </p:txBody>
      </p:sp>
      <p:sp>
        <p:nvSpPr>
          <p:cNvPr id="443" name="Google Shape;443;g3a5b9630aa3_8_2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44" name="Google Shape;444;g3a5b9630aa3_8_235"/>
          <p:cNvPicPr preferRelativeResize="0"/>
          <p:nvPr/>
        </p:nvPicPr>
        <p:blipFill rotWithShape="1">
          <a:blip r:embed="rId3">
            <a:alphaModFix/>
          </a:blip>
          <a:srcRect t="4662"/>
          <a:stretch/>
        </p:blipFill>
        <p:spPr>
          <a:xfrm>
            <a:off x="1170300" y="2772550"/>
            <a:ext cx="7253276" cy="38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Reporte de Movimientos</a:t>
            </a:r>
            <a:endParaRPr dirty="0"/>
          </a:p>
        </p:txBody>
      </p:sp>
      <p:sp>
        <p:nvSpPr>
          <p:cNvPr id="451" name="Google Shape;451;g3a5b9630aa3_8_2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52" name="Google Shape;452;g3a5b9630aa3_8_242"/>
          <p:cNvPicPr preferRelativeResize="0"/>
          <p:nvPr/>
        </p:nvPicPr>
        <p:blipFill rotWithShape="1">
          <a:blip r:embed="rId3">
            <a:alphaModFix/>
          </a:blip>
          <a:srcRect t="4942"/>
          <a:stretch/>
        </p:blipFill>
        <p:spPr>
          <a:xfrm>
            <a:off x="1316938" y="2617050"/>
            <a:ext cx="6960025" cy="37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/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1.	Creación proyecto cliente móvil. </a:t>
            </a:r>
            <a:endParaRPr dirty="0"/>
          </a:p>
        </p:txBody>
      </p:sp>
      <p:sp>
        <p:nvSpPr>
          <p:cNvPr id="459" name="Google Shape;459;p6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60" name="Google Shape;460;p62" descr="Captura de pantalla de un celular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636" y="3208573"/>
            <a:ext cx="6555475" cy="31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66" name="Google Shape;466;p63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2.	Clases en diferentes paquetes</a:t>
            </a:r>
            <a:endParaRPr dirty="0"/>
          </a:p>
        </p:txBody>
      </p:sp>
      <p:sp>
        <p:nvSpPr>
          <p:cNvPr id="467" name="Google Shape;467;p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68" name="Google Shape;468;p63" descr="Interfaz de usuario gráfica, 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6146" y="3120248"/>
            <a:ext cx="5702075" cy="32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74" name="Google Shape;474;p66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Login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75" name="Google Shape;475;p66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76" name="Google Shape;47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300" y="1911200"/>
            <a:ext cx="2828925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5b9630aa3_8_3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82" name="Google Shape;482;g3a5b9630aa3_8_31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Menú Principal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83" name="Google Shape;483;g3a5b9630aa3_8_3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84" name="Google Shape;484;g3a5b9630aa3_8_3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538" y="2617150"/>
            <a:ext cx="218122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5b9630aa3_8_3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90" name="Google Shape;490;g3a5b9630aa3_8_32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Realizar Depósito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91" name="Google Shape;491;g3a5b9630aa3_8_3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92" name="Google Shape;492;g3a5b9630aa3_8_3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0338" y="2617150"/>
            <a:ext cx="2333625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5b9630aa3_8_3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98" name="Google Shape;498;g3a5b9630aa3_8_33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Nueva Venta - Paso 2: Carrito Confirmado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99" name="Google Shape;499;g3a5b9630aa3_8_3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00" name="Google Shape;500;g3a5b9630aa3_8_3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5825" y="2421800"/>
            <a:ext cx="2002650" cy="43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5b9630aa3_8_3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06" name="Google Shape;506;g3a5b9630aa3_8_34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Realizar Retiro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07" name="Google Shape;507;g3a5b9630aa3_8_34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08" name="Google Shape;508;g3a5b9630aa3_8_3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825" y="2796075"/>
            <a:ext cx="215265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5b9630aa3_8_3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14" name="Google Shape;514;g3a5b9630aa3_8_35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06000" lvl="0" indent="-29723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Realizar Transferencia con mensaje exitoso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15" name="Google Shape;515;g3a5b9630aa3_8_3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16" name="Google Shape;516;g3a5b9630aa3_8_3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588" y="2617150"/>
            <a:ext cx="2143125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Consultar Movimientos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24" name="Google Shape;524;g3a5b9630aa3_8_3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825" y="2757200"/>
            <a:ext cx="2152650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BEE53D9B-8E95-0DA9-1C26-4988D3BDF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B9A88B88-76B4-5C80-829D-B07BE14C1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DED7AEEC-81D0-5A77-BEC6-8068977DF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1.	</a:t>
            </a:r>
            <a:r>
              <a:rPr lang="es-419" dirty="0"/>
              <a:t>Dirigirse a la página oficial de descarga de Bonita </a:t>
            </a:r>
            <a:r>
              <a:rPr lang="es-419" dirty="0" err="1"/>
              <a:t>Soft</a:t>
            </a:r>
            <a:r>
              <a:rPr lang="es-419" dirty="0"/>
              <a:t> y descargar la versión Open </a:t>
            </a:r>
            <a:r>
              <a:rPr lang="es-419" dirty="0" err="1"/>
              <a:t>Source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A302B66E-E877-8784-AF70-9C691FD7227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D6A3CC-A502-91AF-1680-FCA836BBE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630" y="2975288"/>
            <a:ext cx="5731510" cy="290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250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86FEB2D4-7C64-39D3-4BA1-819693A24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6CAD28FF-9D7C-1317-E50C-1E68D854B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EBDB8A40-8E33-A96F-72CE-2682DB09E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2.	</a:t>
            </a:r>
            <a:r>
              <a:rPr lang="es-419" dirty="0"/>
              <a:t>Registrarse y abrir el correo donde llega el enlace de descarga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D92BD5BB-B277-CD63-5C44-573317647685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7C46F142-5A0F-B457-EA7B-70D8E319B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630" y="2814286"/>
            <a:ext cx="5731510" cy="353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355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81E4CB3C-2611-A8C4-F5FC-D393D60A7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FB7D2144-EB04-A9C9-3B21-E159825BA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7E745741-0D8A-ACE4-97E0-B234027E5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3.	</a:t>
            </a:r>
            <a:r>
              <a:rPr lang="es-419" dirty="0"/>
              <a:t>Instalar </a:t>
            </a:r>
            <a:r>
              <a:rPr lang="es-419" dirty="0" err="1"/>
              <a:t>Bonitasoft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D42767A5-FB01-A0BB-575A-3A137C5883D1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AF9E62-D819-E328-B9B2-45729AF46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328" y="2690829"/>
            <a:ext cx="5042114" cy="361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167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911077AF-116C-2BDC-5101-0C00B1399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270568D0-1F4E-EA29-81C0-A1B715AB2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B6CECCDC-298D-4BCC-3DA4-9CBB2DE46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4.	</a:t>
            </a:r>
            <a:r>
              <a:rPr lang="es-419" dirty="0"/>
              <a:t>Creamos un nuevo proyecto en blanco llamado </a:t>
            </a:r>
            <a:r>
              <a:rPr lang="es-EC" dirty="0" err="1"/>
              <a:t>EurekaBankBPM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B82B3E01-7B46-9E4E-856C-85FE84780CA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C96377F2-5A60-B8D9-10E8-47FA6DFE0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630" y="2933219"/>
            <a:ext cx="5731510" cy="322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111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355C79B8-7297-7B86-6402-E7835C405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442E1EB8-C891-8CA0-D702-C0D405D13A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BEBD8283-63A1-F3B7-A9F8-588B80B26B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55000" lnSpcReduction="2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5.	</a:t>
            </a:r>
            <a:r>
              <a:rPr lang="es-419" sz="2200" dirty="0"/>
              <a:t>Creamos un nuevo diagrama de proceso y añadimos 4 Sendas: </a:t>
            </a:r>
            <a:r>
              <a:rPr lang="es-EC" sz="2200" dirty="0"/>
              <a:t>Cliente, Motor BPM, Servicio Web SOAP, Sistema de Auditoria.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D85BC630-4608-6441-939D-2281B73FFBA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B4E3BA-50B3-0677-26FC-49837A1C0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630" y="3101707"/>
            <a:ext cx="5731510" cy="267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881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6C691837-43AA-2546-5748-19933F13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37BB112D-EBAC-F64F-2BC3-6C58ADB9E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38E24DA3-1437-5E17-27BC-B1F5ED6853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6.	</a:t>
            </a:r>
            <a:r>
              <a:rPr lang="es-EC" dirty="0"/>
              <a:t>Creamos las variables de proceso del pool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BDFBD1B7-7835-6A72-1FFC-F467C2AF6EC2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5A9D3CBD-AAEF-C46B-5887-B31A52920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3" y="3621505"/>
            <a:ext cx="7546524" cy="199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39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80715EFA-0787-63F5-7534-10C2260A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9BAF746E-AF9A-E350-9727-5DE6BA941B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D6F0AED4-B82E-1C73-83B8-068309F4E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2500" lnSpcReduction="2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6.	</a:t>
            </a:r>
            <a:r>
              <a:rPr lang="es-419" dirty="0"/>
              <a:t>Creación de </a:t>
            </a:r>
            <a:r>
              <a:rPr lang="es-419" dirty="0" err="1"/>
              <a:t>Tasks</a:t>
            </a:r>
            <a:r>
              <a:rPr lang="es-419" dirty="0"/>
              <a:t> para Capturar Solicitud, Visualización de Resultados y errores, ambos de tipo Tarea Humana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3644D666-B67C-2407-FA55-AE7D4845D3B5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D86175-43FC-B319-26FA-AB18FC9AB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951" y="3259241"/>
            <a:ext cx="7102867" cy="289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859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64B85648-0BCB-5BDC-0E34-611C027D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6EC3E57C-B4C1-D4B8-78C4-5A4B1B09D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D46E6A70-D297-5D91-6D05-A18959B96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7.	</a:t>
            </a:r>
            <a:r>
              <a:rPr lang="es-419" dirty="0"/>
              <a:t>Configuración en la </a:t>
            </a:r>
            <a:r>
              <a:rPr lang="es-419" dirty="0" err="1"/>
              <a:t>Task</a:t>
            </a:r>
            <a:r>
              <a:rPr lang="es-419" dirty="0"/>
              <a:t> de Capturar Solicitud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9507489C-2DF8-E7B3-5458-1434CDCFCDE3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71CA7C5E-4ED5-3268-A56E-51C5B1085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5" y="3429000"/>
            <a:ext cx="8333900" cy="238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063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DD367CF2-F21C-1A64-B04B-A988693E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4BE99B9C-0C5F-5F6A-6098-2499509E7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9A764ED9-A125-34CA-F98C-54889EEEC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8.	</a:t>
            </a:r>
            <a:r>
              <a:rPr lang="es-419" dirty="0"/>
              <a:t>Mapear entradas con las variables antes creadas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54C07E0D-16F5-51F5-8DFE-91637890532E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59CD93-112E-0A18-FB5D-80E1752F3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51" y="3429000"/>
            <a:ext cx="8370084" cy="242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291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6D9972AA-E3AB-9140-2D9B-8B964FF9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4C4FC197-5D19-4A86-DFED-684663B79B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83E49828-2EB3-7D4F-095B-EC4F0D93DB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9.	</a:t>
            </a:r>
            <a:r>
              <a:rPr lang="es-419" dirty="0"/>
              <a:t>Creación de una nueva variable con los tipos de operación que soporta nuestro servidor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8FBF31EC-2D94-572A-2868-9E469D6DB0C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95C3A456-399F-86C9-7E1D-DCD08C9BE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01" y="3115343"/>
            <a:ext cx="7926009" cy="304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5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922E202E-21A4-39FD-A4A6-9800408E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B6B98EC8-AB47-5CB8-0B36-7CDC23BD1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1276C1C0-3433-B70D-85F0-31E604247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2500" lnSpcReduction="2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10.	</a:t>
            </a:r>
            <a:r>
              <a:rPr lang="es-419" dirty="0"/>
              <a:t>Dentro de Ejecución </a:t>
            </a:r>
            <a:r>
              <a:rPr lang="es-EC" dirty="0"/>
              <a:t>&gt; Formulario y pulsando en Editar Formulario establecemos la siguiente </a:t>
            </a:r>
            <a:r>
              <a:rPr lang="es-EC" dirty="0" err="1"/>
              <a:t>configuraci</a:t>
            </a:r>
            <a:r>
              <a:rPr lang="es-419" dirty="0" err="1"/>
              <a:t>ón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45C5CB45-FD0E-2684-E6DC-77343562B6E4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71E5A5-9B8F-2B29-A6EF-08B55EEF7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23" y="2803004"/>
            <a:ext cx="7197124" cy="375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067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03ED58A1-0B28-42E5-2835-89F914B46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7BBD030C-284F-5D88-2D7A-8DC375809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3591E410-7FFC-490F-90D2-BBC23A8A3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2500" lnSpcReduction="2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11.	</a:t>
            </a:r>
            <a:r>
              <a:rPr lang="es-419" dirty="0"/>
              <a:t>Dentro de Ejecución </a:t>
            </a:r>
            <a:r>
              <a:rPr lang="es-EC" dirty="0"/>
              <a:t>&gt; Formulario y pulsando en Editar Formulario establecemos la siguiente configuración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3EDE125A-7E2E-99DF-61C2-54B06373F6E5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55DBB714-830A-3462-E988-D70546547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303" y="2731908"/>
            <a:ext cx="7044707" cy="368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812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E2C5CF69-856F-7986-70E7-F6558B85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09B63404-6B8B-78B5-6AE2-5D3A9F343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04D4E51B-9444-411E-86AE-3D3A31F35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12.	</a:t>
            </a:r>
            <a:r>
              <a:rPr lang="es-419" dirty="0"/>
              <a:t>Finalmente el Motor BPM y su interacción con la senda Cliente se ve de la siguiente manera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E7B9B7B7-AB52-47CB-F42B-6F83E8AF1FDB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9EAACB-B248-6790-03FB-D69810DB8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5" y="2975288"/>
            <a:ext cx="8451899" cy="330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057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7838EF4A-8A46-1681-63A6-40DDC685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99DD8434-213D-2C40-7C3F-F16CFFC80B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3126991A-2FAA-C06D-8192-59410A3DD4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13.	</a:t>
            </a:r>
            <a:r>
              <a:rPr lang="es-EC" sz="2000" dirty="0">
                <a:cs typeface="Arial" panose="020B0604020202020204" pitchFamily="34" charset="0"/>
                <a:sym typeface="Cambria"/>
              </a:rPr>
              <a:t>L</a:t>
            </a:r>
            <a:r>
              <a:rPr lang="es-EC" dirty="0"/>
              <a:t>os elementos conectados se ven de la siguiente manera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4943338B-47FC-19B8-99A7-EDAD1C084EB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DF3F717B-0005-380A-8186-E90F59904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002" y="2562372"/>
            <a:ext cx="4774766" cy="403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828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2C18A15A-553F-081F-A30F-1BFB266DB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D62FF6C4-3200-E161-1C97-D566D5C499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0886D451-6CAD-CD64-593F-9F948ABEE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14.	</a:t>
            </a:r>
            <a:r>
              <a:rPr lang="es-419" dirty="0"/>
              <a:t>Conector hacia la </a:t>
            </a:r>
            <a:r>
              <a:rPr lang="es-419" dirty="0" err="1"/>
              <a:t>Task</a:t>
            </a:r>
            <a:r>
              <a:rPr lang="es-419" dirty="0"/>
              <a:t> Consultar Movimientos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1B5FF8B2-6E50-264F-C0D9-6A1ACB8BF5C2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010B39-8522-6E8A-D6CB-A73F7BA34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350" y="3124730"/>
            <a:ext cx="7800606" cy="336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358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09FE4C09-7305-A41B-F8D4-3AD5FD66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2351D31A-1C7E-D7BC-5EBD-BD906767F6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99E484A6-A418-0CC1-600F-01D66BF4A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15.	</a:t>
            </a:r>
            <a:r>
              <a:rPr lang="es-419" dirty="0"/>
              <a:t>Conector hacia la </a:t>
            </a:r>
            <a:r>
              <a:rPr lang="es-419" dirty="0" err="1"/>
              <a:t>Task</a:t>
            </a:r>
            <a:r>
              <a:rPr lang="es-419" dirty="0"/>
              <a:t> Es Depósito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CC98CAAA-586F-57DE-1016-8D1A458609C1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B91E3794-0471-122C-DB8B-21905ADD8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87" y="2975288"/>
            <a:ext cx="8061448" cy="321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369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B51D4D4F-6E4B-6774-C339-021BA8F5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539E273D-52C3-16F7-57FB-4829A0ADD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12B8E923-9F8A-9530-F4BB-A2928B4CD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16.	</a:t>
            </a:r>
            <a:r>
              <a:rPr lang="es-419" dirty="0"/>
              <a:t>Conector hacia la </a:t>
            </a:r>
            <a:r>
              <a:rPr lang="es-419" dirty="0" err="1"/>
              <a:t>Task</a:t>
            </a:r>
            <a:r>
              <a:rPr lang="es-419" dirty="0"/>
              <a:t> Es Retiro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A5C0B0C0-098C-323E-AA52-0A77562290E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D94486-9D2C-6D5D-0F42-049C6BF5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57" y="3139888"/>
            <a:ext cx="8279375" cy="322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687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9765DED7-79BF-B789-B224-09B5A92B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ABB3AF79-9643-C8F4-1C1D-9F2C67718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D76664A7-EF9C-348A-4B81-38CE7EF45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SzPts val="1840"/>
              <a:buFont typeface="Noto Sans Symbols"/>
              <a:buChar char="∙"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17.	</a:t>
            </a:r>
            <a:r>
              <a:rPr lang="es-419" dirty="0"/>
              <a:t>Conector hacia la </a:t>
            </a:r>
            <a:r>
              <a:rPr lang="es-419" dirty="0" err="1"/>
              <a:t>Task</a:t>
            </a:r>
            <a:r>
              <a:rPr lang="es-419" dirty="0"/>
              <a:t> Es Transferencia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46760E51-5DB4-81B7-18D5-50FA1DF82022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F5A12519-80ED-45D6-432E-1C0C75944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5" y="2975288"/>
            <a:ext cx="8551433" cy="346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338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724B0107-62E8-0F5F-DC34-FA315022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83731DBE-FCB2-D149-18D1-B788477391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9A013051-C335-A7F7-53D5-B948CB2CD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2500" lnSpcReduction="2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18.	</a:t>
            </a:r>
            <a:r>
              <a:rPr lang="es-EC" dirty="0"/>
              <a:t>Dentro de Ejecución &gt; Conectores de Entrada Agregamos un nuevo conector. Establecemos nombre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25713392-3B93-9217-B80B-ED3322180F7E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B40A0-D430-2FBC-8EBE-4062AE02E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107" y="2674667"/>
            <a:ext cx="6218555" cy="393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846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A1C6FCC6-F4D3-4916-E37B-4DD96341E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8D4F7D6D-E50B-B60E-F40C-1AE629468F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C9AE805C-1013-F9DA-6C8B-3769CB86B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19.	</a:t>
            </a:r>
            <a:r>
              <a:rPr lang="es-EC" dirty="0"/>
              <a:t>Agregamos el </a:t>
            </a:r>
            <a:r>
              <a:rPr lang="es-EC" dirty="0" err="1"/>
              <a:t>wsdl</a:t>
            </a:r>
            <a:r>
              <a:rPr lang="es-EC" dirty="0"/>
              <a:t> del servicio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73B3FA73-DBC2-68BD-12E3-EE827669223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898F3608-6665-CC95-5500-88B0BAA89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630" y="2562372"/>
            <a:ext cx="573151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53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AC84B46A-44A0-227F-E832-746D5532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BABA4A3F-DB44-6F5E-9A7E-573555E08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7BB6F1FD-4FEE-B134-D321-45DAA431A2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20.	</a:t>
            </a:r>
            <a:r>
              <a:rPr lang="es-EC" dirty="0"/>
              <a:t>Formulario dinámico de Capturar </a:t>
            </a:r>
            <a:r>
              <a:rPr lang="es-EC" dirty="0" err="1"/>
              <a:t>Solicitu</a:t>
            </a:r>
            <a:endParaRPr lang="es-EC" dirty="0"/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EECDA6B3-E583-11B2-2729-76F9D668ADF5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6902FC-3657-014F-D55F-75AF5BCFF9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084"/>
          <a:stretch>
            <a:fillRect/>
          </a:stretch>
        </p:blipFill>
        <p:spPr bwMode="auto">
          <a:xfrm>
            <a:off x="1183305" y="2966144"/>
            <a:ext cx="6942573" cy="31657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608896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703CF911-00BD-9AF8-ADB7-043A8D392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16915F4E-062D-F90D-15A2-5331935AF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DF7B33FE-8F1E-76CB-0D03-A3847A7C1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21.	</a:t>
            </a:r>
            <a:r>
              <a:rPr lang="es-EC" dirty="0"/>
              <a:t>Selección de Depósito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3EDED99F-7F72-440E-3670-00FA45F82002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637E1A21-2697-00C4-D2E5-778038920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275" y="2839620"/>
            <a:ext cx="4846872" cy="361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049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71136E03-485F-1DEE-551D-E6A89513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61C7D0D2-A9A9-18BD-5A26-51D9E0B38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72E8E855-F7D1-41ED-5941-0FF16EEEB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22.	</a:t>
            </a:r>
            <a:r>
              <a:rPr lang="es-EC" dirty="0"/>
              <a:t>Selección de Transferencia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1B880DD1-8EDB-F992-6C42-3CBB26C48B4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96506B-A0B3-646C-FB8A-66957BBCA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107" y="2703730"/>
            <a:ext cx="4734577" cy="40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865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17800BE1-E290-EF58-9197-81291E70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C14B20AE-3990-7657-2D3F-1012FAF199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ACBD5406-CB13-2C55-BB8A-6A7F7BADE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23.	</a:t>
            </a:r>
            <a:r>
              <a:rPr lang="es-EC" dirty="0"/>
              <a:t>Selección de Retiro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8E2E5A59-9388-BD6A-9A0D-FB4A75835B69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121B69C5-6009-290B-A4B4-4AC09EA18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049" y="2700956"/>
            <a:ext cx="5192562" cy="385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108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0E35CCB8-E00A-46D0-7699-09918B1A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A194FB71-C931-048F-9ED8-D657C49AAF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42012338-6E3C-9620-E20C-E29A23586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24.	</a:t>
            </a:r>
            <a:r>
              <a:rPr lang="es-EC" dirty="0"/>
              <a:t>Selección de Consulta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89B90CF2-EDDC-AF38-A394-BC1C99CE9EEA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D1162A-D66F-CEA5-4DB6-8501C2656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" y="3139532"/>
            <a:ext cx="7095928" cy="30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AE893FD0-DEDC-B073-28B4-BFBF046A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B205F322-0218-1B72-4BF3-5B49BEEA30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772DBEBB-0CE7-3D40-0DF6-09F3D6B66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25.	</a:t>
            </a:r>
            <a:r>
              <a:rPr lang="es-EC" dirty="0"/>
              <a:t>Operación Depósito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6349FC70-5B1A-0FA2-52B5-35200D65655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A543DF8A-8383-7CA6-CACA-C307D6548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435" y="2562372"/>
            <a:ext cx="4929899" cy="404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56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7A70F6B3-1223-D72C-D400-40920665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ABB6BB7E-F3A6-28F7-142D-8372A34E9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1B4FEBCD-ED1F-864C-E843-D05C77AD5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26.	</a:t>
            </a:r>
            <a:r>
              <a:rPr lang="es-EC" dirty="0"/>
              <a:t>Operación Transferencia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BB83EEE0-E43A-C228-5D92-31441F6C7B3B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96C7BC-D08F-2827-D024-AE2C41985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750" y="2562372"/>
            <a:ext cx="4893270" cy="383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638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975D2B2D-27BA-09D3-A78D-CBF90B171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893FE8FC-CD84-EC36-4EB4-6F3AAB7DB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FDDD594E-93AB-D04D-41E7-5DDAAA9DB9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27.	</a:t>
            </a:r>
            <a:r>
              <a:rPr lang="es-EC" dirty="0"/>
              <a:t>Operación Retiro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6E497A4E-AAEE-EC8B-655C-15D31007C742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A2BFE73F-8355-2B9C-EE9D-9DB6E359F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173" y="2774229"/>
            <a:ext cx="5456154" cy="40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349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891D32ED-84EB-00F3-EB1E-7FFD2650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1EAF14B8-90F0-3F7D-FE41-2CD230383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B3AC21B7-9CDA-6B70-0CB4-75DD31C23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28.	</a:t>
            </a:r>
            <a:r>
              <a:rPr lang="es-EC" dirty="0"/>
              <a:t>Consulta de Movimientos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4A371F44-2869-E7EB-D987-509EB1B2C1C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78D94-C1C5-3A44-77C7-6F28A0E98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767" y="2562372"/>
            <a:ext cx="4586538" cy="40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967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3AC5B1A2-E0AE-64E3-794B-C9FAAA81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>
            <a:extLst>
              <a:ext uri="{FF2B5EF4-FFF2-40B4-BE49-F238E27FC236}">
                <a16:creationId xmlns:a16="http://schemas.microsoft.com/office/drawing/2014/main" id="{A2EC0F85-0A11-25AE-E4A0-816E00DE9F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>
            <a:extLst>
              <a:ext uri="{FF2B5EF4-FFF2-40B4-BE49-F238E27FC236}">
                <a16:creationId xmlns:a16="http://schemas.microsoft.com/office/drawing/2014/main" id="{D97EB66D-565A-0EF8-AA76-20A18551F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23444" indent="0">
              <a:buNone/>
            </a:pPr>
            <a:r>
              <a:rPr lang="es-ES" sz="2000" dirty="0">
                <a:cs typeface="Arial" panose="020B0604020202020204" pitchFamily="34" charset="0"/>
                <a:sym typeface="Cambria"/>
              </a:rPr>
              <a:t>29.	</a:t>
            </a:r>
            <a:r>
              <a:rPr lang="es-EC" dirty="0"/>
              <a:t>Alerta de error</a:t>
            </a:r>
          </a:p>
        </p:txBody>
      </p:sp>
      <p:sp>
        <p:nvSpPr>
          <p:cNvPr id="459" name="Google Shape;459;p62">
            <a:extLst>
              <a:ext uri="{FF2B5EF4-FFF2-40B4-BE49-F238E27FC236}">
                <a16:creationId xmlns:a16="http://schemas.microsoft.com/office/drawing/2014/main" id="{B1AEF707-4C1A-68BB-38E2-C7D6375CD379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18F3512D-433B-0041-705A-35CD24013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181" y="2768821"/>
            <a:ext cx="6924408" cy="392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330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30" name="Google Shape;530;p68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Arquitectura de Software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31" name="Google Shape;531;p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32" name="Google Shape;53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675" y="1911200"/>
            <a:ext cx="3642600" cy="480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38" name="Google Shape;538;p69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Casos de Uso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40" name="Google Shape;54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13" y="2494355"/>
            <a:ext cx="7679755" cy="413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5b9630aa3_8_4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46" name="Google Shape;546;g3a5b9630aa3_8_476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Casos de Uso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47" name="Google Shape;547;g3a5b9630aa3_8_47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48" name="Google Shape;548;g3a5b9630aa3_8_4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175" y="2474387"/>
            <a:ext cx="3455010" cy="413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54" name="Google Shape;554;p70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Diagrama Eureka Bank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56" name="Google Shape;5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863" y="2617050"/>
            <a:ext cx="6514650" cy="40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CONCLUSIONES</a:t>
            </a:r>
            <a:endParaRPr dirty="0"/>
          </a:p>
        </p:txBody>
      </p:sp>
      <p:sp>
        <p:nvSpPr>
          <p:cNvPr id="562" name="Google Shape;562;p7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Se implementó exitosamente un sistema bancario completo basado en servicios web SOAP, demostrando la viabilidad y beneficios de la Arquitectura Orientada a Servicios (SOA) para aplicaciones empresariales complejas.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La separación de responsabilidades en tres capas (Presentación, Lógica de Negocio y Datos) facilitó el desarrollo paralelo, el mantenimiento y las pruebas independientes de cada componente.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El uso de patrones de diseño como DAO, DTO y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Service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Layer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mejoró significativamente la calidad del código, facilitando su comprensión, mantenimiento y extensibilidad futura.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La implementación de cuatro tipos de clientes diferentes (Consola, Escritorio, Web y Móvil) desde una única API de servicios web SOAP demostró la interoperabilidad y reutilización efectiva de la lógica de negocio.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06000" lvl="0" indent="-290226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63" name="Google Shape;563;p7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RECOMENDACIONES</a:t>
            </a:r>
            <a:endParaRPr dirty="0"/>
          </a:p>
        </p:txBody>
      </p:sp>
      <p:sp>
        <p:nvSpPr>
          <p:cNvPr id="569" name="Google Shape;569;p72"/>
          <p:cNvSpPr txBox="1">
            <a:spLocks noGrp="1"/>
          </p:cNvSpPr>
          <p:nvPr>
            <p:ph type="body" idx="1"/>
          </p:nvPr>
        </p:nvSpPr>
        <p:spPr>
          <a:xfrm>
            <a:off x="581206" y="2440053"/>
            <a:ext cx="8500800" cy="24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Implementar medidas de seguridad adicionales como autenticación de dos factores (2FA) y encriptación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end-to-end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proteger la información financiera sensible de los clientes y garantizar transacciones seguras en el sistema bancario.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Migrar gradualmente de SOAP a arquitecturas REST o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GraphQL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aprovechar las ventajas de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APIs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más ligeras y modernas, manteniendo compatibilidad con sistemas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legacy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mediante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gateways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Implementar un sistema de notificaciones en tiempo real que alerte a los clientes sobre movimientos bancarios, saldos bajos y operaciones sospechosas, mejorando la experiencia de usuario y la seguridad.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Añadir pruebas automatizadas unitarias e integración continua (CI/CD) para garantizar la calidad del código y facilitar el despliegue de nuevas funcionalidades sin interrumpir el servicio.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70" name="Google Shape;570;p7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BIBLIOGRAFÍA</a:t>
            </a:r>
            <a:endParaRPr dirty="0"/>
          </a:p>
        </p:txBody>
      </p:sp>
      <p:sp>
        <p:nvSpPr>
          <p:cNvPr id="576" name="Google Shape;576;p73"/>
          <p:cNvSpPr txBox="1">
            <a:spLocks noGrp="1"/>
          </p:cNvSpPr>
          <p:nvPr>
            <p:ph type="body" idx="1"/>
          </p:nvPr>
        </p:nvSpPr>
        <p:spPr>
          <a:xfrm>
            <a:off x="581200" y="2180501"/>
            <a:ext cx="8571600" cy="4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[1]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Microsoft .NET Framework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https://docs.microsoft.com/en-us/dotnet/framework/ Documentación oficial de .NET Framework 4.8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[2]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Windows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Communication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Foundation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(WCF)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https://docs.microsoft.com/en-us/dotnet/framework/wcf/ Especificación y guías de WCF para servicios 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[3] ASP.NET Web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Services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https://docs.microsoft.com/en-us/aspnet/web-forms/ Documentación de ASP.NET Web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Forms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servicios web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[4] JPA/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https://docs.microsoft.com/en-us/ef/ Documentación oficial de JPA/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acceso a datos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[5] SQL Server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LocalDB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https://docs.microsoft.com/en-us/sql/database-engine/configure-windows/sql-server-express-localdb Documentación de SQL Server Express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LocalDB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77" name="Google Shape;577;p73"/>
          <p:cNvSpPr/>
          <p:nvPr/>
        </p:nvSpPr>
        <p:spPr>
          <a:xfrm>
            <a:off x="9377946" y="-5751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7727</Words>
  <Application>Microsoft Office PowerPoint</Application>
  <PresentationFormat>Panorámica</PresentationFormat>
  <Paragraphs>1899</Paragraphs>
  <Slides>88</Slides>
  <Notes>88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88</vt:i4>
      </vt:variant>
    </vt:vector>
  </HeadingPairs>
  <TitlesOfParts>
    <vt:vector size="93" baseType="lpstr">
      <vt:lpstr>Gill Sans</vt:lpstr>
      <vt:lpstr>Arial</vt:lpstr>
      <vt:lpstr>Cambria</vt:lpstr>
      <vt:lpstr>Noto Sans Symbols</vt:lpstr>
      <vt:lpstr>Dividendo</vt:lpstr>
      <vt:lpstr>SISTEMA BANCARIO EUREKA BANK CON SOAP JAVA Y BASE DE DATOS EN LA NUBE</vt:lpstr>
      <vt:lpstr>Presentación de PowerPoint</vt:lpstr>
      <vt:lpstr>MARCO TEÓRICO</vt:lpstr>
      <vt:lpstr>MARCO TEÓRICO</vt:lpstr>
      <vt:lpstr>MARCO TEÓRICO</vt:lpstr>
      <vt:lpstr>MARCO TEÓRICO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Villarruel</dc:creator>
  <cp:lastModifiedBy>Javier Gonzaga</cp:lastModifiedBy>
  <cp:revision>10</cp:revision>
  <dcterms:created xsi:type="dcterms:W3CDTF">2020-08-13T07:15:02Z</dcterms:created>
  <dcterms:modified xsi:type="dcterms:W3CDTF">2026-01-27T04:05:33Z</dcterms:modified>
</cp:coreProperties>
</file>