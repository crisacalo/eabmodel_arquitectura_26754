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y="6858000" cx="12192000"/>
  <p:notesSz cx="6858000" cy="9144000"/>
  <p:embeddedFontLst>
    <p:embeddedFont>
      <p:font typeface="Gill Sans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iWLgu9kzzWIDXIuR7isTEOiZa2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GillSans-bold.fntdata"/><Relationship Id="rId63" Type="http://schemas.openxmlformats.org/officeDocument/2006/relationships/font" Target="fonts/GillSans-regular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65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9630aa3_8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a5b9630aa3_8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b9630aa3_7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5b9630aa3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b9630aa3_7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5b9630aa3_7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b9630aa3_8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a5b9630aa3_8_4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5b9630aa3_8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a5b9630aa3_8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5b9630aa3_8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a5b9630aa3_8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5b9630aa3_8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a5b9630aa3_8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5b9630aa3_8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a5b9630aa3_8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5b9630aa3_8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a5b9630aa3_8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5b9630aa3_8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a5b9630aa3_8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5b9630aa3_8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g3a5b9630aa3_8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5b9630aa3_8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a5b9630aa3_8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5b9630aa3_8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g3a5b9630aa3_8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5b9630aa3_8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a5b9630aa3_8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b9630aa3_8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3a5b9630aa3_8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b9630aa3_8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g3a5b9630aa3_8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g3a5b9630aa3_8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b9630aa3_8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g3a5b9630aa3_8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b9630aa3_8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g3a5b9630aa3_8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5b9630aa3_8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g3a5b9630aa3_8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b9630aa3_8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g3a5b9630aa3_8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5b9630aa3_8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g3a5b9630aa3_8_3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g3a5b9630aa3_8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5b9630aa3_8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g3a5b9630aa3_8_4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9" name="Google Shape;559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6" name="Google Shape;566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3" name="Google Shape;573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5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5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5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5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6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7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6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7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7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7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8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8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78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7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9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79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79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79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7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8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0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2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2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82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8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3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3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3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8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4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8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5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85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5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5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4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7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7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7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7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Relationship Id="rId4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552600" y="3192998"/>
            <a:ext cx="109935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SISTEMA BANCARIO EUREKA BANK CON SOAP JAVA Y BASE DE DATOS EN LA NUBE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355001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INTEGRANTES: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Cristian Jose Acalo Cruz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Javier Cristobal Gonzaga Peñafiel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>
                <a:solidFill>
                  <a:schemeClr val="lt1"/>
                </a:solidFill>
              </a:rPr>
              <a:t>Jefferson Leonardo Obando Carlosama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Resultado de imagen para espe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909663" y="4572001"/>
            <a:ext cx="42615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11/12/2025</a:t>
            </a:r>
            <a:endParaRPr b="1" sz="16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6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MAURICIO CAMPAÑA</a:t>
            </a:r>
            <a:endParaRPr b="1" sz="16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98704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MARCO TEÓRICO</a:t>
            </a:r>
            <a:endParaRPr>
              <a:solidFill>
                <a:schemeClr val="lt1"/>
              </a:solidFill>
            </a:endParaRPr>
          </a:p>
          <a:p>
            <a:pPr indent="-298704" lvl="0" marL="4572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DESARROLLO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OBJETIVO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MODELO CONCEPTUAL DE LA BASE DE DATOS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CREAR BASE DE DATOS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SERVIDOR SOAP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CONSOLA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ESCRITORIO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WEB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CREACIÓN DEL PROYECTO – CLIENTE MÓVIL</a:t>
            </a:r>
            <a:endParaRPr b="1" sz="1200">
              <a:solidFill>
                <a:schemeClr val="lt1"/>
              </a:solidFill>
            </a:endParaRPr>
          </a:p>
          <a:p>
            <a:pPr indent="-298704" lvl="1" marL="9144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DIAGRAMAS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04" lvl="0" marL="4572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CONCLUSIONES</a:t>
            </a:r>
            <a:endParaRPr b="1" sz="1200">
              <a:solidFill>
                <a:schemeClr val="lt1"/>
              </a:solidFill>
            </a:endParaRPr>
          </a:p>
          <a:p>
            <a:pPr indent="-298704" lvl="0" marL="4572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RECOMENDACIONES</a:t>
            </a:r>
            <a:endParaRPr b="1" sz="1200">
              <a:solidFill>
                <a:schemeClr val="lt1"/>
              </a:solidFill>
            </a:endParaRPr>
          </a:p>
          <a:p>
            <a:pPr indent="-298704" lvl="0" marL="457200" rtl="0" algn="l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b="1" lang="es-ES" sz="1200">
                <a:solidFill>
                  <a:schemeClr val="lt1"/>
                </a:solidFill>
              </a:rPr>
              <a:t>BIBLIOGRAFÍA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5437" l="0" r="0" t="0"/>
          <a:stretch/>
        </p:blipFill>
        <p:spPr>
          <a:xfrm>
            <a:off x="4343750" y="1869813"/>
            <a:ext cx="7678700" cy="31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ARQUITECTURA ORIENTADA A SERVICIOS (SOAP)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 Arquitectura Orientada a Servicios es un paradigma de diseño que permite crear componentes de software modulares, reutilizables y desacoplados. En este proyecto, SOA facilita la integración entre el sistema de comercialización de electrodomésticos y el módulo de créditos de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Eureka Bank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mediante servicios SOAP.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Características principales: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Interoperabilidad entre sistemas heterogéneos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Reutilización de servicios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Acoplamiento débil entre componentes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Escalabilidad y mantenibilidad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b9630aa3_8_470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22" name="Google Shape;122;g3a5b9630aa3_8_470"/>
          <p:cNvSpPr txBox="1"/>
          <p:nvPr>
            <p:ph idx="1" type="body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1.2 SERVICIOS WEB SOAP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SOAP (Simple Object Access Protocol) es un protocolo de mensajería basado en XML que permite la comunicación entre aplicaciones a través de Internet. En este proyecto, SOAP se implementa mediante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Jakarta EE (JAX-WS)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Ventajas de SOAP: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Estándares bien definidos (WSDL, XSD)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Seguridad robusta (WS-Security)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Transacciones distribuidas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Independencia de plataforma y lenguaje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3a5b9630aa3_8_47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b9630aa3_7_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29" name="Google Shape;129;g3a5b9630aa3_7_7"/>
          <p:cNvSpPr txBox="1"/>
          <p:nvPr>
            <p:ph idx="1" type="body"/>
          </p:nvPr>
        </p:nvSpPr>
        <p:spPr>
          <a:xfrm>
            <a:off x="581198" y="2180500"/>
            <a:ext cx="85908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1.3 TECNOLOGÍAS UTILIZADAS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proyecto implementa un stack tecnológico robusto basado en el ecosistema Java: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Lenguaje Backend: Java 17 + Jakarta EE (JAX-WS)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Lenguaje Clientes: .NET Framework 4.8+ / .NET 6+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Servidor Web: Apache Tomcat 10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ORM: JPA / Hibernate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Base de Datos: MySQL 8.0 (Railway Cloud)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IDE: IntelliJ IDEA / NetBeans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Build Tool: Maven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Estas tecnologías garantizan un desarrollo eficiente, mantenible y escalable del sistema de integración bancaria.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g3a5b9630aa3_7_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b9630aa3_7_14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MARCO TEÓRICO</a:t>
            </a:r>
            <a:endParaRPr/>
          </a:p>
        </p:txBody>
      </p:sp>
      <p:sp>
        <p:nvSpPr>
          <p:cNvPr id="136" name="Google Shape;136;g3a5b9630aa3_7_14"/>
          <p:cNvSpPr txBox="1"/>
          <p:nvPr>
            <p:ph idx="1" type="body"/>
          </p:nvPr>
        </p:nvSpPr>
        <p:spPr>
          <a:xfrm>
            <a:off x="581198" y="2180500"/>
            <a:ext cx="85629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1.4 ARQUITECTURA EN CAPAS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sistema se estructura en tres capas lógicas principales que garantizan la separación de responsabilidades: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Capa de Presentación: Compuesta por aplicaciones cliente (Consola, Escritorio, Web, Móvil) que interactúan con el usuario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Capa de Lógica de Negocio: Contiene los servicios web SOAP (Servicio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EurekaBank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) que implementan las reglas de negocio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Capa de Acceso a Datos: Utiliza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JPA/Hibernate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para la comunicación con las bases de datos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EurekaBank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_db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Esta arquitectura facilita el mantenimiento, testing y escalabilidad del sistema.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99459"/>
              <a:buNone/>
            </a:pPr>
            <a:r>
              <a:t/>
            </a:r>
            <a:endParaRPr/>
          </a:p>
        </p:txBody>
      </p:sp>
      <p:sp>
        <p:nvSpPr>
          <p:cNvPr id="137" name="Google Shape;137;g3a5b9630aa3_7_1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b9630aa3_8_462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3" name="Google Shape;143;g3a5b9630aa3_8_462"/>
          <p:cNvSpPr txBox="1"/>
          <p:nvPr>
            <p:ph idx="1" type="body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2.1    OBJETIVO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un sistema bancario integral basado en una Arquitectura Orientada a Servicios (SOAP) que implemente funcionalidades de gestión de cuentas, transacciones, depósitos, retiros y transferencias del Banco Eureka Bank, con el fin de automatizar y agilizar las operaciones bancarias mediante múltiples clientes multiplataforma.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4" name="Google Shape;144;g3a5b9630aa3_8_46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0" name="Google Shape;150;p4"/>
          <p:cNvSpPr txBox="1"/>
          <p:nvPr>
            <p:ph idx="1" type="body"/>
          </p:nvPr>
        </p:nvSpPr>
        <p:spPr>
          <a:xfrm>
            <a:off x="581192" y="1971721"/>
            <a:ext cx="85893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2.2    MODELO CONCEPTUAL DE LA BASE DE DATOS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33756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      A continuación, se presenta el modelo conceptual de la base de datos "EurekaBank" desplegada en Railway (MySQL 8.0)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963" y="3135800"/>
            <a:ext cx="58197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8" name="Google Shape;158;p5"/>
          <p:cNvSpPr txBox="1"/>
          <p:nvPr>
            <p:ph idx="1" type="body"/>
          </p:nvPr>
        </p:nvSpPr>
        <p:spPr>
          <a:xfrm>
            <a:off x="595569" y="1849818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2.3	CREAR BASE DE DATOS</a:t>
            </a:r>
            <a:endParaRPr/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Al abrir Railway  se crean las bases de datos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EurekaBank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_db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a captura de pantalla de una computadora&#10;&#10;Descripción generada automáticamente" id="161" name="Google Shape;161;p5"/>
          <p:cNvPicPr preferRelativeResize="0"/>
          <p:nvPr/>
        </p:nvPicPr>
        <p:blipFill rotWithShape="1">
          <a:blip r:embed="rId3">
            <a:alphaModFix/>
          </a:blip>
          <a:srcRect b="7440" l="4565" r="2824" t="14647"/>
          <a:stretch/>
        </p:blipFill>
        <p:spPr>
          <a:xfrm>
            <a:off x="1145975" y="3232200"/>
            <a:ext cx="6910199" cy="3270499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581192" y="1848998"/>
            <a:ext cx="8589441" cy="763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4.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Ahora para insertar datos deberemos usar nuestro script Carga_Datos.sql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, copiamos y PEGAMOS su contenido en la herramienta y verificamos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1763" y="2612175"/>
            <a:ext cx="2808299" cy="4087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5" name="Google Shape;175;p8"/>
          <p:cNvSpPr txBox="1"/>
          <p:nvPr>
            <p:ph idx="1" type="body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-327126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2.4	Creación del Servidor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SOAP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8235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Para comenzar con la creación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del proyecto servidor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se procede a crear un nuevo proyecto en Visual Studio 2022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el proyecto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que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se deberá seleccionar es del tipo Aplicación ASP.NET Core Web API.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2172" y="3136258"/>
            <a:ext cx="5052757" cy="340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4" name="Google Shape;184;p9"/>
          <p:cNvSpPr txBox="1"/>
          <p:nvPr>
            <p:ph idx="1" type="body"/>
          </p:nvPr>
        </p:nvSpPr>
        <p:spPr>
          <a:xfrm>
            <a:off x="390692" y="1962876"/>
            <a:ext cx="8589441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2.	Luego ajustar las configuraciones del servidor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elegir proyecto vacío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, Correo electrónico&#10;&#10;Descripción generada automáticamente"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5392" y="2819397"/>
            <a:ext cx="5400040" cy="370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581191" y="1905093"/>
            <a:ext cx="8589441" cy="529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3. Ahora se crea la estructura del proyecto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288" y="2782728"/>
            <a:ext cx="7077248" cy="37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2" name="Google Shape;202;p11"/>
          <p:cNvSpPr txBox="1"/>
          <p:nvPr>
            <p:ph idx="1" type="body"/>
          </p:nvPr>
        </p:nvSpPr>
        <p:spPr>
          <a:xfrm>
            <a:off x="581192" y="1962603"/>
            <a:ext cx="8589441" cy="56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4. Ahora se crea una clase para hacer Conexión a la BDD y se codifica su lógica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, Correo electrónico&#10;&#10;Descripción generada automáticamente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663" y="2957196"/>
            <a:ext cx="6756501" cy="3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>
            <a:off x="581192" y="1721974"/>
            <a:ext cx="8589441" cy="845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5. Ahora en la carpeta Servicio creamos la clase CreditoService y CreditoValidatorService para manejar las funciones que se utilizarán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6860" y="2831125"/>
            <a:ext cx="5098099" cy="3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0" name="Google Shape;220;p15"/>
          <p:cNvSpPr txBox="1"/>
          <p:nvPr>
            <p:ph idx="1" type="body"/>
          </p:nvPr>
        </p:nvSpPr>
        <p:spPr>
          <a:xfrm>
            <a:off x="580915" y="1952011"/>
            <a:ext cx="8531932" cy="601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7. Se procede a codificar la lógica para usar los métodos desarrollados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75" y="2469499"/>
            <a:ext cx="3579525" cy="430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675" y="2469499"/>
            <a:ext cx="3684803" cy="43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9" name="Google Shape;229;p17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/>
          </a:bodyPr>
          <a:lstStyle/>
          <a:p>
            <a:pPr indent="-294322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7.1    CLIENTE CONSOLA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94322" lvl="0" marL="4572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de línea de comandos desarrollado en Java que permite realizar operaciones bancarias mediante una interfaz de texto: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1368" y="3285676"/>
            <a:ext cx="4529079" cy="2263556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18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Se crea un cliente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consola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 Tomar en cuenta que el proyecto servidor debe estar desplegado,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y configurar las rutas del aplicativo.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292" y="3229272"/>
            <a:ext cx="5449248" cy="3017708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7" name="Google Shape;247;p19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 Se crea la estructura del proyecto consola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0" name="Google Shape;2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6716" y="2786503"/>
            <a:ext cx="4138400" cy="3717300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6" name="Google Shape;256;p20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3. Se procede a implementar los modelos necesario para llevar a cabo las acciones en el paquete Models.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99" y="2786500"/>
            <a:ext cx="4070050" cy="3678975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Texto&#10;&#10;Descripción generada automáticamente" id="260" name="Google Shape;2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0587" y="3190826"/>
            <a:ext cx="4070049" cy="2870328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6" name="Google Shape;266;p22"/>
          <p:cNvSpPr txBox="1"/>
          <p:nvPr>
            <p:ph idx="1" type="body"/>
          </p:nvPr>
        </p:nvSpPr>
        <p:spPr>
          <a:xfrm>
            <a:off x="581192" y="1902964"/>
            <a:ext cx="8589441" cy="88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4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Se procede a implementar el modelo necesario para llevar a cabo las acciones, esto en una clase Eureka. 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3451" y="2786498"/>
            <a:ext cx="3745824" cy="3876575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5" name="Google Shape;275;p28"/>
          <p:cNvSpPr txBox="1"/>
          <p:nvPr>
            <p:ph idx="1" type="body"/>
          </p:nvPr>
        </p:nvSpPr>
        <p:spPr>
          <a:xfrm>
            <a:off x="581192" y="1897900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Consola - Pantalla de Login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3575" y="2700250"/>
            <a:ext cx="3713750" cy="38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5b9630aa3_8_36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4" name="Google Shape;284;g3a5b9630aa3_8_36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Consola - Menú Principal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5" name="Google Shape;285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6" name="Google Shape;286;g3a5b9630aa3_8_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7" name="Google Shape;287;g3a5b9630aa3_8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613" y="2718325"/>
            <a:ext cx="5171675" cy="39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b9630aa3_8_4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3" name="Google Shape;293;g3a5b9630aa3_8_45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Consola - Realizar Depósito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4" name="Google Shape;294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5" name="Google Shape;295;g3a5b9630aa3_8_4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6" name="Google Shape;296;g3a5b9630aa3_8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213" y="2525350"/>
            <a:ext cx="5330475" cy="40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5b9630aa3_8_54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2" name="Google Shape;302;g3a5b9630aa3_8_54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Consola - Realizar Retiro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3" name="Google Shape;303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4" name="Google Shape;304;g3a5b9630aa3_8_5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05" name="Google Shape;305;g3a5b9630aa3_8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725" y="2679450"/>
            <a:ext cx="5981450" cy="39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5b9630aa3_8_63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1" name="Google Shape;311;g3a5b9630aa3_8_63"/>
          <p:cNvSpPr txBox="1"/>
          <p:nvPr>
            <p:ph idx="1" type="body"/>
          </p:nvPr>
        </p:nvSpPr>
        <p:spPr>
          <a:xfrm>
            <a:off x="581192" y="1742375"/>
            <a:ext cx="8458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Consola: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Consola – Realizar Transferencia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2" name="Google Shape;312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3" name="Google Shape;313;g3a5b9630aa3_8_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4" name="Google Shape;314;g3a5b9630aa3_8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325" y="2362775"/>
            <a:ext cx="35242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0" name="Google Shape;320;p29"/>
          <p:cNvSpPr txBox="1"/>
          <p:nvPr>
            <p:ph idx="1" type="body"/>
          </p:nvPr>
        </p:nvSpPr>
        <p:spPr>
          <a:xfrm>
            <a:off x="581192" y="1860969"/>
            <a:ext cx="8431632" cy="1114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Creación de Cliente Escritorio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	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Crear nuevo proyecto del tipo Aplicación de Windows Forms  (.NET Framework).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889" y="3120282"/>
            <a:ext cx="6552249" cy="3578481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9" name="Google Shape;329;p31"/>
          <p:cNvSpPr txBox="1"/>
          <p:nvPr>
            <p:ph idx="1" type="body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2. Crear una nueva clase en la carpeta Model, esta clase se llama CreateProducto y se estructura de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siguiente manera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&#10;&#10;Descripción generada automáticamente"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031" y="3220023"/>
            <a:ext cx="3999844" cy="2860962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454" y="3220023"/>
            <a:ext cx="3999843" cy="2860962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9" name="Google Shape;339;p32"/>
          <p:cNvSpPr txBox="1"/>
          <p:nvPr>
            <p:ph idx="1" type="body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3.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Crear una nueva clase en la carpeta Metodos, esta clase se llama ProductoDTO y se estructura de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siguiente manera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&#10;&#10;Descripción generada automáticamente"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252" y="2579071"/>
            <a:ext cx="5885499" cy="4053469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8" name="Google Shape;348;p33"/>
          <p:cNvSpPr txBox="1"/>
          <p:nvPr>
            <p:ph idx="1" type="body"/>
          </p:nvPr>
        </p:nvSpPr>
        <p:spPr>
          <a:xfrm>
            <a:off x="581192" y="1715956"/>
            <a:ext cx="8431632" cy="76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3.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Esta clase se llama Controlador y se estructura de 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la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siguiente manera</a:t>
            </a: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026" y="2715600"/>
            <a:ext cx="6179976" cy="39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57" name="Google Shape;357;p35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Login</a:t>
            </a:r>
            <a:endParaRPr/>
          </a:p>
        </p:txBody>
      </p:sp>
      <p:sp>
        <p:nvSpPr>
          <p:cNvPr id="358" name="Google Shape;358;p3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60" name="Google Shape;3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113" y="3048775"/>
            <a:ext cx="57816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5b9630aa3_8_29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66" name="Google Shape;366;g3a5b9630aa3_8_297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Escritorio - Menú Principal</a:t>
            </a:r>
            <a:endParaRPr/>
          </a:p>
        </p:txBody>
      </p:sp>
      <p:sp>
        <p:nvSpPr>
          <p:cNvPr id="367" name="Google Shape;367;g3a5b9630aa3_8_29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68" name="Google Shape;368;g3a5b9630aa3_8_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000" y="2757200"/>
            <a:ext cx="6985900" cy="36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5b9630aa3_8_150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4" name="Google Shape;374;g3a5b9630aa3_8_150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Escritorio - Formulario de Depósito</a:t>
            </a:r>
            <a:endParaRPr/>
          </a:p>
        </p:txBody>
      </p:sp>
      <p:sp>
        <p:nvSpPr>
          <p:cNvPr id="375" name="Google Shape;375;g3a5b9630aa3_8_15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6" name="Google Shape;376;g3a5b9630aa3_8_15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77" name="Google Shape;377;g3a5b9630aa3_8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50" y="2811425"/>
            <a:ext cx="8044199" cy="361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5b9630aa3_8_159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3" name="Google Shape;383;g3a5b9630aa3_8_159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Escritorio - Formulario de Retiro</a:t>
            </a:r>
            <a:endParaRPr/>
          </a:p>
        </p:txBody>
      </p:sp>
      <p:sp>
        <p:nvSpPr>
          <p:cNvPr id="384" name="Google Shape;384;g3a5b9630aa3_8_1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5" name="Google Shape;385;g3a5b9630aa3_8_1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86" name="Google Shape;386;g3a5b9630aa3_8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950" y="2757225"/>
            <a:ext cx="7046000" cy="38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5b9630aa3_8_168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92" name="Google Shape;392;g3a5b9630aa3_8_168"/>
          <p:cNvSpPr txBox="1"/>
          <p:nvPr>
            <p:ph idx="1" type="body"/>
          </p:nvPr>
        </p:nvSpPr>
        <p:spPr>
          <a:xfrm>
            <a:off x="581192" y="1880649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Escritorio – Formulario de Transferencia</a:t>
            </a:r>
            <a:endParaRPr/>
          </a:p>
        </p:txBody>
      </p:sp>
      <p:sp>
        <p:nvSpPr>
          <p:cNvPr id="393" name="Google Shape;393;g3a5b9630aa3_8_1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4" name="Google Shape;394;g3a5b9630aa3_8_1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95" name="Google Shape;395;g3a5b9630aa3_8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163" y="2908550"/>
            <a:ext cx="6629575" cy="36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5b9630aa3_8_17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a5b9630aa3_8_177"/>
          <p:cNvSpPr txBox="1"/>
          <p:nvPr>
            <p:ph idx="1" type="body"/>
          </p:nvPr>
        </p:nvSpPr>
        <p:spPr>
          <a:xfrm>
            <a:off x="581192" y="1880649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de Escritorio: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Escritorio - Consulta de Movimientos</a:t>
            </a:r>
            <a:endParaRPr/>
          </a:p>
        </p:txBody>
      </p:sp>
      <p:sp>
        <p:nvSpPr>
          <p:cNvPr id="402" name="Google Shape;402;g3a5b9630aa3_8_17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3" name="Google Shape;403;g3a5b9630aa3_8_17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04" name="Google Shape;404;g3a5b9630aa3_8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175" y="2811350"/>
            <a:ext cx="7355549" cy="37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0" name="Google Shape;410;p46"/>
          <p:cNvSpPr txBox="1"/>
          <p:nvPr>
            <p:ph idx="1" type="body"/>
          </p:nvPr>
        </p:nvSpPr>
        <p:spPr>
          <a:xfrm>
            <a:off x="484209" y="1715956"/>
            <a:ext cx="8576663" cy="1442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Proyecto web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Crear un proyecto de tipo web y seleccionar el tipo de plantilla del proyecto.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exto&#10;&#10;Descripción generada automáticamente" id="412" name="Google Shape;41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638" y="3158726"/>
            <a:ext cx="6273799" cy="33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8" name="Google Shape;418;p47"/>
          <p:cNvSpPr txBox="1"/>
          <p:nvPr>
            <p:ph idx="1" type="body"/>
          </p:nvPr>
        </p:nvSpPr>
        <p:spPr>
          <a:xfrm>
            <a:off x="556095" y="1986220"/>
            <a:ext cx="8504777" cy="551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1.	Estructura cliente WEB. </a:t>
            </a:r>
            <a:endParaRPr/>
          </a:p>
        </p:txBody>
      </p:sp>
      <p:sp>
        <p:nvSpPr>
          <p:cNvPr id="419" name="Google Shape;419;p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, Aplicación&#10;&#10;Descripción generada automáticamente" id="420" name="Google Shape;42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2587" y="2686020"/>
            <a:ext cx="3071813" cy="381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5b9630aa3_8_228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6" name="Google Shape;426;g3a5b9630aa3_8_228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Login</a:t>
            </a:r>
            <a:endParaRPr/>
          </a:p>
        </p:txBody>
      </p:sp>
      <p:sp>
        <p:nvSpPr>
          <p:cNvPr id="427" name="Google Shape;427;g3a5b9630aa3_8_2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28" name="Google Shape;428;g3a5b9630aa3_8_228"/>
          <p:cNvPicPr preferRelativeResize="0"/>
          <p:nvPr/>
        </p:nvPicPr>
        <p:blipFill rotWithShape="1">
          <a:blip r:embed="rId3">
            <a:alphaModFix/>
          </a:blip>
          <a:srcRect b="3554" l="1491" r="2261" t="6242"/>
          <a:stretch/>
        </p:blipFill>
        <p:spPr>
          <a:xfrm>
            <a:off x="1173863" y="2815500"/>
            <a:ext cx="7246174" cy="361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5b9630aa3_8_289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4" name="Google Shape;434;g3a5b9630aa3_8_289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Web - Dashboard Principal</a:t>
            </a:r>
            <a:endParaRPr/>
          </a:p>
        </p:txBody>
      </p:sp>
      <p:sp>
        <p:nvSpPr>
          <p:cNvPr id="435" name="Google Shape;435;g3a5b9630aa3_8_28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36" name="Google Shape;436;g3a5b9630aa3_8_289"/>
          <p:cNvPicPr preferRelativeResize="0"/>
          <p:nvPr/>
        </p:nvPicPr>
        <p:blipFill rotWithShape="1">
          <a:blip r:embed="rId3">
            <a:alphaModFix/>
          </a:blip>
          <a:srcRect b="1722" l="0" r="0" t="5667"/>
          <a:stretch/>
        </p:blipFill>
        <p:spPr>
          <a:xfrm>
            <a:off x="1200300" y="2869750"/>
            <a:ext cx="7193300" cy="351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b9630aa3_8_235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2" name="Google Shape;442;g3a5b9630aa3_8_235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Web - Módulo de Transacciones con mensaje de depósito exitoso</a:t>
            </a:r>
            <a:endParaRPr/>
          </a:p>
        </p:txBody>
      </p:sp>
      <p:sp>
        <p:nvSpPr>
          <p:cNvPr id="443" name="Google Shape;443;g3a5b9630aa3_8_2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44" name="Google Shape;444;g3a5b9630aa3_8_235"/>
          <p:cNvPicPr preferRelativeResize="0"/>
          <p:nvPr/>
        </p:nvPicPr>
        <p:blipFill rotWithShape="1">
          <a:blip r:embed="rId3">
            <a:alphaModFix/>
          </a:blip>
          <a:srcRect b="0" l="0" r="0" t="4662"/>
          <a:stretch/>
        </p:blipFill>
        <p:spPr>
          <a:xfrm>
            <a:off x="1170300" y="2772550"/>
            <a:ext cx="7253276" cy="38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0" name="Google Shape;450;g3a5b9630aa3_8_242"/>
          <p:cNvSpPr txBox="1"/>
          <p:nvPr>
            <p:ph idx="1" type="body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Web: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Web - Reporte de Movimientos</a:t>
            </a:r>
            <a:endParaRPr/>
          </a:p>
        </p:txBody>
      </p:sp>
      <p:sp>
        <p:nvSpPr>
          <p:cNvPr id="451" name="Google Shape;451;g3a5b9630aa3_8_2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52" name="Google Shape;452;g3a5b9630aa3_8_242"/>
          <p:cNvPicPr preferRelativeResize="0"/>
          <p:nvPr/>
        </p:nvPicPr>
        <p:blipFill rotWithShape="1">
          <a:blip r:embed="rId3">
            <a:alphaModFix/>
          </a:blip>
          <a:srcRect b="0" l="0" r="0" t="4942"/>
          <a:stretch/>
        </p:blipFill>
        <p:spPr>
          <a:xfrm>
            <a:off x="1316938" y="2617050"/>
            <a:ext cx="6960025" cy="37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8" name="Google Shape;458;p62"/>
          <p:cNvSpPr txBox="1"/>
          <p:nvPr>
            <p:ph idx="1" type="body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1.	Creación proyecto cliente móvil. </a:t>
            </a:r>
            <a:endParaRPr/>
          </a:p>
        </p:txBody>
      </p:sp>
      <p:sp>
        <p:nvSpPr>
          <p:cNvPr id="459" name="Google Shape;459;p6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Captura de pantalla de un celular&#10;&#10;Descripción generada automáticamente" id="460" name="Google Shape;46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5636" y="3208573"/>
            <a:ext cx="6555475" cy="31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66" name="Google Shape;466;p63"/>
          <p:cNvSpPr txBox="1"/>
          <p:nvPr>
            <p:ph idx="1" type="body"/>
          </p:nvPr>
        </p:nvSpPr>
        <p:spPr>
          <a:xfrm>
            <a:off x="581192" y="1911212"/>
            <a:ext cx="8451972" cy="1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2.	Clases en diferentes paquetes</a:t>
            </a:r>
            <a:endParaRPr/>
          </a:p>
        </p:txBody>
      </p:sp>
      <p:sp>
        <p:nvSpPr>
          <p:cNvPr id="467" name="Google Shape;467;p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nterfaz de usuario gráfica, Texto&#10;&#10;Descripción generada automáticamente" id="468" name="Google Shape;4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6146" y="3120248"/>
            <a:ext cx="5702075" cy="32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74" name="Google Shape;474;p66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Login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5" name="Google Shape;475;p66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76" name="Google Shape;47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300" y="1911200"/>
            <a:ext cx="282892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b9630aa3_8_31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82" name="Google Shape;482;g3a5b9630aa3_8_31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Móvil - Menú Principal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3" name="Google Shape;483;g3a5b9630aa3_8_3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84" name="Google Shape;484;g3a5b9630aa3_8_3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538" y="2617150"/>
            <a:ext cx="2181225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5b9630aa3_8_32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0" name="Google Shape;490;g3a5b9630aa3_8_32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Móvil - Realizar Depósito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1" name="Google Shape;491;g3a5b9630aa3_8_3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92" name="Google Shape;492;g3a5b9630aa3_8_3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0338" y="2617150"/>
            <a:ext cx="233362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5b9630aa3_8_33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8" name="Google Shape;498;g3a5b9630aa3_8_33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Nueva Venta - Paso 2: Carrito Confirmado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9" name="Google Shape;499;g3a5b9630aa3_8_3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00" name="Google Shape;500;g3a5b9630aa3_8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5825" y="2421800"/>
            <a:ext cx="2002650" cy="43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5b9630aa3_8_34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06" name="Google Shape;506;g3a5b9630aa3_8_34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Móvil - Realizar Retiro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7" name="Google Shape;507;g3a5b9630aa3_8_3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08" name="Google Shape;508;g3a5b9630aa3_8_3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25" y="2796075"/>
            <a:ext cx="215265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5b9630aa3_8_35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14" name="Google Shape;514;g3a5b9630aa3_8_35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97237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Móvil - Realizar Transferencia con mensaje exitoso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5" name="Google Shape;515;g3a5b9630aa3_8_3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16" name="Google Shape;516;g3a5b9630aa3_8_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588" y="2617150"/>
            <a:ext cx="214312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22" name="Google Shape;522;g3a5b9630aa3_8_367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Capturas del Sistema Móvil: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Cliente Móvil - Consultar Movimientos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3" name="Google Shape;523;g3a5b9630aa3_8_36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24" name="Google Shape;524;g3a5b9630aa3_8_3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25" y="2757200"/>
            <a:ext cx="215265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0" name="Google Shape;530;p68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Arquitectura de Software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1" name="Google Shape;531;p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32" name="Google Shape;53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675" y="1911200"/>
            <a:ext cx="3642600" cy="480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8" name="Google Shape;538;p69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de Casos de Uso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40" name="Google Shape;54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13" y="2494355"/>
            <a:ext cx="7679755" cy="413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5b9630aa3_8_476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46" name="Google Shape;546;g3a5b9630aa3_8_476"/>
          <p:cNvSpPr txBox="1"/>
          <p:nvPr>
            <p:ph idx="1" type="body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de Casos de Uso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7" name="Google Shape;547;g3a5b9630aa3_8_47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48" name="Google Shape;548;g3a5b9630aa3_8_4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175" y="2474387"/>
            <a:ext cx="3455010" cy="413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54" name="Google Shape;554;p70"/>
          <p:cNvSpPr txBox="1"/>
          <p:nvPr>
            <p:ph idx="1" type="body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>
                <a:latin typeface="Cambria"/>
                <a:ea typeface="Cambria"/>
                <a:cs typeface="Cambria"/>
                <a:sym typeface="Cambria"/>
              </a:rPr>
              <a:t>Diagrama de Diagrama Eureka Bank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56" name="Google Shape;5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63" y="2617050"/>
            <a:ext cx="6514650" cy="40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62" name="Google Shape;562;p71"/>
          <p:cNvSpPr txBox="1"/>
          <p:nvPr>
            <p:ph idx="1" type="body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Se implementó exitosamente un sistema bancario completo basado en servicios web SOAP, demostrando la viabilidad y beneficios de la Arquitectura Orientada a Servicios (SOA) para aplicaciones empresariales complejas.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La separación de responsabilidades en tres capas (Presentación, Lógica de Negocio y Datos) facilitó el desarrollo paralelo, el mantenimiento y las pruebas independientes de cada componente.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El uso de patrones de diseño como DAO, DTO y Service Layer mejoró significativamente la calidad del código, facilitando su comprensión, mantenimiento y extensibilidad futura.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17982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La implementación de cuatro tipos de clientes diferentes (Consola, Escritorio, Web y Móvil) desde una única API de servicios web SOAP demostró la interoperabilidad y reutilización efectiva de la lógica de negocio.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90226" lvl="0" marL="3060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3" name="Google Shape;563;p7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69" name="Google Shape;569;p72"/>
          <p:cNvSpPr txBox="1"/>
          <p:nvPr>
            <p:ph idx="1" type="body"/>
          </p:nvPr>
        </p:nvSpPr>
        <p:spPr>
          <a:xfrm>
            <a:off x="581206" y="2440053"/>
            <a:ext cx="8500800" cy="24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/>
          </a:bodyPr>
          <a:lstStyle/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Implementar medidas de seguridad adicionales como autenticación de dos factores (2FA) y encriptación end-to-end para proteger la información financiera sensible de los clientes y garantizar transacciones seguras en el sistema bancario.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Migrar gradualmente de SOAP a arquitecturas REST o GraphQL para aprovechar las ventajas de APIs más ligeras y modernas, manteniendo compatibilidad con sistemas legacy mediante gateways.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Implementar un sistema de notificaciones en tiempo real que alerte a los clientes sobre movimientos bancarios, saldos bajos y operaciones sospechosas, mejorando la experiencia de usuario y la seguridad.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just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• Añadir pruebas automatizadas unitarias e integración continua (CI/CD) para garantizar la calidad del código y facilitar el despliegue de nuevas funcionalidades sin interrumpir el servicio.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0" name="Google Shape;570;p7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BIBLIOGRAFÍA</a:t>
            </a:r>
            <a:endParaRPr/>
          </a:p>
        </p:txBody>
      </p:sp>
      <p:sp>
        <p:nvSpPr>
          <p:cNvPr id="576" name="Google Shape;576;p73"/>
          <p:cNvSpPr txBox="1"/>
          <p:nvPr>
            <p:ph idx="1" type="body"/>
          </p:nvPr>
        </p:nvSpPr>
        <p:spPr>
          <a:xfrm>
            <a:off x="581200" y="2180501"/>
            <a:ext cx="8571600" cy="43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[1]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Microsoft .NET Framework Documentation. https://docs.microsoft.com/en-us/dotnet/framework/ Documentación oficial de .NET Framework 4.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8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>
                <a:latin typeface="Cambria"/>
                <a:ea typeface="Cambria"/>
                <a:cs typeface="Cambria"/>
                <a:sym typeface="Cambria"/>
              </a:rPr>
              <a:t>[2]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Windows Communication Foundation (WCF) Documentation. https://docs.microsoft.com/en-us/dotnet/framework/wcf/ Especificación y guías de WCF para servicios SOAP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[3] ASP.NET Web Services Documentation. https://docs.microsoft.com/en-us/aspnet/web-forms/ Documentación de ASP.NET Web Forms y servicios web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[4]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JPA/Hibernate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Documentation. https://docs.microsoft.com/en-us/ef/ Documentación oficial de 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JPA/Hibernate</a:t>
            </a:r>
            <a:r>
              <a:rPr lang="es-ES">
                <a:latin typeface="Cambria"/>
                <a:ea typeface="Cambria"/>
                <a:cs typeface="Cambria"/>
                <a:sym typeface="Cambria"/>
              </a:rPr>
              <a:t> para acceso a datos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[5] SQL Server LocalDB Documentation. https://docs.microsoft.com/en-us/sql/database-engine/configure-windows/sql-server-express-localdb Documentación de SQL Server Express LocalDB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7" name="Google Shape;577;p73"/>
          <p:cNvSpPr/>
          <p:nvPr/>
        </p:nvSpPr>
        <p:spPr>
          <a:xfrm>
            <a:off x="9377946" y="-5751"/>
            <a:ext cx="2808303" cy="6858000"/>
          </a:xfrm>
          <a:prstGeom prst="rect">
            <a:avLst/>
          </a:prstGeom>
          <a:solidFill>
            <a:schemeClr val="accent1"/>
          </a:solidFill>
          <a:ln cap="rnd" cmpd="sng" w="22225">
            <a:solidFill>
              <a:srgbClr val="122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5435" lvl="0" marL="3054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MARCO TEÓRICO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CONCEPTUAL DE LA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CREAR BASE DE DATOS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1" marL="7626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b="1" i="0" sz="1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05435" lvl="0" marL="305435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b="1" i="0" lang="es-ES" sz="1200" u="none" cap="none" strike="noStrik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BIBLIOGRAFÍA</a:t>
            </a:r>
            <a:endParaRPr b="1" i="0" sz="1200" u="none" cap="none" strike="noStrik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2020-08-13T07:15:02Z</dcterms:created>
  <dc:creator>Michael Villarruel</dc:creator>
</cp:coreProperties>
</file>