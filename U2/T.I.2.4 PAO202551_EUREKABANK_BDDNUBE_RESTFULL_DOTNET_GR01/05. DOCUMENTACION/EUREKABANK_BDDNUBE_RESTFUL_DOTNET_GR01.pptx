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</p:sldIdLst>
  <p:sldSz cy="6858000" cx="12192000"/>
  <p:notesSz cx="6858000" cy="9144000"/>
  <p:embeddedFontLst>
    <p:embeddedFont>
      <p:font typeface="Gill Sans"/>
      <p:regular r:id="rId61"/>
      <p:bold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3" roundtripDataSignature="AMtx7miO3KRlGJOARqvkt8rpHi+LUvlA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GillSans-bold.fntdata"/><Relationship Id="rId61" Type="http://schemas.openxmlformats.org/officeDocument/2006/relationships/font" Target="fonts/GillSans-regular.fntdata"/><Relationship Id="rId20" Type="http://schemas.openxmlformats.org/officeDocument/2006/relationships/slide" Target="slides/slide16.xml"/><Relationship Id="rId63" Type="http://customschemas.google.com/relationships/presentationmetadata" Target="meta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5b9630aa3_8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a5b9630aa3_8_4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5b9630aa3_7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a5b9630aa3_7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5b9630aa3_7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a5b9630aa3_7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5b9630aa3_8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a5b9630aa3_8_4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5b9630aa3_8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g3a5b9630aa3_8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5b9630aa3_8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g3a5b9630aa3_8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5b9630aa3_8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g3a5b9630aa3_8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5b9630aa3_8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g3a5b9630aa3_8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6" name="Google Shape;326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4" name="Google Shape;35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a5b9630aa3_8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g3a5b9630aa3_8_2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a5b9630aa3_8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g3a5b9630aa3_8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5b9630aa3_8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0" name="Google Shape;380;g3a5b9630aa3_8_1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a5b9630aa3_8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g3a5b9630aa3_8_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5b9630aa3_8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8" name="Google Shape;398;g3a5b9630aa3_8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7" name="Google Shape;407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5" name="Google Shape;415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5b9630aa3_8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3" name="Google Shape;423;g3a5b9630aa3_8_2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5b9630aa3_8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1" name="Google Shape;431;g3a5b9630aa3_8_2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a5b9630aa3_8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9" name="Google Shape;439;g3a5b9630aa3_8_2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7" name="Google Shape;447;g3a5b9630aa3_8_2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5" name="Google Shape;455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3" name="Google Shape;463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1" name="Google Shape;471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a5b9630aa3_8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9" name="Google Shape;479;g3a5b9630aa3_8_3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a5b9630aa3_8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7" name="Google Shape;487;g3a5b9630aa3_8_3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a5b9630aa3_8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5" name="Google Shape;495;g3a5b9630aa3_8_3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5b9630aa3_8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3" name="Google Shape;503;g3a5b9630aa3_8_3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1" name="Google Shape;511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9" name="Google Shape;519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a5b9630aa3_8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7" name="Google Shape;527;g3a5b9630aa3_8_4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5" name="Google Shape;535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3" name="Google Shape;543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0" name="Google Shape;550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7" name="Google Shape;557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5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75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5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75"/>
          <p:cNvSpPr txBox="1"/>
          <p:nvPr>
            <p:ph idx="10" type="dt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5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6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7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6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5" name="Google Shape;25;p7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6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7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77"/>
          <p:cNvSpPr txBox="1"/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7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77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7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8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78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8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9" name="Google Shape;39;p78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0" name="Google Shape;40;p78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8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8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9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79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9"/>
          <p:cNvSpPr txBox="1"/>
          <p:nvPr>
            <p:ph idx="1" type="body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7" name="Google Shape;47;p79"/>
          <p:cNvSpPr txBox="1"/>
          <p:nvPr>
            <p:ph idx="2" type="body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8" name="Google Shape;48;p79"/>
          <p:cNvSpPr txBox="1"/>
          <p:nvPr>
            <p:ph idx="3" type="body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9" name="Google Shape;49;p79"/>
          <p:cNvSpPr txBox="1"/>
          <p:nvPr>
            <p:ph idx="4" type="body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0" name="Google Shape;50;p79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9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9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0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0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0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7" name="Google Shape;57;p80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80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2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2"/>
          <p:cNvSpPr txBox="1"/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b="0" sz="200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2"/>
          <p:cNvSpPr txBox="1"/>
          <p:nvPr>
            <p:ph idx="1" type="body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82"/>
          <p:cNvSpPr txBox="1"/>
          <p:nvPr>
            <p:ph idx="2" type="body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68" name="Google Shape;68;p82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2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3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3"/>
          <p:cNvSpPr/>
          <p:nvPr>
            <p:ph idx="2" type="pic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83"/>
          <p:cNvSpPr txBox="1"/>
          <p:nvPr>
            <p:ph idx="1" type="body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5" name="Google Shape;75;p8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3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4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84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84"/>
          <p:cNvSpPr txBox="1"/>
          <p:nvPr>
            <p:ph idx="1" type="body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3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2" name="Google Shape;82;p8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84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5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85"/>
          <p:cNvSpPr txBox="1"/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85"/>
          <p:cNvSpPr txBox="1"/>
          <p:nvPr>
            <p:ph idx="1" type="body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9" name="Google Shape;89;p85"/>
          <p:cNvSpPr txBox="1"/>
          <p:nvPr>
            <p:ph idx="10" type="dt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85"/>
          <p:cNvSpPr txBox="1"/>
          <p:nvPr>
            <p:ph idx="11" type="ftr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85"/>
          <p:cNvSpPr txBox="1"/>
          <p:nvPr>
            <p:ph idx="12" type="sldNum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4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4"/>
          <p:cNvSpPr txBox="1"/>
          <p:nvPr>
            <p:ph idx="1" type="body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7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7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74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" name="Google Shape;11;p74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74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74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type="ctrTitle"/>
          </p:nvPr>
        </p:nvSpPr>
        <p:spPr>
          <a:xfrm>
            <a:off x="552600" y="3192998"/>
            <a:ext cx="10993500" cy="135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>
                <a:solidFill>
                  <a:schemeClr val="lt1"/>
                </a:solidFill>
              </a:rPr>
              <a:t>SISTEMA BANCARIO EUREKA BANK CON RESTFUL DOTNET Y BASE DE DATOS EN LA NUBE</a:t>
            </a:r>
            <a:endParaRPr/>
          </a:p>
        </p:txBody>
      </p:sp>
      <p:sp>
        <p:nvSpPr>
          <p:cNvPr id="97" name="Google Shape;97;p1"/>
          <p:cNvSpPr txBox="1"/>
          <p:nvPr>
            <p:ph idx="1" type="subTitle"/>
          </p:nvPr>
        </p:nvSpPr>
        <p:spPr>
          <a:xfrm>
            <a:off x="1355001" y="4572000"/>
            <a:ext cx="4261500" cy="18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>
                <a:solidFill>
                  <a:schemeClr val="lt1"/>
                </a:solidFill>
              </a:rPr>
              <a:t>INTEGRANTES: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>
                <a:solidFill>
                  <a:schemeClr val="lt1"/>
                </a:solidFill>
              </a:rPr>
              <a:t>Cristian Jose Acalo Cruz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>
                <a:solidFill>
                  <a:schemeClr val="lt1"/>
                </a:solidFill>
              </a:rPr>
              <a:t>Javier Cristobal Gonzaga Peñafiel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>
                <a:solidFill>
                  <a:schemeClr val="lt1"/>
                </a:solidFill>
              </a:rPr>
              <a:t>Jefferson Leonardo Obando Carlosama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descr="Resultado de imagen para espe"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6909663" y="4572001"/>
            <a:ext cx="4261500" cy="12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1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11/12/2025</a:t>
            </a:r>
            <a:endParaRPr b="1" i="0" sz="16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1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ING: MAURICIO CAMPAÑA</a:t>
            </a:r>
            <a:endParaRPr b="1" i="0" sz="16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2"/>
          <p:cNvSpPr txBox="1"/>
          <p:nvPr>
            <p:ph idx="1" type="body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9870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MARCO TEÓRICO</a:t>
            </a:r>
            <a:endParaRPr>
              <a:solidFill>
                <a:schemeClr val="lt1"/>
              </a:solidFill>
            </a:endParaRPr>
          </a:p>
          <a:p>
            <a:pPr indent="-298704" lvl="0" marL="4572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DESARROLLO</a:t>
            </a:r>
            <a:endParaRPr b="1" sz="1200">
              <a:solidFill>
                <a:schemeClr val="lt1"/>
              </a:solidFill>
            </a:endParaRPr>
          </a:p>
          <a:p>
            <a:pPr indent="-298704" lvl="1" marL="9144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OBJETIVO</a:t>
            </a:r>
            <a:endParaRPr b="1" sz="1200">
              <a:solidFill>
                <a:schemeClr val="lt1"/>
              </a:solidFill>
            </a:endParaRPr>
          </a:p>
          <a:p>
            <a:pPr indent="-298704" lvl="1" marL="9144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MODELO CONCEPTUAL DE LA BASE DE DATOS</a:t>
            </a:r>
            <a:endParaRPr b="1" sz="1200">
              <a:solidFill>
                <a:schemeClr val="lt1"/>
              </a:solidFill>
            </a:endParaRPr>
          </a:p>
          <a:p>
            <a:pPr indent="-298704" lvl="1" marL="9144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CREAR BASE DE DATOS</a:t>
            </a:r>
            <a:endParaRPr b="1" sz="1200">
              <a:solidFill>
                <a:schemeClr val="lt1"/>
              </a:solidFill>
            </a:endParaRPr>
          </a:p>
          <a:p>
            <a:pPr indent="-298704" lvl="1" marL="9144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CREACIÓN DEL SERVIDOR APIs RESTful .NET</a:t>
            </a:r>
            <a:endParaRPr b="1" sz="1200">
              <a:solidFill>
                <a:schemeClr val="lt1"/>
              </a:solidFill>
            </a:endParaRPr>
          </a:p>
          <a:p>
            <a:pPr indent="-298704" lvl="1" marL="9144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CREACIÓN DEL PROYECTO – CLIENTE CONSOLA</a:t>
            </a:r>
            <a:endParaRPr b="1" sz="1200">
              <a:solidFill>
                <a:schemeClr val="lt1"/>
              </a:solidFill>
            </a:endParaRPr>
          </a:p>
          <a:p>
            <a:pPr indent="-298704" lvl="1" marL="9144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CREACIÓN DEL PROYECTO – CLIENTE ESCRITORIO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704" lvl="1" marL="9144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CREACIÓN DEL PROYECTO – CLIENTE WEB</a:t>
            </a:r>
            <a:endParaRPr b="1" sz="1200">
              <a:solidFill>
                <a:schemeClr val="lt1"/>
              </a:solidFill>
            </a:endParaRPr>
          </a:p>
          <a:p>
            <a:pPr indent="-298704" lvl="1" marL="9144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CREACIÓN DEL PROYECTO – CLIENTE MÓVIL</a:t>
            </a:r>
            <a:endParaRPr b="1" sz="1200">
              <a:solidFill>
                <a:schemeClr val="lt1"/>
              </a:solidFill>
            </a:endParaRPr>
          </a:p>
          <a:p>
            <a:pPr indent="-298704" lvl="1" marL="9144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DIAGRAMAS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704" lvl="0" marL="4572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CONCLUSIONES</a:t>
            </a:r>
            <a:endParaRPr b="1" sz="1200">
              <a:solidFill>
                <a:schemeClr val="lt1"/>
              </a:solidFill>
            </a:endParaRPr>
          </a:p>
          <a:p>
            <a:pPr indent="-298704" lvl="0" marL="4572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RECOMENDACIONES</a:t>
            </a:r>
            <a:endParaRPr b="1" sz="1200">
              <a:solidFill>
                <a:schemeClr val="lt1"/>
              </a:solidFill>
            </a:endParaRPr>
          </a:p>
          <a:p>
            <a:pPr indent="-298704" lvl="0" marL="4572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BIBLIOGRAFÍA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79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/>
          </a:blip>
          <a:srcRect b="5437" l="0" r="0" t="0"/>
          <a:stretch/>
        </p:blipFill>
        <p:spPr>
          <a:xfrm>
            <a:off x="4343750" y="1869813"/>
            <a:ext cx="7678700" cy="311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MARCO TEÓRICO</a:t>
            </a:r>
            <a:endParaRPr/>
          </a:p>
        </p:txBody>
      </p:sp>
      <p:sp>
        <p:nvSpPr>
          <p:cNvPr id="115" name="Google Shape;115;p3"/>
          <p:cNvSpPr txBox="1"/>
          <p:nvPr>
            <p:ph idx="1" type="body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1.1 ARQUITECTURA ORIENTADA A APIs RESTful CON .NET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Las APIs RESTful con .NET representan un enfoque moderno para desarrollar servicios web escalables y mantenibles. Este proyecto implementa APIs desarrolladas en ASP.NET Core (C#), desplegadas en Microsoft Azure, que facilitan la integración entre el sistema de comercialización de electrodomésticos y el módulo de créditos de Eureka Bank mediante servicios RESTful.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Características principales: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Interoperabilidad entre sistemas heterogéneos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Reutilización de servicios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Acoplamiento débil entre componentes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Escalabilidad y mantenibilidad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5b9630aa3_8_470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MARCO TEÓRICO</a:t>
            </a:r>
            <a:endParaRPr/>
          </a:p>
        </p:txBody>
      </p:sp>
      <p:sp>
        <p:nvSpPr>
          <p:cNvPr id="122" name="Google Shape;122;g3a5b9630aa3_8_470"/>
          <p:cNvSpPr txBox="1"/>
          <p:nvPr>
            <p:ph idx="1" type="body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1.2 SERVICIOS WEB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APIs RESTful .NET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REST (Representational State Transfer) es un estilo arquitectónico para servicios web que utiliza HTTP y JSON. En este proyecto, se implementan APIs RESTful mediante ASP.NET Core Web API en C#, desplegadas en Microsoft Azure Cloud.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Ventajas de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APIs RESTful .NET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: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Ligero y de alto rendimiento (JSON sobre HTTP)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Seguridad mediante HTTPS y OAuth 2.0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Transacciones distribuidas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Independencia de plataforma y lenguaje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g3a5b9630aa3_8_47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5b9630aa3_7_7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/>
              <a:t>MARCO TEÓRICO</a:t>
            </a:r>
            <a:endParaRPr/>
          </a:p>
        </p:txBody>
      </p:sp>
      <p:sp>
        <p:nvSpPr>
          <p:cNvPr id="129" name="Google Shape;129;g3a5b9630aa3_7_7"/>
          <p:cNvSpPr txBox="1"/>
          <p:nvPr>
            <p:ph idx="1" type="body"/>
          </p:nvPr>
        </p:nvSpPr>
        <p:spPr>
          <a:xfrm>
            <a:off x="581198" y="2180500"/>
            <a:ext cx="8590800" cy="36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1.3 TECNOLOGÍAS UTILIZADAS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El proyecto implementa un stack tecnológico robusto basado en el ecosistema Microsoft .NET: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Lenguaje Backend: C# 10 / ASP.NET Core 6.0+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Lenguaje Clientes: .NET Framework 4.8+ / .NET 6+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Servidor Web: IIS (Internet Information Services) / Kestrel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ORM: Entity Framework Core 6.0+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Base de Datos: Azure SQL Database (Microsoft Azure Cloud)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IDE: Visual Studio 2022 / Visual Studio Code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Build Tool: MSBuild / dotnet CLI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Estas tecnologías garantizan un desarrollo eficiente, mantenible y escalable del sistema de integración bancaria.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ct val="61109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0" name="Google Shape;130;g3a5b9630aa3_7_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5b9630aa3_7_14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/>
              <a:t>MARCO TEÓRICO</a:t>
            </a:r>
            <a:endParaRPr/>
          </a:p>
        </p:txBody>
      </p:sp>
      <p:sp>
        <p:nvSpPr>
          <p:cNvPr id="136" name="Google Shape;136;g3a5b9630aa3_7_14"/>
          <p:cNvSpPr txBox="1"/>
          <p:nvPr>
            <p:ph idx="1" type="body"/>
          </p:nvPr>
        </p:nvSpPr>
        <p:spPr>
          <a:xfrm>
            <a:off x="581198" y="2180500"/>
            <a:ext cx="8562900" cy="36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1109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1.4 ARQUITECTURA EN CAPAS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09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09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El sistema se estructura en tres capas lógicas principales que garantizan la separación de responsabilidades: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09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09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Capa de Presentación: Compuesta por aplicaciones cliente (Consola, Escritorio, Web, Móvil) que interactúan con el usuario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09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Capa de Lógica de Negocio: Contiene los servicios web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APIs RESTful .NET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(Servicio EurekaBank) que implementan las reglas de negocio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09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Capa de Acceso a Datos: Utiliza Entity Framework Core para la comunicación con las bases de datos EurekaBank_db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09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09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Esta arquitectura facilita el mantenimiento, testing y escalabilidad del sistema.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99459"/>
              <a:buNone/>
            </a:pPr>
            <a:r>
              <a:t/>
            </a:r>
            <a:endParaRPr/>
          </a:p>
        </p:txBody>
      </p:sp>
      <p:sp>
        <p:nvSpPr>
          <p:cNvPr id="137" name="Google Shape;137;g3a5b9630aa3_7_1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5b9630aa3_8_462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3" name="Google Shape;143;g3a5b9630aa3_8_462"/>
          <p:cNvSpPr txBox="1"/>
          <p:nvPr>
            <p:ph idx="1" type="body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33756" lvl="0" marL="4572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2.1    OBJETIVO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33756" lvl="0" marL="4572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33756" lvl="0" marL="4572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Desarrollar un sistema bancario integral basado en una Arquitectura Orientada a Servicios (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APIs RESTful .NET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) que implemente funcionalidades de gestión de cuentas, transacciones, depósitos, retiros y transferencias del Banco Eureka Bank, con el fin de automatizar y agilizar las operaciones bancarias mediante múltiples clientes multiplataforma.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4" name="Google Shape;144;g3a5b9630aa3_8_46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50" name="Google Shape;150;p4"/>
          <p:cNvSpPr txBox="1"/>
          <p:nvPr>
            <p:ph idx="1" type="body"/>
          </p:nvPr>
        </p:nvSpPr>
        <p:spPr>
          <a:xfrm>
            <a:off x="581192" y="1971721"/>
            <a:ext cx="8589300" cy="13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33756" lvl="0" marL="4572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2.2    MODELO CONCEPTUAL DE LA BASE DE DATOS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33756" lvl="0" marL="4572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1.      A continuación, se presenta el modelo conceptual de la base de datos "EurekaBank" desplegada en Azure en la nube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52" name="Google Shape;15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5963" y="3135800"/>
            <a:ext cx="5819775" cy="36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58" name="Google Shape;158;p5"/>
          <p:cNvSpPr txBox="1"/>
          <p:nvPr>
            <p:ph idx="1" type="body"/>
          </p:nvPr>
        </p:nvSpPr>
        <p:spPr>
          <a:xfrm>
            <a:off x="595569" y="1849818"/>
            <a:ext cx="8589441" cy="1248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2.3	CREAR BASE DE DATOS</a:t>
            </a:r>
            <a:endParaRPr/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Al abrir Azure  se crean las bases de datos EurekaBank_db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a captura de pantalla de una computadora&#10;&#10;Descripción generada automáticamente" id="161" name="Google Shape;161;p5"/>
          <p:cNvPicPr preferRelativeResize="0"/>
          <p:nvPr/>
        </p:nvPicPr>
        <p:blipFill rotWithShape="1">
          <a:blip r:embed="rId3">
            <a:alphaModFix/>
          </a:blip>
          <a:srcRect b="7440" l="4565" r="2824" t="14647"/>
          <a:stretch/>
        </p:blipFill>
        <p:spPr>
          <a:xfrm>
            <a:off x="1145975" y="3232200"/>
            <a:ext cx="6910199" cy="3270499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7" name="Google Shape;167;p7"/>
          <p:cNvSpPr txBox="1"/>
          <p:nvPr>
            <p:ph idx="1" type="body"/>
          </p:nvPr>
        </p:nvSpPr>
        <p:spPr>
          <a:xfrm>
            <a:off x="581192" y="1848998"/>
            <a:ext cx="8589441" cy="763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2.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4.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Ahora para insertar datos deberemos usar nuestro script Carga_Datos.sql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, copiamos y PEGAMOS su contenido en la herramienta y verificamos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69" name="Google Shape;1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1763" y="2612175"/>
            <a:ext cx="2808299" cy="4087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75" name="Google Shape;175;p8"/>
          <p:cNvSpPr txBox="1"/>
          <p:nvPr>
            <p:ph idx="1" type="body"/>
          </p:nvPr>
        </p:nvSpPr>
        <p:spPr>
          <a:xfrm>
            <a:off x="450550" y="1919250"/>
            <a:ext cx="87960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10000"/>
          </a:bodyPr>
          <a:lstStyle/>
          <a:p>
            <a:pPr indent="-327126" lvl="0" marL="3429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Font typeface="Noto Sans Symbols"/>
              <a:buChar char="∙"/>
            </a:pP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2.4	Creación del Servidor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APIs RESTful .NET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08235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Para comenzar con la creación 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del proyecto servidor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se procede a crear un nuevo proyecto en Visual Studio 2022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el proyecto 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que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se deberá seleccionar es del tipo Aplicación ASP.NET Core Web API.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Font typeface="Noto Sans Symbols"/>
              <a:buNone/>
            </a:pPr>
            <a:r>
              <a:t/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78" name="Google Shape;1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2172" y="3136258"/>
            <a:ext cx="5052757" cy="3407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4" name="Google Shape;184;p9"/>
          <p:cNvSpPr txBox="1"/>
          <p:nvPr>
            <p:ph idx="1" type="body"/>
          </p:nvPr>
        </p:nvSpPr>
        <p:spPr>
          <a:xfrm>
            <a:off x="390692" y="1962876"/>
            <a:ext cx="8589441" cy="609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2.	Luego ajustar las configuraciones del servidor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elegir proyecto vacío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nterfaz de usuario gráfica, Texto, Aplicación, Correo electrónico&#10;&#10;Descripción generada automáticamente" id="187" name="Google Shape;18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5392" y="2819397"/>
            <a:ext cx="5400040" cy="3704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93" name="Google Shape;193;p10"/>
          <p:cNvSpPr txBox="1"/>
          <p:nvPr>
            <p:ph idx="1" type="body"/>
          </p:nvPr>
        </p:nvSpPr>
        <p:spPr>
          <a:xfrm>
            <a:off x="581191" y="1905093"/>
            <a:ext cx="8589441" cy="529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3. Ahora se crea la estructura del proyecto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nterfaz de usuario gráfica, Texto, Aplicación&#10;&#10;Descripción generada automáticamente" id="196" name="Google Shape;1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288" y="2782728"/>
            <a:ext cx="7077248" cy="376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02" name="Google Shape;202;p11"/>
          <p:cNvSpPr txBox="1"/>
          <p:nvPr>
            <p:ph idx="1" type="body"/>
          </p:nvPr>
        </p:nvSpPr>
        <p:spPr>
          <a:xfrm>
            <a:off x="581192" y="1962603"/>
            <a:ext cx="8589441" cy="5652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4. Ahora se crea una clase para hacer Conexión a la BDD y se codifica su lógica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nterfaz de usuario gráfica, Texto, Aplicación, Correo electrónico&#10;&#10;Descripción generada automáticamente" id="205" name="Google Shape;2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7663" y="2957196"/>
            <a:ext cx="6756501" cy="33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11" name="Google Shape;211;p13"/>
          <p:cNvSpPr txBox="1"/>
          <p:nvPr>
            <p:ph idx="1" type="body"/>
          </p:nvPr>
        </p:nvSpPr>
        <p:spPr>
          <a:xfrm>
            <a:off x="581192" y="1721974"/>
            <a:ext cx="8589441" cy="845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5. Ahora en la carpeta Servicio creamos la clase CreditoService y CreditoValidatorService para manejar las funciones que se utilizarán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nterfaz de usuario gráfica, Texto, Aplicación&#10;&#10;Descripción generada automáticamente" id="214" name="Google Shape;2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6860" y="2831125"/>
            <a:ext cx="5098099" cy="36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0" name="Google Shape;220;p15"/>
          <p:cNvSpPr txBox="1"/>
          <p:nvPr>
            <p:ph idx="1" type="body"/>
          </p:nvPr>
        </p:nvSpPr>
        <p:spPr>
          <a:xfrm>
            <a:off x="580915" y="1952011"/>
            <a:ext cx="8531932" cy="601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7. Se procede a codificar la lógica para usar los métodos desarrollados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</p:txBody>
      </p:sp>
      <p:sp>
        <p:nvSpPr>
          <p:cNvPr id="221" name="Google Shape;221;p15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22" name="Google Shape;2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875" y="2469499"/>
            <a:ext cx="3579525" cy="430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5675" y="2469499"/>
            <a:ext cx="3684803" cy="430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9" name="Google Shape;229;p17"/>
          <p:cNvSpPr txBox="1"/>
          <p:nvPr>
            <p:ph idx="1" type="body"/>
          </p:nvPr>
        </p:nvSpPr>
        <p:spPr>
          <a:xfrm>
            <a:off x="581192" y="1902964"/>
            <a:ext cx="8589441" cy="883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/>
          </a:bodyPr>
          <a:lstStyle/>
          <a:p>
            <a:pPr indent="-294322" lvl="0" marL="4572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7.1    CLIENTE CONSOLA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47199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294322" lvl="0" marL="4572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Cliente de línea de comandos desarrollado en Java que permite realizar operaciones bancarias mediante una interfaz de texto: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47199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Texto&#10;&#10;Descripción generada automáticamente" id="232" name="Google Shape;2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1368" y="3285676"/>
            <a:ext cx="4529079" cy="2263556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8" name="Google Shape;238;p18"/>
          <p:cNvSpPr txBox="1"/>
          <p:nvPr>
            <p:ph idx="1" type="body"/>
          </p:nvPr>
        </p:nvSpPr>
        <p:spPr>
          <a:xfrm>
            <a:off x="581192" y="1902964"/>
            <a:ext cx="8589441" cy="883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1. 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Se crea un cliente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consola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 Tomar en cuenta que el proyecto servidor debe estar desplegado,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y configurar las rutas del aplicativo.</a:t>
            </a:r>
            <a:endParaRPr/>
          </a:p>
        </p:txBody>
      </p:sp>
      <p:sp>
        <p:nvSpPr>
          <p:cNvPr id="239" name="Google Shape;239;p18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nterfaz de usuario gráfica, Texto, Aplicación&#10;&#10;Descripción generada automáticamente" id="241" name="Google Shape;2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1292" y="3229272"/>
            <a:ext cx="5449248" cy="3017708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47" name="Google Shape;247;p19"/>
          <p:cNvSpPr txBox="1"/>
          <p:nvPr>
            <p:ph idx="1" type="body"/>
          </p:nvPr>
        </p:nvSpPr>
        <p:spPr>
          <a:xfrm>
            <a:off x="581192" y="1902964"/>
            <a:ext cx="8589441" cy="883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2. Se crea la estructura del proyecto consola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50" name="Google Shape;2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6716" y="2786503"/>
            <a:ext cx="4138400" cy="3717300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56" name="Google Shape;256;p20"/>
          <p:cNvSpPr txBox="1"/>
          <p:nvPr>
            <p:ph idx="1" type="body"/>
          </p:nvPr>
        </p:nvSpPr>
        <p:spPr>
          <a:xfrm>
            <a:off x="581192" y="1902964"/>
            <a:ext cx="8589441" cy="883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3. Se procede a implementar los modelos necesario para llevar a cabo las acciones en el paquete Models. 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Texto&#10;&#10;Descripción generada automáticamente" id="259" name="Google Shape;2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199" y="2786500"/>
            <a:ext cx="4070050" cy="3678975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Texto&#10;&#10;Descripción generada automáticamente" id="260" name="Google Shape;26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0587" y="3190826"/>
            <a:ext cx="4070049" cy="2870328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66" name="Google Shape;266;p22"/>
          <p:cNvSpPr txBox="1"/>
          <p:nvPr>
            <p:ph idx="1" type="body"/>
          </p:nvPr>
        </p:nvSpPr>
        <p:spPr>
          <a:xfrm>
            <a:off x="581192" y="1902964"/>
            <a:ext cx="8589441" cy="883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4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Se procede a implementar el modelo necesario para llevar a cabo las acciones, esto en una clase Eureka. 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Texto&#10;&#10;Descripción generada automáticamente" id="269" name="Google Shape;2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3451" y="2786498"/>
            <a:ext cx="3745824" cy="3876575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75" name="Google Shape;275;p28"/>
          <p:cNvSpPr txBox="1"/>
          <p:nvPr>
            <p:ph idx="1" type="body"/>
          </p:nvPr>
        </p:nvSpPr>
        <p:spPr>
          <a:xfrm>
            <a:off x="581192" y="1897900"/>
            <a:ext cx="84585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Consola: Cliente Consola - Pantalla de Login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78" name="Google Shape;27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3575" y="2700250"/>
            <a:ext cx="3713750" cy="38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5b9630aa3_8_36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84" name="Google Shape;284;g3a5b9630aa3_8_36"/>
          <p:cNvSpPr txBox="1"/>
          <p:nvPr>
            <p:ph idx="1" type="body"/>
          </p:nvPr>
        </p:nvSpPr>
        <p:spPr>
          <a:xfrm>
            <a:off x="581192" y="1742375"/>
            <a:ext cx="84585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Consola: Cliente Consola - Menú Principal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5" name="Google Shape;285;g3a5b9630aa3_8_3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6" name="Google Shape;286;g3a5b9630aa3_8_3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87" name="Google Shape;287;g3a5b9630aa3_8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4613" y="2718325"/>
            <a:ext cx="5171675" cy="391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5b9630aa3_8_4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93" name="Google Shape;293;g3a5b9630aa3_8_45"/>
          <p:cNvSpPr txBox="1"/>
          <p:nvPr>
            <p:ph idx="1" type="body"/>
          </p:nvPr>
        </p:nvSpPr>
        <p:spPr>
          <a:xfrm>
            <a:off x="581192" y="1742375"/>
            <a:ext cx="84585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Consola: Cliente Consola - Realizar Depósito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4" name="Google Shape;294;g3a5b9630aa3_8_4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5" name="Google Shape;295;g3a5b9630aa3_8_4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96" name="Google Shape;296;g3a5b9630aa3_8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5213" y="2525350"/>
            <a:ext cx="5330475" cy="40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5b9630aa3_8_54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2" name="Google Shape;302;g3a5b9630aa3_8_54"/>
          <p:cNvSpPr txBox="1"/>
          <p:nvPr>
            <p:ph idx="1" type="body"/>
          </p:nvPr>
        </p:nvSpPr>
        <p:spPr>
          <a:xfrm>
            <a:off x="581192" y="1742375"/>
            <a:ext cx="84585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Consola: Cliente Consola - Realizar Retiro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03" name="Google Shape;303;g3a5b9630aa3_8_5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4" name="Google Shape;304;g3a5b9630aa3_8_5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05" name="Google Shape;305;g3a5b9630aa3_8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9725" y="2679450"/>
            <a:ext cx="5981450" cy="39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5b9630aa3_8_63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1" name="Google Shape;311;g3a5b9630aa3_8_63"/>
          <p:cNvSpPr txBox="1"/>
          <p:nvPr>
            <p:ph idx="1" type="body"/>
          </p:nvPr>
        </p:nvSpPr>
        <p:spPr>
          <a:xfrm>
            <a:off x="581192" y="1742375"/>
            <a:ext cx="84585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Consola: Cliente Consola – Realizar Transferencia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12" name="Google Shape;312;g3a5b9630aa3_8_6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3" name="Google Shape;313;g3a5b9630aa3_8_6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14" name="Google Shape;314;g3a5b9630aa3_8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325" y="2362775"/>
            <a:ext cx="352425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20" name="Google Shape;320;p29"/>
          <p:cNvSpPr txBox="1"/>
          <p:nvPr>
            <p:ph idx="1" type="body"/>
          </p:nvPr>
        </p:nvSpPr>
        <p:spPr>
          <a:xfrm>
            <a:off x="581192" y="1860969"/>
            <a:ext cx="8431632" cy="1114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Creación de Cliente Escritorio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	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Crear nuevo proyecto del tipo Aplicación de Windows Forms  (.NET Framework).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23" name="Google Shape;32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0889" y="3120282"/>
            <a:ext cx="6552249" cy="3578481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29" name="Google Shape;329;p31"/>
          <p:cNvSpPr txBox="1"/>
          <p:nvPr>
            <p:ph idx="1" type="body"/>
          </p:nvPr>
        </p:nvSpPr>
        <p:spPr>
          <a:xfrm>
            <a:off x="581192" y="1715956"/>
            <a:ext cx="8431632" cy="76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2. Crear una nueva clase en la carpeta Model, esta clase se llama CreateProducto y se estructura de 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la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siguiente manera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nterfaz de usuario gráfica&#10;&#10;Descripción generada automáticamente" id="332" name="Google Shape;33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031" y="3220023"/>
            <a:ext cx="3999844" cy="2860962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33" name="Google Shape;33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2454" y="3220023"/>
            <a:ext cx="3999843" cy="2860962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39" name="Google Shape;339;p32"/>
          <p:cNvSpPr txBox="1"/>
          <p:nvPr>
            <p:ph idx="1" type="body"/>
          </p:nvPr>
        </p:nvSpPr>
        <p:spPr>
          <a:xfrm>
            <a:off x="581192" y="1715956"/>
            <a:ext cx="8431632" cy="76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3.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Crear una nueva clase en la carpeta Metodos, esta clase se llama ProductoDTO y se estructura de 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la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siguiente manera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40" name="Google Shape;340;p32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1" name="Google Shape;341;p3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nterfaz de usuario gráfica&#10;&#10;Descripción generada automáticamente"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4252" y="2579071"/>
            <a:ext cx="5885499" cy="4053469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48" name="Google Shape;348;p33"/>
          <p:cNvSpPr txBox="1"/>
          <p:nvPr>
            <p:ph idx="1" type="body"/>
          </p:nvPr>
        </p:nvSpPr>
        <p:spPr>
          <a:xfrm>
            <a:off x="581192" y="1715956"/>
            <a:ext cx="8431632" cy="76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3.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Esta clase se llama Controlador y se estructura de 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la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siguiente manera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49" name="Google Shape;349;p3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0" name="Google Shape;350;p3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51" name="Google Shape;35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7026" y="2715600"/>
            <a:ext cx="6179976" cy="390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57" name="Google Shape;357;p35"/>
          <p:cNvSpPr txBox="1"/>
          <p:nvPr>
            <p:ph idx="1" type="body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Escritorio: Login</a:t>
            </a:r>
            <a:endParaRPr/>
          </a:p>
        </p:txBody>
      </p:sp>
      <p:sp>
        <p:nvSpPr>
          <p:cNvPr id="358" name="Google Shape;358;p35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9" name="Google Shape;359;p3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60" name="Google Shape;36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6113" y="3048775"/>
            <a:ext cx="5781675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5b9630aa3_8_297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66" name="Google Shape;366;g3a5b9630aa3_8_297"/>
          <p:cNvSpPr txBox="1"/>
          <p:nvPr>
            <p:ph idx="1" type="body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Escritorio: Cliente Escritorio - Menú Principal</a:t>
            </a:r>
            <a:endParaRPr/>
          </a:p>
        </p:txBody>
      </p:sp>
      <p:sp>
        <p:nvSpPr>
          <p:cNvPr id="367" name="Google Shape;367;g3a5b9630aa3_8_29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68" name="Google Shape;368;g3a5b9630aa3_8_2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000" y="2757200"/>
            <a:ext cx="6985900" cy="368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5b9630aa3_8_150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74" name="Google Shape;374;g3a5b9630aa3_8_150"/>
          <p:cNvSpPr txBox="1"/>
          <p:nvPr>
            <p:ph idx="1" type="body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Escritorio: Cliente Escritorio - Formulario de Depósito</a:t>
            </a:r>
            <a:endParaRPr/>
          </a:p>
        </p:txBody>
      </p:sp>
      <p:sp>
        <p:nvSpPr>
          <p:cNvPr id="375" name="Google Shape;375;g3a5b9630aa3_8_15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6" name="Google Shape;376;g3a5b9630aa3_8_15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77" name="Google Shape;377;g3a5b9630aa3_8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850" y="2811425"/>
            <a:ext cx="8044199" cy="361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5b9630aa3_8_159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83" name="Google Shape;383;g3a5b9630aa3_8_159"/>
          <p:cNvSpPr txBox="1"/>
          <p:nvPr>
            <p:ph idx="1" type="body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Escritorio: Cliente Escritorio - Formulario de Retiro</a:t>
            </a:r>
            <a:endParaRPr/>
          </a:p>
        </p:txBody>
      </p:sp>
      <p:sp>
        <p:nvSpPr>
          <p:cNvPr id="384" name="Google Shape;384;g3a5b9630aa3_8_15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5" name="Google Shape;385;g3a5b9630aa3_8_15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86" name="Google Shape;386;g3a5b9630aa3_8_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3950" y="2757225"/>
            <a:ext cx="7046000" cy="382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5b9630aa3_8_168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92" name="Google Shape;392;g3a5b9630aa3_8_168"/>
          <p:cNvSpPr txBox="1"/>
          <p:nvPr>
            <p:ph idx="1" type="body"/>
          </p:nvPr>
        </p:nvSpPr>
        <p:spPr>
          <a:xfrm>
            <a:off x="581192" y="1880649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Escritorio: Cliente Escritorio – Formulario de Transferencia</a:t>
            </a:r>
            <a:endParaRPr/>
          </a:p>
        </p:txBody>
      </p:sp>
      <p:sp>
        <p:nvSpPr>
          <p:cNvPr id="393" name="Google Shape;393;g3a5b9630aa3_8_16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4" name="Google Shape;394;g3a5b9630aa3_8_16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95" name="Google Shape;395;g3a5b9630aa3_8_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2163" y="2908550"/>
            <a:ext cx="6629575" cy="36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a5b9630aa3_8_177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01" name="Google Shape;401;g3a5b9630aa3_8_177"/>
          <p:cNvSpPr txBox="1"/>
          <p:nvPr>
            <p:ph idx="1" type="body"/>
          </p:nvPr>
        </p:nvSpPr>
        <p:spPr>
          <a:xfrm>
            <a:off x="581192" y="1880649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Escritorio: Cliente Escritorio - Consulta de Movimientos</a:t>
            </a:r>
            <a:endParaRPr/>
          </a:p>
        </p:txBody>
      </p:sp>
      <p:sp>
        <p:nvSpPr>
          <p:cNvPr id="402" name="Google Shape;402;g3a5b9630aa3_8_17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3" name="Google Shape;403;g3a5b9630aa3_8_17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04" name="Google Shape;404;g3a5b9630aa3_8_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75" y="2811350"/>
            <a:ext cx="7355549" cy="370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0" name="Google Shape;410;p46"/>
          <p:cNvSpPr txBox="1"/>
          <p:nvPr>
            <p:ph idx="1" type="body"/>
          </p:nvPr>
        </p:nvSpPr>
        <p:spPr>
          <a:xfrm>
            <a:off x="484209" y="1715956"/>
            <a:ext cx="8576663" cy="1442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>
                <a:latin typeface="Cambria"/>
                <a:ea typeface="Cambria"/>
                <a:cs typeface="Cambria"/>
                <a:sym typeface="Cambria"/>
              </a:rPr>
              <a:t>Proyecto web 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>
                <a:latin typeface="Cambria"/>
                <a:ea typeface="Cambria"/>
                <a:cs typeface="Cambria"/>
                <a:sym typeface="Cambria"/>
              </a:rPr>
              <a:t>Crear un proyecto de tipo web y seleccionar el tipo de plantilla del proyecto.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11" name="Google Shape;411;p4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Texto&#10;&#10;Descripción generada automáticamente" id="412" name="Google Shape;41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5638" y="3158726"/>
            <a:ext cx="6273799" cy="33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8" name="Google Shape;418;p47"/>
          <p:cNvSpPr txBox="1"/>
          <p:nvPr>
            <p:ph idx="1" type="body"/>
          </p:nvPr>
        </p:nvSpPr>
        <p:spPr>
          <a:xfrm>
            <a:off x="556095" y="1986220"/>
            <a:ext cx="8504777" cy="551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>
                <a:latin typeface="Cambria"/>
                <a:ea typeface="Cambria"/>
                <a:cs typeface="Cambria"/>
                <a:sym typeface="Cambria"/>
              </a:rPr>
              <a:t>1.	Estructura cliente WEB. </a:t>
            </a:r>
            <a:endParaRPr/>
          </a:p>
        </p:txBody>
      </p:sp>
      <p:sp>
        <p:nvSpPr>
          <p:cNvPr id="419" name="Google Shape;419;p4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nterfaz de usuario gráfica, Texto, Aplicación&#10;&#10;Descripción generada automáticamente" id="420" name="Google Shape;42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2587" y="2686020"/>
            <a:ext cx="3071813" cy="3812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5b9630aa3_8_228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26" name="Google Shape;426;g3a5b9630aa3_8_228"/>
          <p:cNvSpPr txBox="1"/>
          <p:nvPr>
            <p:ph idx="1" type="body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Web: Login</a:t>
            </a:r>
            <a:endParaRPr/>
          </a:p>
        </p:txBody>
      </p:sp>
      <p:sp>
        <p:nvSpPr>
          <p:cNvPr id="427" name="Google Shape;427;g3a5b9630aa3_8_2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28" name="Google Shape;428;g3a5b9630aa3_8_228"/>
          <p:cNvPicPr preferRelativeResize="0"/>
          <p:nvPr/>
        </p:nvPicPr>
        <p:blipFill rotWithShape="1">
          <a:blip r:embed="rId3">
            <a:alphaModFix/>
          </a:blip>
          <a:srcRect b="3553" l="1491" r="2260" t="6242"/>
          <a:stretch/>
        </p:blipFill>
        <p:spPr>
          <a:xfrm>
            <a:off x="1173863" y="2815500"/>
            <a:ext cx="7246174" cy="361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a5b9630aa3_8_289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34" name="Google Shape;434;g3a5b9630aa3_8_289"/>
          <p:cNvSpPr txBox="1"/>
          <p:nvPr>
            <p:ph idx="1" type="body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Web: Cliente Web - Dashboard Principal</a:t>
            </a:r>
            <a:endParaRPr/>
          </a:p>
        </p:txBody>
      </p:sp>
      <p:sp>
        <p:nvSpPr>
          <p:cNvPr id="435" name="Google Shape;435;g3a5b9630aa3_8_28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36" name="Google Shape;436;g3a5b9630aa3_8_289"/>
          <p:cNvPicPr preferRelativeResize="0"/>
          <p:nvPr/>
        </p:nvPicPr>
        <p:blipFill rotWithShape="1">
          <a:blip r:embed="rId3">
            <a:alphaModFix/>
          </a:blip>
          <a:srcRect b="1722" l="0" r="0" t="5667"/>
          <a:stretch/>
        </p:blipFill>
        <p:spPr>
          <a:xfrm>
            <a:off x="1200300" y="2869750"/>
            <a:ext cx="7193300" cy="351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5b9630aa3_8_23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42" name="Google Shape;442;g3a5b9630aa3_8_235"/>
          <p:cNvSpPr txBox="1"/>
          <p:nvPr>
            <p:ph idx="1" type="body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Web: Cliente Web - Módulo de Transacciones con mensaje de depósito exitoso</a:t>
            </a:r>
            <a:endParaRPr/>
          </a:p>
        </p:txBody>
      </p:sp>
      <p:sp>
        <p:nvSpPr>
          <p:cNvPr id="443" name="Google Shape;443;g3a5b9630aa3_8_23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44" name="Google Shape;444;g3a5b9630aa3_8_235"/>
          <p:cNvPicPr preferRelativeResize="0"/>
          <p:nvPr/>
        </p:nvPicPr>
        <p:blipFill rotWithShape="1">
          <a:blip r:embed="rId3">
            <a:alphaModFix/>
          </a:blip>
          <a:srcRect b="0" l="0" r="0" t="4662"/>
          <a:stretch/>
        </p:blipFill>
        <p:spPr>
          <a:xfrm>
            <a:off x="1170300" y="2772550"/>
            <a:ext cx="7253276" cy="388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50" name="Google Shape;450;g3a5b9630aa3_8_242"/>
          <p:cNvSpPr txBox="1"/>
          <p:nvPr>
            <p:ph idx="1" type="body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Web: Cliente Web - Reporte de Movimientos</a:t>
            </a:r>
            <a:endParaRPr/>
          </a:p>
        </p:txBody>
      </p:sp>
      <p:sp>
        <p:nvSpPr>
          <p:cNvPr id="451" name="Google Shape;451;g3a5b9630aa3_8_24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52" name="Google Shape;452;g3a5b9630aa3_8_242"/>
          <p:cNvPicPr preferRelativeResize="0"/>
          <p:nvPr/>
        </p:nvPicPr>
        <p:blipFill rotWithShape="1">
          <a:blip r:embed="rId3">
            <a:alphaModFix/>
          </a:blip>
          <a:srcRect b="0" l="0" r="0" t="4942"/>
          <a:stretch/>
        </p:blipFill>
        <p:spPr>
          <a:xfrm>
            <a:off x="1316938" y="2617050"/>
            <a:ext cx="6960025" cy="374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58" name="Google Shape;458;p62"/>
          <p:cNvSpPr txBox="1"/>
          <p:nvPr>
            <p:ph idx="1" type="body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>
                <a:latin typeface="Cambria"/>
                <a:ea typeface="Cambria"/>
                <a:cs typeface="Cambria"/>
                <a:sym typeface="Cambria"/>
              </a:rPr>
              <a:t>1.	Creación proyecto cliente móvil. </a:t>
            </a:r>
            <a:endParaRPr/>
          </a:p>
        </p:txBody>
      </p:sp>
      <p:sp>
        <p:nvSpPr>
          <p:cNvPr id="459" name="Google Shape;459;p6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Captura de pantalla de un celular&#10;&#10;Descripción generada automáticamente" id="460" name="Google Shape;46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5636" y="3208573"/>
            <a:ext cx="6555475" cy="315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66" name="Google Shape;466;p63"/>
          <p:cNvSpPr txBox="1"/>
          <p:nvPr>
            <p:ph idx="1" type="body"/>
          </p:nvPr>
        </p:nvSpPr>
        <p:spPr>
          <a:xfrm>
            <a:off x="581192" y="1911212"/>
            <a:ext cx="8451972" cy="10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>
                <a:latin typeface="Cambria"/>
                <a:ea typeface="Cambria"/>
                <a:cs typeface="Cambria"/>
                <a:sym typeface="Cambria"/>
              </a:rPr>
              <a:t>2.	Clases en diferentes paquetes</a:t>
            </a:r>
            <a:endParaRPr/>
          </a:p>
        </p:txBody>
      </p:sp>
      <p:sp>
        <p:nvSpPr>
          <p:cNvPr id="467" name="Google Shape;467;p6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nterfaz de usuario gráfica, Texto&#10;&#10;Descripción generada automáticamente" id="468" name="Google Shape;46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6146" y="3120248"/>
            <a:ext cx="5702075" cy="326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74" name="Google Shape;474;p66"/>
          <p:cNvSpPr txBox="1"/>
          <p:nvPr>
            <p:ph idx="1" type="body"/>
          </p:nvPr>
        </p:nvSpPr>
        <p:spPr>
          <a:xfrm>
            <a:off x="581192" y="1911212"/>
            <a:ext cx="8451972" cy="510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Móvil: Login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75" name="Google Shape;475;p66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76" name="Google Shape;47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9300" y="1911200"/>
            <a:ext cx="2828925" cy="48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a5b9630aa3_8_317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82" name="Google Shape;482;g3a5b9630aa3_8_317"/>
          <p:cNvSpPr txBox="1"/>
          <p:nvPr>
            <p:ph idx="1" type="body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Móvil: Cliente Móvil - Menú Principal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3" name="Google Shape;483;g3a5b9630aa3_8_31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84" name="Google Shape;484;g3a5b9630aa3_8_3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6538" y="2617150"/>
            <a:ext cx="2181225" cy="40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a5b9630aa3_8_327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90" name="Google Shape;490;g3a5b9630aa3_8_327"/>
          <p:cNvSpPr txBox="1"/>
          <p:nvPr>
            <p:ph idx="1" type="body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Móvil: Cliente Móvil - Realizar Depósito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91" name="Google Shape;491;g3a5b9630aa3_8_3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92" name="Google Shape;492;g3a5b9630aa3_8_3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0338" y="2617150"/>
            <a:ext cx="2333625" cy="41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a5b9630aa3_8_357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98" name="Google Shape;498;g3a5b9630aa3_8_357"/>
          <p:cNvSpPr txBox="1"/>
          <p:nvPr>
            <p:ph idx="1" type="body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-297237" lvl="0" marL="3060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82799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Móvil: Cliente Móvil - Realizar Transferencia con mensaje exitoso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99" name="Google Shape;499;g3a5b9630aa3_8_35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500" name="Google Shape;500;g3a5b9630aa3_8_3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5588" y="2617150"/>
            <a:ext cx="2143125" cy="39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a5b9630aa3_8_367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06" name="Google Shape;506;g3a5b9630aa3_8_367"/>
          <p:cNvSpPr txBox="1"/>
          <p:nvPr>
            <p:ph idx="1" type="body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Móvil: Cliente Móvil - Consultar Movimientos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07" name="Google Shape;507;g3a5b9630aa3_8_36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508" name="Google Shape;508;g3a5b9630aa3_8_3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0825" y="2757200"/>
            <a:ext cx="2152650" cy="39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8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14" name="Google Shape;514;p68"/>
          <p:cNvSpPr txBox="1"/>
          <p:nvPr>
            <p:ph idx="1" type="body"/>
          </p:nvPr>
        </p:nvSpPr>
        <p:spPr>
          <a:xfrm>
            <a:off x="581192" y="1911212"/>
            <a:ext cx="8451972" cy="510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Cambria"/>
              <a:buChar char="∙"/>
            </a:pPr>
            <a:r>
              <a:rPr lang="es-ES" sz="2000">
                <a:latin typeface="Cambria"/>
                <a:ea typeface="Cambria"/>
                <a:cs typeface="Cambria"/>
                <a:sym typeface="Cambria"/>
              </a:rPr>
              <a:t>Diagrama Arquitectura de Software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15" name="Google Shape;515;p6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516" name="Google Shape;51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5925" y="1911199"/>
            <a:ext cx="3631250" cy="480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22" name="Google Shape;522;p69"/>
          <p:cNvSpPr txBox="1"/>
          <p:nvPr>
            <p:ph idx="1" type="body"/>
          </p:nvPr>
        </p:nvSpPr>
        <p:spPr>
          <a:xfrm>
            <a:off x="581192" y="1911212"/>
            <a:ext cx="8451972" cy="510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Cambria"/>
              <a:buChar char="∙"/>
            </a:pPr>
            <a:r>
              <a:rPr lang="es-ES" sz="2000">
                <a:latin typeface="Cambria"/>
                <a:ea typeface="Cambria"/>
                <a:cs typeface="Cambria"/>
                <a:sym typeface="Cambria"/>
              </a:rPr>
              <a:t>Diagrama de Casos de Uso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23" name="Google Shape;523;p6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524" name="Google Shape;52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300" y="2477280"/>
            <a:ext cx="7679755" cy="4131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a5b9630aa3_8_476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30" name="Google Shape;530;g3a5b9630aa3_8_476"/>
          <p:cNvSpPr txBox="1"/>
          <p:nvPr>
            <p:ph idx="1" type="body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Cambria"/>
              <a:buChar char="∙"/>
            </a:pPr>
            <a:r>
              <a:rPr lang="es-ES" sz="2000">
                <a:latin typeface="Cambria"/>
                <a:ea typeface="Cambria"/>
                <a:cs typeface="Cambria"/>
                <a:sym typeface="Cambria"/>
              </a:rPr>
              <a:t>Diagrama de Casos de Uso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31" name="Google Shape;531;g3a5b9630aa3_8_47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532" name="Google Shape;532;g3a5b9630aa3_8_4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9650" y="2421812"/>
            <a:ext cx="3455010" cy="4131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0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38" name="Google Shape;538;p70"/>
          <p:cNvSpPr txBox="1"/>
          <p:nvPr>
            <p:ph idx="1" type="body"/>
          </p:nvPr>
        </p:nvSpPr>
        <p:spPr>
          <a:xfrm>
            <a:off x="581192" y="1911212"/>
            <a:ext cx="8451972" cy="510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Cambria"/>
              <a:buChar char="∙"/>
            </a:pPr>
            <a:r>
              <a:rPr lang="es-ES" sz="2000">
                <a:latin typeface="Cambria"/>
                <a:ea typeface="Cambria"/>
                <a:cs typeface="Cambria"/>
                <a:sym typeface="Cambria"/>
              </a:rPr>
              <a:t>Diagrama de Diagrama Eureka Bank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39" name="Google Shape;539;p70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540" name="Google Shape;54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9863" y="2617050"/>
            <a:ext cx="6514650" cy="40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546" name="Google Shape;546;p71"/>
          <p:cNvSpPr txBox="1"/>
          <p:nvPr>
            <p:ph idx="1" type="body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-317982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Se implementó exitosamente un sistema bancario completo basado en servicios web APIs RESTful .NET, demostrando la viabilidad y beneficios de las arquitecturas basadas en APIs modernas para aplicaciones empresariales complejas.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17982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17982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La separación de responsabilidades en tres capas (Presentación, Lógica de Negocio y Datos) facilitó el desarrollo paralelo, el mantenimiento y las pruebas independientes de cada componente.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17982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17982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El uso de patrones de diseño como DAO, DTO y Service Layer mejoró significativamente la calidad del código, facilitando su comprensión, mantenimiento y extensibilidad futura.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17982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17982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La implementación de cuatro tipos de clientes diferentes (Consola, Escritorio, Web y Móvil) desde una única API de servicios web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APIs RESTful .NET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demostró la interoperabilidad y reutilización efectiva de la lógica de negocio.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290226" lvl="0" marL="3060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47" name="Google Shape;547;p71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2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553" name="Google Shape;553;p72"/>
          <p:cNvSpPr txBox="1"/>
          <p:nvPr>
            <p:ph idx="1" type="body"/>
          </p:nvPr>
        </p:nvSpPr>
        <p:spPr>
          <a:xfrm>
            <a:off x="581206" y="2440053"/>
            <a:ext cx="8500800" cy="24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10000"/>
          </a:bodyPr>
          <a:lstStyle/>
          <a:p>
            <a:pPr indent="0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118709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Implementar medidas de seguridad adicionales como autenticación de dos factores (2FA) y encriptación end-to-end para proteger la información financiera sensible de los clientes y garantizar transacciones seguras en el sistema bancario.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118709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Migrar gradualmente de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APIs RESTful .NET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a arquitecturas REST o GraphQL para aprovechar las ventajas de APIs más ligeras y modernas, manteniendo compatibilidad con sistemas legacy mediante gateways.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118709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Implementar un sistema de notificaciones en tiempo real que alerte a los clientes sobre movimientos bancarios, saldos bajos y operaciones sospechosas, mejorando la experiencia de usuario y la seguridad.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118709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Añadir pruebas automatizadas unitarias e integración continua (CI/CD) para garantizar la calidad del código y facilitar el despliegue de nuevas funcionalidades sin interrumpir el servicio.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54" name="Google Shape;554;p72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BIBLIOGRAFÍA</a:t>
            </a:r>
            <a:endParaRPr/>
          </a:p>
        </p:txBody>
      </p:sp>
      <p:sp>
        <p:nvSpPr>
          <p:cNvPr id="560" name="Google Shape;560;p73"/>
          <p:cNvSpPr txBox="1"/>
          <p:nvPr>
            <p:ph idx="1" type="body"/>
          </p:nvPr>
        </p:nvSpPr>
        <p:spPr>
          <a:xfrm>
            <a:off x="581200" y="2180501"/>
            <a:ext cx="8571600" cy="43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[1]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Microsoft .NET Framework Documentation. https://docs.microsoft.com/en-us/dotnet/framework/ Documentación oficial de .NET Framework 4.8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[2]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Windows Communication Foundation (WCF) Documentation. https://docs.microsoft.com/en-us/dotnet/framework/wcf/ Especificación y guías de WCF para servicios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APIs RESTful .NET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[3] ASP.NET Web Services Documentation. https://docs.microsoft.com/en-us/aspnet/web-forms/ Documentación de ASP.NET Web Forms y servicios web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[4] JPA/Hibernate Documentation. https://docs.microsoft.com/en-us/ef/ Documentación oficial de JPA/Hibernate para acceso a datos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[5] SQL Server LocalDB Documentation. https://docs.microsoft.com/en-us/sql/database-engine/configure-windows/sql-server-express-localdb Documentación de SQL Server Express LocalDB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61" name="Google Shape;561;p73"/>
          <p:cNvSpPr/>
          <p:nvPr/>
        </p:nvSpPr>
        <p:spPr>
          <a:xfrm>
            <a:off x="9377946" y="-5751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b="1" lang="es-ES" sz="12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APIs RESTful .NET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2020-08-13T07:15:02Z</dcterms:created>
  <dc:creator>Michael Villarruel</dc:creator>
</cp:coreProperties>
</file>