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Lst>
  <p:sldSz cx="12192000" cy="6858000"/>
  <p:notesSz cx="6858000" cy="9144000"/>
  <p:embeddedFontLst>
    <p:embeddedFont>
      <p:font typeface="Cambria" panose="02040503050406030204" pitchFamily="18" charset="0"/>
      <p:regular r:id="rId92"/>
      <p:bold r:id="rId93"/>
      <p:italic r:id="rId94"/>
      <p:boldItalic r:id="rId95"/>
    </p:embeddedFont>
    <p:embeddedFont>
      <p:font typeface="Gill Sans" panose="020B0604020202020204" charset="0"/>
      <p:regular r:id="rId96"/>
      <p:bold r:id="rId97"/>
    </p:embeddedFont>
    <p:embeddedFont>
      <p:font typeface="Roboto" panose="02000000000000000000" pitchFamily="2" charset="0"/>
      <p:regular r:id="rId9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9" roundtripDataSignature="AMtx7mj47npn59z45KHhFiWO0ueXGE8sX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9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font" Target="fonts/font4.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3.fntdata"/><Relationship Id="rId99" Type="http://customschemas.google.com/relationships/presentationmetadata" Target="metadata"/><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2.fntdata"/><Relationship Id="rId98" Type="http://schemas.openxmlformats.org/officeDocument/2006/relationships/font" Target="fonts/font7.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5b9630aa3_8_4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g3a5b9630aa3_8_4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a5b9630aa3_7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3a5b9630aa3_7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a5b9630aa3_7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g3a5b9630aa3_7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a5b9630aa3_8_4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a5b9630aa3_8_46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1" name="Google Shape;191;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9" name="Google Shape;209;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9" name="Google Shape;219;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7" name="Google Shape;237;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6" name="Google Shape;246;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4" name="Google Shape;254;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3" name="Google Shape;263;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3" name="Google Shape;273;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4" name="Google Shape;284;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3" name="Google Shape;293;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3" name="Google Shape;303;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1" name="Google Shape;311;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0" name="Google Shape;320;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a5b9630aa3_8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8" name="Google Shape;338;g3a5b9630aa3_8_3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a5b9630aa3_8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7" name="Google Shape;347;g3a5b9630aa3_8_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a5b9630aa3_8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6" name="Google Shape;356;g3a5b9630aa3_8_5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a5b9630aa3_8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5" name="Google Shape;365;g3a5b9630aa3_8_6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a5b9630aa3_8_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4" name="Google Shape;374;g3a5b9630aa3_8_7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a5b9630aa3_8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3" name="Google Shape;383;g3a5b9630aa3_8_8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a5b9630aa3_8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2" name="Google Shape;392;g3a5b9630aa3_8_9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a5b9630aa3_8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1" name="Google Shape;401;g3a5b9630aa3_8_9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3a5b9630aa3_8_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0" name="Google Shape;410;g3a5b9630aa3_8_10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a5b9630aa3_8_1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9" name="Google Shape;419;g3a5b9630aa3_8_1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a5b9630aa3_8_1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8" name="Google Shape;428;g3a5b9630aa3_8_12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3a5b9630aa3_8_1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7" name="Google Shape;437;g3a5b9630aa3_8_1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5" name="Google Shape;445;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3" name="Google Shape;463;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2" name="Google Shape;472;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1" name="Google Shape;481;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0" name="Google Shape;490;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a5b9630aa3_8_2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9" name="Google Shape;499;g3a5b9630aa3_8_29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a5b9630aa3_8_1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7" name="Google Shape;507;g3a5b9630aa3_8_15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a5b9630aa3_8_1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6" name="Google Shape;516;g3a5b9630aa3_8_15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3a5b9630aa3_8_1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5" name="Google Shape;525;g3a5b9630aa3_8_16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a5b9630aa3_8_1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4" name="Google Shape;534;g3a5b9630aa3_8_17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3a5b9630aa3_8_1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3" name="Google Shape;543;g3a5b9630aa3_8_18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3a5b9630aa3_8_1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2" name="Google Shape;552;g3a5b9630aa3_8_19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0" name="Google Shape;560;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8" name="Google Shape;568;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6" name="Google Shape;576;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3a5b9630aa3_8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4" name="Google Shape;584;g3a5b9630aa3_8_2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3a5b9630aa3_8_2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2" name="Google Shape;592;g3a5b9630aa3_8_2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3a5b9630aa3_8_2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0" name="Google Shape;600;g3a5b9630aa3_8_2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3a5b9630aa3_8_2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8" name="Google Shape;608;g3a5b9630aa3_8_2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3a5b9630aa3_8_2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6" name="Google Shape;616;g3a5b9630aa3_8_28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3a5b9630aa3_8_2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4" name="Google Shape;624;g3a5b9630aa3_8_2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3a5b9630aa3_8_2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2" name="Google Shape;632;g3a5b9630aa3_8_24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3a5b9630aa3_8_2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0" name="Google Shape;640;g3a5b9630aa3_8_24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3a5b9630aa3_8_2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8" name="Google Shape;648;g3a5b9630aa3_8_2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a5b9630aa3_8_2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6" name="Google Shape;656;g3a5b9630aa3_8_26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3a5b9630aa3_8_2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4" name="Google Shape;664;g3a5b9630aa3_8_2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2" name="Google Shape;672;p6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1" name="Google Shape;681;p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9" name="Google Shape;689;p6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7" name="Google Shape;697;p6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5" name="Google Shape;705;p6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3a5b9630aa3_8_3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13" name="Google Shape;713;g3a5b9630aa3_8_3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3a5b9630aa3_8_3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1" name="Google Shape;721;g3a5b9630aa3_8_3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3a5b9630aa3_8_3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9" name="Google Shape;729;g3a5b9630aa3_8_33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3a5b9630aa3_8_3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37" name="Google Shape;737;g3a5b9630aa3_8_34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3a5b9630aa3_8_3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45" name="Google Shape;745;g3a5b9630aa3_8_35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3a5b9630aa3_8_3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3" name="Google Shape;753;g3a5b9630aa3_8_36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3a5b9630aa3_8_3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1" name="Google Shape;761;g3a5b9630aa3_8_37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3a5b9630aa3_8_3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9" name="Google Shape;769;g3a5b9630aa3_8_38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3a5b9630aa3_8_3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77" name="Google Shape;777;g3a5b9630aa3_8_39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3a5b9630aa3_8_4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5" name="Google Shape;785;g3a5b9630aa3_8_4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93" name="Google Shape;793;p6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p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01" name="Google Shape;801;p6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3a5b9630aa3_8_4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09" name="Google Shape;809;g3a5b9630aa3_8_47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7" name="Google Shape;817;p7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5" name="Google Shape;825;p7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2" name="Google Shape;832;p7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p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9" name="Google Shape;839;p7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75"/>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75"/>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5"/>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8" name="Google Shape;18;p75"/>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5"/>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76"/>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76"/>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76"/>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5" name="Google Shape;25;p7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76"/>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77"/>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77"/>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7"/>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2" name="Google Shape;32;p7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78"/>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78"/>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8"/>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9" name="Google Shape;39;p78"/>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0" name="Google Shape;40;p7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7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79"/>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79"/>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9"/>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7" name="Google Shape;47;p79"/>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8" name="Google Shape;48;p79"/>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9" name="Google Shape;49;p79"/>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0" name="Google Shape;50;p7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8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57" name="Google Shape;57;p80"/>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80"/>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8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82"/>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82"/>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2"/>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67" name="Google Shape;67;p82"/>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68" name="Google Shape;68;p8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8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83"/>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3"/>
          <p:cNvSpPr>
            <a:spLocks noGrp="1"/>
          </p:cNvSpPr>
          <p:nvPr>
            <p:ph type="pic" idx="2"/>
          </p:nvPr>
        </p:nvSpPr>
        <p:spPr>
          <a:xfrm>
            <a:off x="447817" y="599725"/>
            <a:ext cx="11290859" cy="3557252"/>
          </a:xfrm>
          <a:prstGeom prst="rect">
            <a:avLst/>
          </a:prstGeom>
          <a:noFill/>
          <a:ln>
            <a:noFill/>
          </a:ln>
        </p:spPr>
      </p:sp>
      <p:sp>
        <p:nvSpPr>
          <p:cNvPr id="74" name="Google Shape;74;p83"/>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5" name="Google Shape;75;p8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8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8"/>
        <p:cNvGrpSpPr/>
        <p:nvPr/>
      </p:nvGrpSpPr>
      <p:grpSpPr>
        <a:xfrm>
          <a:off x="0" y="0"/>
          <a:ext cx="0" cy="0"/>
          <a:chOff x="0" y="0"/>
          <a:chExt cx="0" cy="0"/>
        </a:xfrm>
      </p:grpSpPr>
      <p:sp>
        <p:nvSpPr>
          <p:cNvPr id="79" name="Google Shape;79;p84"/>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84"/>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84"/>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2" name="Google Shape;82;p8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8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85"/>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85"/>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85"/>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9" name="Google Shape;89;p85"/>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85"/>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85"/>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74"/>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7" name="Google Shape;7;p74"/>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7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7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7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1" name="Google Shape;11;p74"/>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74"/>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74"/>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6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
          <p:cNvSpPr txBox="1">
            <a:spLocks noGrp="1"/>
          </p:cNvSpPr>
          <p:nvPr>
            <p:ph type="ctrTitle"/>
          </p:nvPr>
        </p:nvSpPr>
        <p:spPr>
          <a:xfrm>
            <a:off x="552600" y="3192998"/>
            <a:ext cx="10993500" cy="1353900"/>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1"/>
              </a:buClr>
              <a:buSzPts val="3600"/>
              <a:buFont typeface="Gill Sans"/>
              <a:buNone/>
            </a:pPr>
            <a:r>
              <a:rPr lang="es-ES">
                <a:solidFill>
                  <a:schemeClr val="lt1"/>
                </a:solidFill>
              </a:rPr>
              <a:t>ELECTRODOMÉSTICOS CON RESTFUL JAVA Y BASE DE DATOS EN LA NUBE</a:t>
            </a:r>
            <a:endParaRPr/>
          </a:p>
        </p:txBody>
      </p:sp>
      <p:sp>
        <p:nvSpPr>
          <p:cNvPr id="97" name="Google Shape;97;p1"/>
          <p:cNvSpPr txBox="1">
            <a:spLocks noGrp="1"/>
          </p:cNvSpPr>
          <p:nvPr>
            <p:ph type="subTitle" idx="1"/>
          </p:nvPr>
        </p:nvSpPr>
        <p:spPr>
          <a:xfrm>
            <a:off x="1355001" y="4572000"/>
            <a:ext cx="4261500" cy="18129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b="1">
                <a:solidFill>
                  <a:schemeClr val="lt1"/>
                </a:solidFill>
              </a:rPr>
              <a:t>INTEGRANTES:</a:t>
            </a:r>
            <a:endParaRPr b="1">
              <a:solidFill>
                <a:schemeClr val="lt1"/>
              </a:solidFill>
            </a:endParaRPr>
          </a:p>
          <a:p>
            <a:pPr marL="0" lvl="0" indent="0" algn="l" rtl="0">
              <a:lnSpc>
                <a:spcPct val="100000"/>
              </a:lnSpc>
              <a:spcBef>
                <a:spcPts val="0"/>
              </a:spcBef>
              <a:spcAft>
                <a:spcPts val="0"/>
              </a:spcAft>
              <a:buSzPts val="1472"/>
              <a:buNone/>
            </a:pPr>
            <a:endParaRPr b="1">
              <a:solidFill>
                <a:schemeClr val="lt1"/>
              </a:solidFill>
            </a:endParaRPr>
          </a:p>
          <a:p>
            <a:pPr marL="0" lvl="0" indent="0" algn="l" rtl="0">
              <a:lnSpc>
                <a:spcPct val="100000"/>
              </a:lnSpc>
              <a:spcBef>
                <a:spcPts val="0"/>
              </a:spcBef>
              <a:spcAft>
                <a:spcPts val="0"/>
              </a:spcAft>
              <a:buSzPts val="1472"/>
              <a:buNone/>
            </a:pPr>
            <a:r>
              <a:rPr lang="es-ES" b="1">
                <a:solidFill>
                  <a:schemeClr val="lt1"/>
                </a:solidFill>
              </a:rPr>
              <a:t>Cristian Acalo</a:t>
            </a:r>
            <a:endParaRPr b="1">
              <a:solidFill>
                <a:schemeClr val="lt1"/>
              </a:solidFill>
            </a:endParaRPr>
          </a:p>
          <a:p>
            <a:pPr marL="0" lvl="0" indent="0" algn="l" rtl="0">
              <a:lnSpc>
                <a:spcPct val="100000"/>
              </a:lnSpc>
              <a:spcBef>
                <a:spcPts val="0"/>
              </a:spcBef>
              <a:spcAft>
                <a:spcPts val="0"/>
              </a:spcAft>
              <a:buSzPts val="1472"/>
              <a:buNone/>
            </a:pPr>
            <a:r>
              <a:rPr lang="es-ES" b="1">
                <a:solidFill>
                  <a:schemeClr val="lt1"/>
                </a:solidFill>
              </a:rPr>
              <a:t>Javier Gonzaga</a:t>
            </a:r>
            <a:endParaRPr b="1">
              <a:solidFill>
                <a:schemeClr val="lt1"/>
              </a:solidFill>
            </a:endParaRPr>
          </a:p>
          <a:p>
            <a:pPr marL="0" lvl="0" indent="0" algn="l" rtl="0">
              <a:lnSpc>
                <a:spcPct val="100000"/>
              </a:lnSpc>
              <a:spcBef>
                <a:spcPts val="0"/>
              </a:spcBef>
              <a:spcAft>
                <a:spcPts val="0"/>
              </a:spcAft>
              <a:buSzPts val="1472"/>
              <a:buNone/>
            </a:pPr>
            <a:r>
              <a:rPr lang="es-ES" b="1">
                <a:solidFill>
                  <a:schemeClr val="lt1"/>
                </a:solidFill>
              </a:rPr>
              <a:t>Leonardo Obando</a:t>
            </a:r>
            <a:endParaRPr b="1">
              <a:solidFill>
                <a:schemeClr val="lt1"/>
              </a:solidFill>
            </a:endParaRPr>
          </a:p>
        </p:txBody>
      </p:sp>
      <p:pic>
        <p:nvPicPr>
          <p:cNvPr id="98" name="Google Shape;98;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99" name="Google Shape;99;p1"/>
          <p:cNvSpPr txBox="1"/>
          <p:nvPr/>
        </p:nvSpPr>
        <p:spPr>
          <a:xfrm>
            <a:off x="6909663" y="4572001"/>
            <a:ext cx="4261500" cy="12354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4590B8"/>
              </a:buClr>
              <a:buSzPts val="1472"/>
              <a:buFont typeface="Noto Sans Symbols"/>
              <a:buNone/>
            </a:pPr>
            <a:endParaRPr sz="1600" b="1" i="0" u="none" strike="noStrike" cap="none">
              <a:solidFill>
                <a:srgbClr val="FFFFFF"/>
              </a:solidFill>
              <a:latin typeface="Gill Sans"/>
              <a:ea typeface="Gill Sans"/>
              <a:cs typeface="Gill Sans"/>
              <a:sym typeface="Gill Sans"/>
            </a:endParaRPr>
          </a:p>
          <a:p>
            <a:pPr marL="0" marR="0" lvl="0" indent="0" algn="l" rtl="0">
              <a:lnSpc>
                <a:spcPct val="100000"/>
              </a:lnSpc>
              <a:spcBef>
                <a:spcPts val="0"/>
              </a:spcBef>
              <a:spcAft>
                <a:spcPts val="0"/>
              </a:spcAft>
              <a:buClr>
                <a:srgbClr val="4590B8"/>
              </a:buClr>
              <a:buSzPts val="1472"/>
              <a:buFont typeface="Noto Sans Symbols"/>
              <a:buNone/>
            </a:pPr>
            <a:r>
              <a:rPr lang="es-ES" sz="1600" b="1" i="0" u="none" strike="noStrike" cap="none">
                <a:solidFill>
                  <a:srgbClr val="FFFFFF"/>
                </a:solidFill>
                <a:latin typeface="Gill Sans"/>
                <a:ea typeface="Gill Sans"/>
                <a:cs typeface="Gill Sans"/>
                <a:sym typeface="Gill Sans"/>
              </a:rPr>
              <a:t>FECHA:  </a:t>
            </a:r>
            <a:r>
              <a:rPr lang="es-ES" sz="1600" b="1">
                <a:solidFill>
                  <a:srgbClr val="FFFFFF"/>
                </a:solidFill>
                <a:latin typeface="Gill Sans"/>
                <a:ea typeface="Gill Sans"/>
                <a:cs typeface="Gill Sans"/>
                <a:sym typeface="Gill Sans"/>
              </a:rPr>
              <a:t>18</a:t>
            </a:r>
            <a:r>
              <a:rPr lang="es-ES" sz="1600" b="1" i="0" u="none" strike="noStrike" cap="none">
                <a:solidFill>
                  <a:srgbClr val="FFFFFF"/>
                </a:solidFill>
                <a:latin typeface="Gill Sans"/>
                <a:ea typeface="Gill Sans"/>
                <a:cs typeface="Gill Sans"/>
                <a:sym typeface="Gill Sans"/>
              </a:rPr>
              <a:t>/1</a:t>
            </a:r>
            <a:r>
              <a:rPr lang="es-ES" sz="1600" b="1">
                <a:solidFill>
                  <a:srgbClr val="FFFFFF"/>
                </a:solidFill>
                <a:latin typeface="Gill Sans"/>
                <a:ea typeface="Gill Sans"/>
                <a:cs typeface="Gill Sans"/>
                <a:sym typeface="Gill Sans"/>
              </a:rPr>
              <a:t>2</a:t>
            </a:r>
            <a:r>
              <a:rPr lang="es-ES" sz="1600" b="1" i="0" u="none" strike="noStrike" cap="none">
                <a:solidFill>
                  <a:srgbClr val="FFFFFF"/>
                </a:solidFill>
                <a:latin typeface="Gill Sans"/>
                <a:ea typeface="Gill Sans"/>
                <a:cs typeface="Gill Sans"/>
                <a:sym typeface="Gill Sans"/>
              </a:rPr>
              <a:t>/2025</a:t>
            </a:r>
            <a:endParaRPr sz="1600" b="0" i="0" u="none" strike="noStrike" cap="none">
              <a:solidFill>
                <a:srgbClr val="FFFFFF"/>
              </a:solidFill>
              <a:latin typeface="Gill Sans"/>
              <a:ea typeface="Gill Sans"/>
              <a:cs typeface="Gill Sans"/>
              <a:sym typeface="Gill Sans"/>
            </a:endParaRPr>
          </a:p>
          <a:p>
            <a:pPr marL="0" marR="0" lvl="0" indent="0" algn="l" rtl="0">
              <a:lnSpc>
                <a:spcPct val="100000"/>
              </a:lnSpc>
              <a:spcBef>
                <a:spcPts val="920"/>
              </a:spcBef>
              <a:spcAft>
                <a:spcPts val="0"/>
              </a:spcAft>
              <a:buClr>
                <a:srgbClr val="4590B8"/>
              </a:buClr>
              <a:buSzPts val="1472"/>
              <a:buFont typeface="Noto Sans Symbols"/>
              <a:buNone/>
            </a:pPr>
            <a:r>
              <a:rPr lang="es-ES" sz="1600" b="1" i="0" u="none" strike="noStrike" cap="none">
                <a:solidFill>
                  <a:srgbClr val="FFFFFF"/>
                </a:solidFill>
                <a:latin typeface="Gill Sans"/>
                <a:ea typeface="Gill Sans"/>
                <a:cs typeface="Gill Sans"/>
                <a:sym typeface="Gill Sans"/>
              </a:rPr>
              <a:t>ING: MAURICIO CAMPAÑA</a:t>
            </a:r>
            <a:endParaRPr sz="1600" b="1" i="0" u="none" strike="noStrike" cap="none">
              <a:solidFill>
                <a:srgbClr val="FFFFFF"/>
              </a:solidFill>
              <a:latin typeface="Gill Sans"/>
              <a:ea typeface="Gill Sans"/>
              <a:cs typeface="Gill Sans"/>
              <a:sym typeface="Gill Sans"/>
            </a:endParaRPr>
          </a:p>
        </p:txBody>
      </p:sp>
      <p:sp>
        <p:nvSpPr>
          <p:cNvPr id="100" name="Google Shape;100;p1"/>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2"/>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pPr>
            <a:endParaRPr sz="1800" b="0" i="0" u="none" strike="noStrike" cap="none">
              <a:solidFill>
                <a:srgbClr val="FFFFFF"/>
              </a:solidFill>
              <a:latin typeface="Gill Sans"/>
              <a:ea typeface="Gill Sans"/>
              <a:cs typeface="Gill Sans"/>
              <a:sym typeface="Gill Sans"/>
            </a:endParaRPr>
          </a:p>
        </p:txBody>
      </p:sp>
      <p:sp>
        <p:nvSpPr>
          <p:cNvPr id="106" name="Google Shape;106;p2"/>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07" name="Google Shape;107;p2"/>
          <p:cNvSpPr txBox="1">
            <a:spLocks noGrp="1"/>
          </p:cNvSpPr>
          <p:nvPr>
            <p:ph type="body" idx="1"/>
          </p:nvPr>
        </p:nvSpPr>
        <p:spPr>
          <a:xfrm>
            <a:off x="596348" y="701336"/>
            <a:ext cx="3389726" cy="5424255"/>
          </a:xfrm>
          <a:prstGeom prst="rect">
            <a:avLst/>
          </a:prstGeom>
          <a:noFill/>
          <a:ln>
            <a:noFill/>
          </a:ln>
        </p:spPr>
        <p:txBody>
          <a:bodyPr spcFirstLastPara="1" wrap="square" lIns="91425" tIns="45700" rIns="91425" bIns="45700" anchor="ctr" anchorCtr="0">
            <a:normAutofit fontScale="77500" lnSpcReduction="20000"/>
          </a:bodyPr>
          <a:lstStyle/>
          <a:p>
            <a:pPr marL="305435" lvl="0" indent="-305435" algn="l" rtl="0">
              <a:lnSpc>
                <a:spcPct val="100000"/>
              </a:lnSpc>
              <a:spcBef>
                <a:spcPts val="0"/>
              </a:spcBef>
              <a:spcAft>
                <a:spcPts val="0"/>
              </a:spcAft>
              <a:buClr>
                <a:srgbClr val="4590B8"/>
              </a:buClr>
              <a:buSzPct val="91999"/>
              <a:buChar char="◼"/>
            </a:pPr>
            <a:r>
              <a:rPr lang="es-ES">
                <a:solidFill>
                  <a:schemeClr val="lt1"/>
                </a:solidFill>
              </a:rPr>
              <a:t>MARCO TEÓRICO</a:t>
            </a:r>
            <a:endParaRPr>
              <a:solidFill>
                <a:schemeClr val="lt1"/>
              </a:solidFill>
            </a:endParaRPr>
          </a:p>
          <a:p>
            <a:pPr marL="305435" lvl="0" indent="-305435" algn="l" rtl="0">
              <a:lnSpc>
                <a:spcPct val="100000"/>
              </a:lnSpc>
              <a:spcBef>
                <a:spcPts val="0"/>
              </a:spcBef>
              <a:spcAft>
                <a:spcPts val="0"/>
              </a:spcAft>
              <a:buClr>
                <a:srgbClr val="4590B8"/>
              </a:buClr>
              <a:buSzPct val="91999"/>
              <a:buChar char="◼"/>
            </a:pPr>
            <a:r>
              <a:rPr lang="es-ES">
                <a:solidFill>
                  <a:schemeClr val="lt1"/>
                </a:solidFill>
              </a:rPr>
              <a:t>DESARROLLO</a:t>
            </a:r>
            <a:endParaRPr>
              <a:solidFill>
                <a:schemeClr val="lt1"/>
              </a:solidFill>
            </a:endParaRPr>
          </a:p>
          <a:p>
            <a:pPr marL="629920" lvl="1" indent="-305435" algn="l" rtl="0">
              <a:lnSpc>
                <a:spcPct val="100000"/>
              </a:lnSpc>
              <a:spcBef>
                <a:spcPts val="848"/>
              </a:spcBef>
              <a:spcAft>
                <a:spcPts val="0"/>
              </a:spcAft>
              <a:buSzPct val="92000"/>
              <a:buChar char="◼"/>
            </a:pPr>
            <a:r>
              <a:rPr lang="es-ES">
                <a:solidFill>
                  <a:schemeClr val="lt1"/>
                </a:solidFill>
              </a:rPr>
              <a:t>OBJETIVO</a:t>
            </a:r>
            <a:endParaRPr/>
          </a:p>
          <a:p>
            <a:pPr marL="629920" lvl="1" indent="-305435" algn="l" rtl="0">
              <a:lnSpc>
                <a:spcPct val="100000"/>
              </a:lnSpc>
              <a:spcBef>
                <a:spcPts val="848"/>
              </a:spcBef>
              <a:spcAft>
                <a:spcPts val="0"/>
              </a:spcAft>
              <a:buSzPct val="92000"/>
              <a:buChar char="◼"/>
            </a:pPr>
            <a:r>
              <a:rPr lang="es-ES">
                <a:solidFill>
                  <a:schemeClr val="lt1"/>
                </a:solidFill>
              </a:rPr>
              <a:t>MODELO CONCEPTUAL DE LA BASE DE DATOS</a:t>
            </a:r>
            <a:endParaRPr/>
          </a:p>
          <a:p>
            <a:pPr marL="629920" lvl="1" indent="-305435" algn="l" rtl="0">
              <a:lnSpc>
                <a:spcPct val="100000"/>
              </a:lnSpc>
              <a:spcBef>
                <a:spcPts val="848"/>
              </a:spcBef>
              <a:spcAft>
                <a:spcPts val="0"/>
              </a:spcAft>
              <a:buSzPct val="92000"/>
              <a:buChar char="◼"/>
            </a:pPr>
            <a:r>
              <a:rPr lang="es-ES">
                <a:solidFill>
                  <a:schemeClr val="lt1"/>
                </a:solidFill>
              </a:rPr>
              <a:t>CREAR BASE DE DATOS</a:t>
            </a:r>
            <a:endParaRPr/>
          </a:p>
          <a:p>
            <a:pPr marL="629920" lvl="1" indent="-305435" algn="l" rtl="0">
              <a:lnSpc>
                <a:spcPct val="100000"/>
              </a:lnSpc>
              <a:spcBef>
                <a:spcPts val="848"/>
              </a:spcBef>
              <a:spcAft>
                <a:spcPts val="0"/>
              </a:spcAft>
              <a:buSzPct val="92000"/>
              <a:buChar char="◼"/>
            </a:pPr>
            <a:r>
              <a:rPr lang="es-ES">
                <a:solidFill>
                  <a:schemeClr val="lt1"/>
                </a:solidFill>
              </a:rPr>
              <a:t>CREACIÓN DEL SERVIDOR SOAP</a:t>
            </a:r>
            <a:endParaRPr/>
          </a:p>
          <a:p>
            <a:pPr marL="762635" lvl="1" indent="-305435" algn="l" rtl="0">
              <a:lnSpc>
                <a:spcPct val="100000"/>
              </a:lnSpc>
              <a:spcBef>
                <a:spcPts val="879"/>
              </a:spcBef>
              <a:spcAft>
                <a:spcPts val="0"/>
              </a:spcAft>
              <a:buSzPct val="91999"/>
              <a:buChar char="◼"/>
            </a:pPr>
            <a:r>
              <a:rPr lang="es-ES" sz="1800">
                <a:solidFill>
                  <a:schemeClr val="lt1"/>
                </a:solidFill>
              </a:rPr>
              <a:t>CREAR BASE DE DATOS</a:t>
            </a:r>
            <a:endParaRPr/>
          </a:p>
          <a:p>
            <a:pPr marL="762635" lvl="1" indent="-305435" algn="l" rtl="0">
              <a:lnSpc>
                <a:spcPct val="100000"/>
              </a:lnSpc>
              <a:spcBef>
                <a:spcPts val="879"/>
              </a:spcBef>
              <a:spcAft>
                <a:spcPts val="0"/>
              </a:spcAft>
              <a:buSzPct val="91999"/>
              <a:buChar char="◼"/>
            </a:pPr>
            <a:r>
              <a:rPr lang="es-ES" sz="1800">
                <a:solidFill>
                  <a:schemeClr val="lt1"/>
                </a:solidFill>
              </a:rPr>
              <a:t>CREACIÓN DEL SERVIDOR SOAP</a:t>
            </a:r>
            <a:endParaRPr/>
          </a:p>
          <a:p>
            <a:pPr marL="762635" lvl="1" indent="-305435" algn="l" rtl="0">
              <a:lnSpc>
                <a:spcPct val="100000"/>
              </a:lnSpc>
              <a:spcBef>
                <a:spcPts val="879"/>
              </a:spcBef>
              <a:spcAft>
                <a:spcPts val="0"/>
              </a:spcAft>
              <a:buSzPct val="91999"/>
              <a:buChar char="◼"/>
            </a:pPr>
            <a:r>
              <a:rPr lang="es-ES" sz="1800">
                <a:solidFill>
                  <a:schemeClr val="lt1"/>
                </a:solidFill>
              </a:rPr>
              <a:t>CREACIÓN DEL PROYECTO – CLIENTE CONSOLA</a:t>
            </a:r>
            <a:endParaRPr/>
          </a:p>
          <a:p>
            <a:pPr marL="762635" lvl="1" indent="-305435" algn="l" rtl="0">
              <a:lnSpc>
                <a:spcPct val="100000"/>
              </a:lnSpc>
              <a:spcBef>
                <a:spcPts val="879"/>
              </a:spcBef>
              <a:spcAft>
                <a:spcPts val="0"/>
              </a:spcAft>
              <a:buSzPct val="91999"/>
              <a:buChar char="◼"/>
            </a:pPr>
            <a:r>
              <a:rPr lang="es-ES" sz="1800">
                <a:solidFill>
                  <a:schemeClr val="lt1"/>
                </a:solidFill>
              </a:rPr>
              <a:t>CREACIÓN DEL PROYECTO – CLIENTE ESCRITORIO</a:t>
            </a:r>
            <a:endParaRPr/>
          </a:p>
          <a:p>
            <a:pPr marL="762635" lvl="1" indent="-305435" algn="l" rtl="0">
              <a:lnSpc>
                <a:spcPct val="100000"/>
              </a:lnSpc>
              <a:spcBef>
                <a:spcPts val="879"/>
              </a:spcBef>
              <a:spcAft>
                <a:spcPts val="0"/>
              </a:spcAft>
              <a:buSzPct val="91999"/>
              <a:buChar char="◼"/>
            </a:pPr>
            <a:r>
              <a:rPr lang="es-ES" sz="1800">
                <a:solidFill>
                  <a:schemeClr val="lt1"/>
                </a:solidFill>
              </a:rPr>
              <a:t>CREACIÓN DEL PROYECTO – CLIENTE WEB</a:t>
            </a:r>
            <a:endParaRPr/>
          </a:p>
          <a:p>
            <a:pPr marL="762635" lvl="1" indent="-305435" algn="l" rtl="0">
              <a:lnSpc>
                <a:spcPct val="100000"/>
              </a:lnSpc>
              <a:spcBef>
                <a:spcPts val="879"/>
              </a:spcBef>
              <a:spcAft>
                <a:spcPts val="0"/>
              </a:spcAft>
              <a:buSzPct val="91999"/>
              <a:buChar char="◼"/>
            </a:pPr>
            <a:r>
              <a:rPr lang="es-ES" sz="1800">
                <a:solidFill>
                  <a:schemeClr val="lt1"/>
                </a:solidFill>
              </a:rPr>
              <a:t>CREACIÓN DEL PROYECTO – CLIENTE MÓVIL</a:t>
            </a:r>
            <a:endParaRPr/>
          </a:p>
          <a:p>
            <a:pPr marL="762635" lvl="1" indent="-305435" algn="l" rtl="0">
              <a:lnSpc>
                <a:spcPct val="100000"/>
              </a:lnSpc>
              <a:spcBef>
                <a:spcPts val="879"/>
              </a:spcBef>
              <a:spcAft>
                <a:spcPts val="0"/>
              </a:spcAft>
              <a:buSzPct val="91999"/>
              <a:buChar char="◼"/>
            </a:pPr>
            <a:r>
              <a:rPr lang="es-ES" sz="1800">
                <a:solidFill>
                  <a:schemeClr val="lt1"/>
                </a:solidFill>
              </a:rPr>
              <a:t>DIAGRAMAS</a:t>
            </a:r>
            <a:endParaRPr>
              <a:solidFill>
                <a:schemeClr val="lt1"/>
              </a:solidFill>
            </a:endParaRPr>
          </a:p>
          <a:p>
            <a:pPr marL="305435" marR="0" lvl="0" indent="-305435" algn="l" rtl="0">
              <a:lnSpc>
                <a:spcPct val="100000"/>
              </a:lnSpc>
              <a:spcBef>
                <a:spcPts val="879"/>
              </a:spcBef>
              <a:spcAft>
                <a:spcPts val="0"/>
              </a:spcAft>
              <a:buClr>
                <a:srgbClr val="4590B8"/>
              </a:buClr>
              <a:buSzPct val="91999"/>
              <a:buChar char="◼"/>
            </a:pPr>
            <a:r>
              <a:rPr lang="es-ES">
                <a:solidFill>
                  <a:schemeClr val="lt1"/>
                </a:solidFill>
              </a:rPr>
              <a:t>CONCLUSIONES</a:t>
            </a:r>
            <a:endParaRPr/>
          </a:p>
          <a:p>
            <a:pPr marL="305435" marR="0" lvl="0" indent="-305435" algn="l" rtl="0">
              <a:lnSpc>
                <a:spcPct val="100000"/>
              </a:lnSpc>
              <a:spcBef>
                <a:spcPts val="879"/>
              </a:spcBef>
              <a:spcAft>
                <a:spcPts val="0"/>
              </a:spcAft>
              <a:buClr>
                <a:srgbClr val="4590B8"/>
              </a:buClr>
              <a:buSzPct val="91999"/>
              <a:buChar char="◼"/>
            </a:pPr>
            <a:r>
              <a:rPr lang="es-ES">
                <a:solidFill>
                  <a:schemeClr val="lt1"/>
                </a:solidFill>
              </a:rPr>
              <a:t>RECOMENDACIONES</a:t>
            </a:r>
            <a:endParaRPr/>
          </a:p>
          <a:p>
            <a:pPr marL="305435" marR="0" lvl="0" indent="-305435" algn="l" rtl="0">
              <a:lnSpc>
                <a:spcPct val="100000"/>
              </a:lnSpc>
              <a:spcBef>
                <a:spcPts val="879"/>
              </a:spcBef>
              <a:spcAft>
                <a:spcPts val="0"/>
              </a:spcAft>
              <a:buClr>
                <a:srgbClr val="4590B8"/>
              </a:buClr>
              <a:buSzPct val="91999"/>
              <a:buChar char="◼"/>
            </a:pPr>
            <a:r>
              <a:rPr lang="es-ES">
                <a:solidFill>
                  <a:schemeClr val="lt1"/>
                </a:solidFill>
              </a:rPr>
              <a:t>BIBLIOGRAFÍA</a:t>
            </a:r>
            <a:endParaRPr/>
          </a:p>
        </p:txBody>
      </p:sp>
      <p:sp>
        <p:nvSpPr>
          <p:cNvPr id="108" name="Google Shape;108;p2"/>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2</a:t>
            </a:r>
            <a:endParaRPr sz="1400" b="0" i="0" u="none" strike="noStrike" cap="none">
              <a:solidFill>
                <a:srgbClr val="000000"/>
              </a:solidFill>
              <a:latin typeface="Arial"/>
              <a:ea typeface="Arial"/>
              <a:cs typeface="Arial"/>
              <a:sym typeface="Arial"/>
            </a:endParaRPr>
          </a:p>
        </p:txBody>
      </p:sp>
      <p:pic>
        <p:nvPicPr>
          <p:cNvPr id="109" name="Google Shape;109;p2"/>
          <p:cNvPicPr preferRelativeResize="0"/>
          <p:nvPr/>
        </p:nvPicPr>
        <p:blipFill rotWithShape="1">
          <a:blip r:embed="rId3">
            <a:alphaModFix/>
          </a:blip>
          <a:srcRect b="5437"/>
          <a:stretch/>
        </p:blipFill>
        <p:spPr>
          <a:xfrm>
            <a:off x="4343750" y="1869813"/>
            <a:ext cx="7678700" cy="3118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MARCO TEÓRICO</a:t>
            </a:r>
            <a:endParaRPr/>
          </a:p>
        </p:txBody>
      </p:sp>
      <p:sp>
        <p:nvSpPr>
          <p:cNvPr id="115" name="Google Shape;115;p3"/>
          <p:cNvSpPr txBox="1">
            <a:spLocks noGrp="1"/>
          </p:cNvSpPr>
          <p:nvPr>
            <p:ph type="body" idx="1"/>
          </p:nvPr>
        </p:nvSpPr>
        <p:spPr>
          <a:xfrm>
            <a:off x="581192" y="2180496"/>
            <a:ext cx="8589441" cy="3678303"/>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Clr>
                <a:schemeClr val="dk1"/>
              </a:buClr>
              <a:buSzPts val="1100"/>
              <a:buFont typeface="Arial"/>
              <a:buNone/>
            </a:pPr>
            <a:r>
              <a:rPr lang="es-ES" sz="1650" b="1">
                <a:solidFill>
                  <a:srgbClr val="1F1F1F"/>
                </a:solidFill>
                <a:highlight>
                  <a:srgbClr val="FFFFFF"/>
                </a:highlight>
                <a:latin typeface="Cambria"/>
                <a:ea typeface="Cambria"/>
                <a:cs typeface="Cambria"/>
                <a:sym typeface="Cambria"/>
              </a:rPr>
              <a:t>1.1 ARQUITECTURA ORIENTADA A SERVICIOS (SOA)</a:t>
            </a:r>
            <a:endParaRPr sz="1650" b="1">
              <a:solidFill>
                <a:srgbClr val="1F1F1F"/>
              </a:solidFill>
              <a:highlight>
                <a:srgbClr val="FFFFFF"/>
              </a:highlight>
              <a:latin typeface="Cambria"/>
              <a:ea typeface="Cambria"/>
              <a:cs typeface="Cambria"/>
              <a:sym typeface="Cambria"/>
            </a:endParaRPr>
          </a:p>
          <a:p>
            <a:pPr marL="0" lvl="0" indent="0" algn="just" rtl="0">
              <a:lnSpc>
                <a:spcPct val="107000"/>
              </a:lnSpc>
              <a:spcBef>
                <a:spcPts val="0"/>
              </a:spcBef>
              <a:spcAft>
                <a:spcPts val="0"/>
              </a:spcAft>
              <a:buClr>
                <a:schemeClr val="dk1"/>
              </a:buClr>
              <a:buSzPts val="1100"/>
              <a:buFont typeface="Arial"/>
              <a:buNone/>
            </a:pPr>
            <a:endParaRPr sz="1650">
              <a:solidFill>
                <a:srgbClr val="1F1F1F"/>
              </a:solidFill>
              <a:highlight>
                <a:srgbClr val="FFFFFF"/>
              </a:highlight>
              <a:latin typeface="Cambria"/>
              <a:ea typeface="Cambria"/>
              <a:cs typeface="Cambria"/>
              <a:sym typeface="Cambria"/>
            </a:endParaRPr>
          </a:p>
          <a:p>
            <a:pPr marL="0" lvl="0" indent="0" algn="just" rtl="0">
              <a:lnSpc>
                <a:spcPct val="107000"/>
              </a:lnSpc>
              <a:spcBef>
                <a:spcPts val="0"/>
              </a:spcBef>
              <a:spcAft>
                <a:spcPts val="0"/>
              </a:spcAft>
              <a:buClr>
                <a:schemeClr val="dk1"/>
              </a:buClr>
              <a:buSzPts val="1100"/>
              <a:buFont typeface="Arial"/>
              <a:buNone/>
            </a:pPr>
            <a:r>
              <a:rPr lang="es-ES" sz="1650">
                <a:solidFill>
                  <a:srgbClr val="1F1F1F"/>
                </a:solidFill>
                <a:highlight>
                  <a:srgbClr val="FFFFFF"/>
                </a:highlight>
                <a:latin typeface="Cambria"/>
                <a:ea typeface="Cambria"/>
                <a:cs typeface="Cambria"/>
                <a:sym typeface="Cambria"/>
              </a:rPr>
              <a:t>La Arquitectura Orientada a Servicios es un paradigma de diseño que permite crear componentes de software modulares, reutilizables y desacoplados. En este proyecto, SOA facilita la integración entre el sistema de comercialización de electrodomésticos y el módulo de créditos de BanQuito mediante servicios RESTful.</a:t>
            </a:r>
            <a:endParaRPr sz="1650">
              <a:solidFill>
                <a:srgbClr val="1F1F1F"/>
              </a:solidFill>
              <a:highlight>
                <a:srgbClr val="FFFFFF"/>
              </a:highlight>
              <a:latin typeface="Cambria"/>
              <a:ea typeface="Cambria"/>
              <a:cs typeface="Cambria"/>
              <a:sym typeface="Cambria"/>
            </a:endParaRPr>
          </a:p>
          <a:p>
            <a:pPr marL="457200" lvl="0" indent="-333375" algn="l" rtl="0">
              <a:lnSpc>
                <a:spcPct val="115000"/>
              </a:lnSpc>
              <a:spcBef>
                <a:spcPts val="1200"/>
              </a:spcBef>
              <a:spcAft>
                <a:spcPts val="0"/>
              </a:spcAft>
              <a:buClr>
                <a:srgbClr val="1F1F1F"/>
              </a:buClr>
              <a:buSzPts val="1650"/>
              <a:buFont typeface="Cambria"/>
              <a:buChar char="●"/>
            </a:pPr>
            <a:r>
              <a:rPr lang="es-ES" sz="1650">
                <a:solidFill>
                  <a:srgbClr val="1F1F1F"/>
                </a:solidFill>
                <a:highlight>
                  <a:srgbClr val="FFFFFF"/>
                </a:highlight>
                <a:latin typeface="Cambria"/>
                <a:ea typeface="Cambria"/>
                <a:cs typeface="Cambria"/>
                <a:sym typeface="Cambria"/>
              </a:rPr>
              <a:t>Interoperabilidad entre sistemas heterogéneos.</a:t>
            </a:r>
            <a:endParaRPr sz="1650">
              <a:solidFill>
                <a:srgbClr val="1F1F1F"/>
              </a:solidFill>
              <a:highlight>
                <a:srgbClr val="FFFFFF"/>
              </a:highlight>
              <a:latin typeface="Cambria"/>
              <a:ea typeface="Cambria"/>
              <a:cs typeface="Cambria"/>
              <a:sym typeface="Cambria"/>
            </a:endParaRPr>
          </a:p>
          <a:p>
            <a:pPr marL="457200" lvl="0" indent="-333375" algn="l" rtl="0">
              <a:lnSpc>
                <a:spcPct val="115000"/>
              </a:lnSpc>
              <a:spcBef>
                <a:spcPts val="0"/>
              </a:spcBef>
              <a:spcAft>
                <a:spcPts val="0"/>
              </a:spcAft>
              <a:buClr>
                <a:srgbClr val="1F1F1F"/>
              </a:buClr>
              <a:buSzPts val="1650"/>
              <a:buFont typeface="Cambria"/>
              <a:buChar char="●"/>
            </a:pPr>
            <a:r>
              <a:rPr lang="es-ES" sz="1650">
                <a:solidFill>
                  <a:srgbClr val="1F1F1F"/>
                </a:solidFill>
                <a:highlight>
                  <a:srgbClr val="FFFFFF"/>
                </a:highlight>
                <a:latin typeface="Cambria"/>
                <a:ea typeface="Cambria"/>
                <a:cs typeface="Cambria"/>
                <a:sym typeface="Cambria"/>
              </a:rPr>
              <a:t>Reutilización de servicios.</a:t>
            </a:r>
            <a:endParaRPr sz="1650">
              <a:solidFill>
                <a:srgbClr val="1F1F1F"/>
              </a:solidFill>
              <a:highlight>
                <a:srgbClr val="FFFFFF"/>
              </a:highlight>
              <a:latin typeface="Cambria"/>
              <a:ea typeface="Cambria"/>
              <a:cs typeface="Cambria"/>
              <a:sym typeface="Cambria"/>
            </a:endParaRPr>
          </a:p>
          <a:p>
            <a:pPr marL="457200" lvl="0" indent="-333375" algn="l" rtl="0">
              <a:lnSpc>
                <a:spcPct val="115000"/>
              </a:lnSpc>
              <a:spcBef>
                <a:spcPts val="0"/>
              </a:spcBef>
              <a:spcAft>
                <a:spcPts val="0"/>
              </a:spcAft>
              <a:buClr>
                <a:srgbClr val="1F1F1F"/>
              </a:buClr>
              <a:buSzPts val="1650"/>
              <a:buFont typeface="Cambria"/>
              <a:buChar char="●"/>
            </a:pPr>
            <a:r>
              <a:rPr lang="es-ES" sz="1650">
                <a:solidFill>
                  <a:srgbClr val="1F1F1F"/>
                </a:solidFill>
                <a:highlight>
                  <a:srgbClr val="FFFFFF"/>
                </a:highlight>
                <a:latin typeface="Cambria"/>
                <a:ea typeface="Cambria"/>
                <a:cs typeface="Cambria"/>
                <a:sym typeface="Cambria"/>
              </a:rPr>
              <a:t>Acoplamiento débil entre componentes.</a:t>
            </a:r>
            <a:endParaRPr sz="1650">
              <a:solidFill>
                <a:srgbClr val="1F1F1F"/>
              </a:solidFill>
              <a:highlight>
                <a:srgbClr val="FFFFFF"/>
              </a:highlight>
              <a:latin typeface="Cambria"/>
              <a:ea typeface="Cambria"/>
              <a:cs typeface="Cambria"/>
              <a:sym typeface="Cambria"/>
            </a:endParaRPr>
          </a:p>
          <a:p>
            <a:pPr marL="457200" lvl="0" indent="-333375" algn="l" rtl="0">
              <a:lnSpc>
                <a:spcPct val="115000"/>
              </a:lnSpc>
              <a:spcBef>
                <a:spcPts val="0"/>
              </a:spcBef>
              <a:spcAft>
                <a:spcPts val="0"/>
              </a:spcAft>
              <a:buClr>
                <a:srgbClr val="1F1F1F"/>
              </a:buClr>
              <a:buSzPts val="1650"/>
              <a:buFont typeface="Cambria"/>
              <a:buChar char="●"/>
            </a:pPr>
            <a:r>
              <a:rPr lang="es-ES" sz="1650">
                <a:solidFill>
                  <a:srgbClr val="1F1F1F"/>
                </a:solidFill>
                <a:highlight>
                  <a:srgbClr val="FFFFFF"/>
                </a:highlight>
                <a:latin typeface="Cambria"/>
                <a:ea typeface="Cambria"/>
                <a:cs typeface="Cambria"/>
                <a:sym typeface="Cambria"/>
              </a:rPr>
              <a:t>Escalabilidad y mantenibilidad.</a:t>
            </a:r>
            <a:endParaRPr sz="1650">
              <a:solidFill>
                <a:srgbClr val="1F1F1F"/>
              </a:solidFill>
              <a:highlight>
                <a:srgbClr val="FFFFFF"/>
              </a:highlight>
              <a:latin typeface="Cambria"/>
              <a:ea typeface="Cambria"/>
              <a:cs typeface="Cambria"/>
              <a:sym typeface="Cambria"/>
            </a:endParaRPr>
          </a:p>
          <a:p>
            <a:pPr marL="0" lvl="0" indent="0" algn="just" rtl="0">
              <a:lnSpc>
                <a:spcPct val="107000"/>
              </a:lnSpc>
              <a:spcBef>
                <a:spcPts val="0"/>
              </a:spcBef>
              <a:spcAft>
                <a:spcPts val="0"/>
              </a:spcAft>
              <a:buSzPts val="1656"/>
              <a:buNone/>
            </a:pPr>
            <a:endParaRPr sz="1650">
              <a:latin typeface="Cambria"/>
              <a:ea typeface="Cambria"/>
              <a:cs typeface="Cambria"/>
              <a:sym typeface="Cambria"/>
            </a:endParaRPr>
          </a:p>
        </p:txBody>
      </p:sp>
      <p:sp>
        <p:nvSpPr>
          <p:cNvPr id="116" name="Google Shape;116;p3"/>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MARCO TEÓRICO</a:t>
            </a:r>
            <a:endParaRPr sz="1800" b="0" i="0" u="none" strike="noStrike" cap="none">
              <a:solidFill>
                <a:srgbClr val="FFFF00"/>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DESARROLLO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3a5b9630aa3_8_47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MARCO TEÓRICO</a:t>
            </a:r>
            <a:endParaRPr/>
          </a:p>
        </p:txBody>
      </p:sp>
      <p:sp>
        <p:nvSpPr>
          <p:cNvPr id="122" name="Google Shape;122;g3a5b9630aa3_8_470"/>
          <p:cNvSpPr txBox="1">
            <a:spLocks noGrp="1"/>
          </p:cNvSpPr>
          <p:nvPr>
            <p:ph type="body" idx="1"/>
          </p:nvPr>
        </p:nvSpPr>
        <p:spPr>
          <a:xfrm>
            <a:off x="471250" y="2565450"/>
            <a:ext cx="8589300" cy="38604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Clr>
                <a:schemeClr val="dk1"/>
              </a:buClr>
              <a:buSzPts val="1100"/>
              <a:buFont typeface="Arial"/>
              <a:buNone/>
            </a:pPr>
            <a:r>
              <a:rPr lang="es-ES" sz="1650" b="1">
                <a:solidFill>
                  <a:srgbClr val="1F1F1F"/>
                </a:solidFill>
                <a:highlight>
                  <a:srgbClr val="FFFFFF"/>
                </a:highlight>
                <a:latin typeface="Cambria"/>
                <a:ea typeface="Cambria"/>
                <a:cs typeface="Cambria"/>
                <a:sym typeface="Cambria"/>
              </a:rPr>
              <a:t>1.2 SERVICIOS WEB RESTful</a:t>
            </a:r>
            <a:endParaRPr sz="1650" b="1">
              <a:solidFill>
                <a:srgbClr val="1F1F1F"/>
              </a:solidFill>
              <a:highlight>
                <a:srgbClr val="FFFFFF"/>
              </a:highlight>
              <a:latin typeface="Cambria"/>
              <a:ea typeface="Cambria"/>
              <a:cs typeface="Cambria"/>
              <a:sym typeface="Cambria"/>
            </a:endParaRPr>
          </a:p>
          <a:p>
            <a:pPr marL="0" lvl="0" indent="0" algn="just" rtl="0">
              <a:lnSpc>
                <a:spcPct val="107000"/>
              </a:lnSpc>
              <a:spcBef>
                <a:spcPts val="0"/>
              </a:spcBef>
              <a:spcAft>
                <a:spcPts val="0"/>
              </a:spcAft>
              <a:buClr>
                <a:schemeClr val="dk1"/>
              </a:buClr>
              <a:buSzPts val="1100"/>
              <a:buFont typeface="Arial"/>
              <a:buNone/>
            </a:pPr>
            <a:r>
              <a:rPr lang="es-ES" sz="1650">
                <a:solidFill>
                  <a:srgbClr val="1F1F1F"/>
                </a:solidFill>
                <a:highlight>
                  <a:srgbClr val="FFFFFF"/>
                </a:highlight>
                <a:latin typeface="Cambria"/>
                <a:ea typeface="Cambria"/>
                <a:cs typeface="Cambria"/>
                <a:sym typeface="Cambria"/>
              </a:rPr>
              <a:t>REST (Representational State Transfer) es un estilo arquitectónico que utiliza los protocolos estándar de la web (principalmente HTTP) para crear servicios web escalables, ligeros y de alto rendimiento. En este proyecto, el uso de servicios RESTful puede optimizar la comunicación para el sistema de comercialización de electrodomésticos, especialmente si se busca mayor simplicidad y una menor sobrecarga en la comunicación.</a:t>
            </a:r>
            <a:endParaRPr sz="1650">
              <a:solidFill>
                <a:srgbClr val="1F1F1F"/>
              </a:solidFill>
              <a:highlight>
                <a:srgbClr val="FFFFFF"/>
              </a:highlight>
              <a:latin typeface="Cambria"/>
              <a:ea typeface="Cambria"/>
              <a:cs typeface="Cambria"/>
              <a:sym typeface="Cambria"/>
            </a:endParaRPr>
          </a:p>
          <a:p>
            <a:pPr marL="0" lvl="0" indent="0" algn="just" rtl="0">
              <a:lnSpc>
                <a:spcPct val="107000"/>
              </a:lnSpc>
              <a:spcBef>
                <a:spcPts val="0"/>
              </a:spcBef>
              <a:spcAft>
                <a:spcPts val="0"/>
              </a:spcAft>
              <a:buClr>
                <a:schemeClr val="dk1"/>
              </a:buClr>
              <a:buSzPts val="1100"/>
              <a:buFont typeface="Arial"/>
              <a:buNone/>
            </a:pPr>
            <a:endParaRPr sz="1650">
              <a:solidFill>
                <a:srgbClr val="1F1F1F"/>
              </a:solidFill>
              <a:highlight>
                <a:srgbClr val="FFFFFF"/>
              </a:highlight>
              <a:latin typeface="Cambria"/>
              <a:ea typeface="Cambria"/>
              <a:cs typeface="Cambria"/>
              <a:sym typeface="Cambria"/>
            </a:endParaRPr>
          </a:p>
          <a:p>
            <a:pPr marL="0" lvl="0" indent="0" algn="just" rtl="0">
              <a:lnSpc>
                <a:spcPct val="107000"/>
              </a:lnSpc>
              <a:spcBef>
                <a:spcPts val="0"/>
              </a:spcBef>
              <a:spcAft>
                <a:spcPts val="0"/>
              </a:spcAft>
              <a:buClr>
                <a:schemeClr val="dk1"/>
              </a:buClr>
              <a:buSzPts val="1100"/>
              <a:buFont typeface="Arial"/>
              <a:buNone/>
            </a:pPr>
            <a:r>
              <a:rPr lang="es-ES" sz="1650" b="1">
                <a:solidFill>
                  <a:srgbClr val="1F1F1F"/>
                </a:solidFill>
                <a:highlight>
                  <a:srgbClr val="FFFFFF"/>
                </a:highlight>
                <a:latin typeface="Cambria"/>
                <a:ea typeface="Cambria"/>
                <a:cs typeface="Cambria"/>
                <a:sym typeface="Cambria"/>
              </a:rPr>
              <a:t>Características principales de REST:</a:t>
            </a:r>
            <a:endParaRPr sz="1650" b="1">
              <a:solidFill>
                <a:srgbClr val="1F1F1F"/>
              </a:solidFill>
              <a:highlight>
                <a:srgbClr val="FFFFFF"/>
              </a:highlight>
              <a:latin typeface="Cambria"/>
              <a:ea typeface="Cambria"/>
              <a:cs typeface="Cambria"/>
              <a:sym typeface="Cambria"/>
            </a:endParaRPr>
          </a:p>
          <a:p>
            <a:pPr marL="457200" lvl="0" indent="-333375" algn="l" rtl="0">
              <a:lnSpc>
                <a:spcPct val="115000"/>
              </a:lnSpc>
              <a:spcBef>
                <a:spcPts val="1200"/>
              </a:spcBef>
              <a:spcAft>
                <a:spcPts val="0"/>
              </a:spcAft>
              <a:buClr>
                <a:srgbClr val="1F1F1F"/>
              </a:buClr>
              <a:buSzPts val="1650"/>
              <a:buFont typeface="Roboto"/>
              <a:buChar char="●"/>
            </a:pPr>
            <a:r>
              <a:rPr lang="es-ES" sz="1650" b="1">
                <a:solidFill>
                  <a:srgbClr val="1F1F1F"/>
                </a:solidFill>
                <a:highlight>
                  <a:srgbClr val="FFFFFF"/>
                </a:highlight>
                <a:latin typeface="Cambria"/>
                <a:ea typeface="Cambria"/>
                <a:cs typeface="Cambria"/>
                <a:sym typeface="Cambria"/>
              </a:rPr>
              <a:t>Uso de HTTP Estándar:</a:t>
            </a:r>
            <a:r>
              <a:rPr lang="es-ES" sz="1650">
                <a:solidFill>
                  <a:srgbClr val="1F1F1F"/>
                </a:solidFill>
                <a:highlight>
                  <a:srgbClr val="FFFFFF"/>
                </a:highlight>
                <a:latin typeface="Cambria"/>
                <a:ea typeface="Cambria"/>
                <a:cs typeface="Cambria"/>
                <a:sym typeface="Cambria"/>
              </a:rPr>
              <a:t> Utiliza métodos HTTP (GET, POST, PUT, DELETE) para las operaciones de negocio.</a:t>
            </a:r>
            <a:endParaRPr sz="1650">
              <a:solidFill>
                <a:srgbClr val="1F1F1F"/>
              </a:solidFill>
              <a:highlight>
                <a:srgbClr val="FFFFFF"/>
              </a:highlight>
              <a:latin typeface="Cambria"/>
              <a:ea typeface="Cambria"/>
              <a:cs typeface="Cambria"/>
              <a:sym typeface="Cambria"/>
            </a:endParaRPr>
          </a:p>
          <a:p>
            <a:pPr marL="457200" lvl="0" indent="-333375" algn="l" rtl="0">
              <a:lnSpc>
                <a:spcPct val="115000"/>
              </a:lnSpc>
              <a:spcBef>
                <a:spcPts val="0"/>
              </a:spcBef>
              <a:spcAft>
                <a:spcPts val="0"/>
              </a:spcAft>
              <a:buClr>
                <a:srgbClr val="1F1F1F"/>
              </a:buClr>
              <a:buSzPts val="1650"/>
              <a:buFont typeface="Roboto"/>
              <a:buChar char="●"/>
            </a:pPr>
            <a:r>
              <a:rPr lang="es-ES" sz="1650" b="1">
                <a:solidFill>
                  <a:srgbClr val="1F1F1F"/>
                </a:solidFill>
                <a:highlight>
                  <a:srgbClr val="FFFFFF"/>
                </a:highlight>
                <a:latin typeface="Cambria"/>
                <a:ea typeface="Cambria"/>
                <a:cs typeface="Cambria"/>
                <a:sym typeface="Cambria"/>
              </a:rPr>
              <a:t>Comunicación sin estado (Stateless):</a:t>
            </a:r>
            <a:r>
              <a:rPr lang="es-ES" sz="1650">
                <a:solidFill>
                  <a:srgbClr val="1F1F1F"/>
                </a:solidFill>
                <a:highlight>
                  <a:srgbClr val="FFFFFF"/>
                </a:highlight>
                <a:latin typeface="Cambria"/>
                <a:ea typeface="Cambria"/>
                <a:cs typeface="Cambria"/>
                <a:sym typeface="Cambria"/>
              </a:rPr>
              <a:t> Cada solicitud contiene toda la información necesaria, facilitando la escalabilidad.</a:t>
            </a:r>
            <a:endParaRPr sz="1650">
              <a:solidFill>
                <a:srgbClr val="1F1F1F"/>
              </a:solidFill>
              <a:highlight>
                <a:srgbClr val="FFFFFF"/>
              </a:highlight>
              <a:latin typeface="Cambria"/>
              <a:ea typeface="Cambria"/>
              <a:cs typeface="Cambria"/>
              <a:sym typeface="Cambria"/>
            </a:endParaRPr>
          </a:p>
          <a:p>
            <a:pPr marL="457200" lvl="0" indent="-333375" algn="l" rtl="0">
              <a:lnSpc>
                <a:spcPct val="115000"/>
              </a:lnSpc>
              <a:spcBef>
                <a:spcPts val="0"/>
              </a:spcBef>
              <a:spcAft>
                <a:spcPts val="0"/>
              </a:spcAft>
              <a:buClr>
                <a:srgbClr val="1F1F1F"/>
              </a:buClr>
              <a:buSzPts val="1650"/>
              <a:buFont typeface="Roboto"/>
              <a:buChar char="●"/>
            </a:pPr>
            <a:r>
              <a:rPr lang="es-ES" sz="1650" b="1">
                <a:solidFill>
                  <a:srgbClr val="1F1F1F"/>
                </a:solidFill>
                <a:highlight>
                  <a:srgbClr val="FFFFFF"/>
                </a:highlight>
                <a:latin typeface="Cambria"/>
                <a:ea typeface="Cambria"/>
                <a:cs typeface="Cambria"/>
                <a:sym typeface="Cambria"/>
              </a:rPr>
              <a:t>Formatos Flexibles:</a:t>
            </a:r>
            <a:r>
              <a:rPr lang="es-ES" sz="1650">
                <a:solidFill>
                  <a:srgbClr val="1F1F1F"/>
                </a:solidFill>
                <a:highlight>
                  <a:srgbClr val="FFFFFF"/>
                </a:highlight>
                <a:latin typeface="Cambria"/>
                <a:ea typeface="Cambria"/>
                <a:cs typeface="Cambria"/>
                <a:sym typeface="Cambria"/>
              </a:rPr>
              <a:t> Soporte para diversos formatos de representación de datos, siendo JSON el más común y ligero.</a:t>
            </a:r>
            <a:endParaRPr sz="1650">
              <a:solidFill>
                <a:srgbClr val="1F1F1F"/>
              </a:solidFill>
              <a:highlight>
                <a:srgbClr val="FFFFFF"/>
              </a:highlight>
              <a:latin typeface="Cambria"/>
              <a:ea typeface="Cambria"/>
              <a:cs typeface="Cambria"/>
              <a:sym typeface="Cambria"/>
            </a:endParaRPr>
          </a:p>
          <a:p>
            <a:pPr marL="457200" lvl="0" indent="-333375" algn="l" rtl="0">
              <a:lnSpc>
                <a:spcPct val="115000"/>
              </a:lnSpc>
              <a:spcBef>
                <a:spcPts val="0"/>
              </a:spcBef>
              <a:spcAft>
                <a:spcPts val="0"/>
              </a:spcAft>
              <a:buClr>
                <a:srgbClr val="1F1F1F"/>
              </a:buClr>
              <a:buSzPts val="1650"/>
              <a:buFont typeface="Roboto"/>
              <a:buChar char="●"/>
            </a:pPr>
            <a:r>
              <a:rPr lang="es-ES" sz="1650" b="1">
                <a:solidFill>
                  <a:srgbClr val="1F1F1F"/>
                </a:solidFill>
                <a:highlight>
                  <a:srgbClr val="FFFFFF"/>
                </a:highlight>
                <a:latin typeface="Cambria"/>
                <a:ea typeface="Cambria"/>
                <a:cs typeface="Cambria"/>
                <a:sym typeface="Cambria"/>
              </a:rPr>
              <a:t>Acoplamiento Débil:</a:t>
            </a:r>
            <a:r>
              <a:rPr lang="es-ES" sz="1650">
                <a:solidFill>
                  <a:srgbClr val="1F1F1F"/>
                </a:solidFill>
                <a:highlight>
                  <a:srgbClr val="FFFFFF"/>
                </a:highlight>
                <a:latin typeface="Cambria"/>
                <a:ea typeface="Cambria"/>
                <a:cs typeface="Cambria"/>
                <a:sym typeface="Cambria"/>
              </a:rPr>
              <a:t> Promueve la independencia entre el cliente y el servidor.</a:t>
            </a:r>
            <a:endParaRPr sz="1650">
              <a:solidFill>
                <a:srgbClr val="1F1F1F"/>
              </a:solidFill>
              <a:highlight>
                <a:srgbClr val="FFFFFF"/>
              </a:highlight>
              <a:latin typeface="Cambria"/>
              <a:ea typeface="Cambria"/>
              <a:cs typeface="Cambria"/>
              <a:sym typeface="Cambria"/>
            </a:endParaRPr>
          </a:p>
          <a:p>
            <a:pPr marL="0" lvl="0" indent="0" algn="just" rtl="0">
              <a:lnSpc>
                <a:spcPct val="107000"/>
              </a:lnSpc>
              <a:spcBef>
                <a:spcPts val="0"/>
              </a:spcBef>
              <a:spcAft>
                <a:spcPts val="0"/>
              </a:spcAft>
              <a:buSzPts val="1656"/>
              <a:buNone/>
            </a:pPr>
            <a:endParaRPr sz="1650">
              <a:latin typeface="Cambria"/>
              <a:ea typeface="Cambria"/>
              <a:cs typeface="Cambria"/>
              <a:sym typeface="Cambria"/>
            </a:endParaRPr>
          </a:p>
          <a:p>
            <a:pPr marL="0" lvl="0" indent="0" algn="just" rtl="0">
              <a:lnSpc>
                <a:spcPct val="107000"/>
              </a:lnSpc>
              <a:spcBef>
                <a:spcPts val="0"/>
              </a:spcBef>
              <a:spcAft>
                <a:spcPts val="0"/>
              </a:spcAft>
              <a:buSzPts val="1656"/>
              <a:buNone/>
            </a:pPr>
            <a:endParaRPr sz="1650">
              <a:latin typeface="Cambria"/>
              <a:ea typeface="Cambria"/>
              <a:cs typeface="Cambria"/>
              <a:sym typeface="Cambria"/>
            </a:endParaRPr>
          </a:p>
        </p:txBody>
      </p:sp>
      <p:sp>
        <p:nvSpPr>
          <p:cNvPr id="123" name="Google Shape;123;g3a5b9630aa3_8_47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MARCO TEÓRICO</a:t>
            </a:r>
            <a:endParaRPr sz="1800" b="0" i="0" u="none" strike="noStrike" cap="none">
              <a:solidFill>
                <a:srgbClr val="FFFF00"/>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DESARROLLO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g3a5b9630aa3_7_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SzPts val="1800"/>
              <a:buNone/>
            </a:pPr>
            <a:r>
              <a:rPr lang="es-ES"/>
              <a:t>MARCO TEÓRICO</a:t>
            </a:r>
            <a:endParaRPr/>
          </a:p>
        </p:txBody>
      </p:sp>
      <p:sp>
        <p:nvSpPr>
          <p:cNvPr id="129" name="Google Shape;129;g3a5b9630aa3_7_7"/>
          <p:cNvSpPr txBox="1">
            <a:spLocks noGrp="1"/>
          </p:cNvSpPr>
          <p:nvPr>
            <p:ph type="body" idx="1"/>
          </p:nvPr>
        </p:nvSpPr>
        <p:spPr>
          <a:xfrm>
            <a:off x="581198" y="2180500"/>
            <a:ext cx="8590800" cy="3678300"/>
          </a:xfrm>
          <a:prstGeom prst="rect">
            <a:avLst/>
          </a:prstGeom>
          <a:noFill/>
          <a:ln>
            <a:noFill/>
          </a:ln>
        </p:spPr>
        <p:txBody>
          <a:bodyPr spcFirstLastPara="1" wrap="square" lIns="91425" tIns="45700" rIns="91425" bIns="45700" anchor="ctr" anchorCtr="0">
            <a:normAutofit fontScale="85000" lnSpcReduction="20000"/>
          </a:bodyPr>
          <a:lstStyle/>
          <a:p>
            <a:pPr marL="0" lvl="0" indent="0" algn="l" rtl="0">
              <a:lnSpc>
                <a:spcPct val="100000"/>
              </a:lnSpc>
              <a:spcBef>
                <a:spcPts val="360"/>
              </a:spcBef>
              <a:spcAft>
                <a:spcPts val="0"/>
              </a:spcAft>
              <a:buClr>
                <a:schemeClr val="dk1"/>
              </a:buClr>
              <a:buSzPct val="61110"/>
              <a:buFont typeface="Arial"/>
              <a:buNone/>
            </a:pPr>
            <a:r>
              <a:rPr lang="es-ES">
                <a:latin typeface="Cambria"/>
                <a:ea typeface="Cambria"/>
                <a:cs typeface="Cambria"/>
                <a:sym typeface="Cambria"/>
              </a:rPr>
              <a:t>1.3 TECNOLOGÍAS UTILIZADAS</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r>
              <a:rPr lang="es-ES">
                <a:latin typeface="Cambria"/>
                <a:ea typeface="Cambria"/>
                <a:cs typeface="Cambria"/>
                <a:sym typeface="Cambria"/>
              </a:rPr>
              <a:t>El proyecto implementa un stack tecnológico robusto basado en el ecosistema Java:</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r>
              <a:rPr lang="es-ES">
                <a:latin typeface="Cambria"/>
                <a:ea typeface="Cambria"/>
                <a:cs typeface="Cambria"/>
                <a:sym typeface="Cambria"/>
              </a:rPr>
              <a:t>• Lenguaje: C# 12 (C Sharp)</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r>
              <a:rPr lang="es-ES">
                <a:latin typeface="Cambria"/>
                <a:ea typeface="Cambria"/>
                <a:cs typeface="Cambria"/>
                <a:sym typeface="Cambria"/>
              </a:rPr>
              <a:t>• Framework: Java Framework 8.0 y WCF (Windows Communication Foundation)</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r>
              <a:rPr lang="es-ES">
                <a:latin typeface="Cambria"/>
                <a:ea typeface="Cambria"/>
                <a:cs typeface="Cambria"/>
                <a:sym typeface="Cambria"/>
              </a:rPr>
              <a:t>• Servidor Web: IIS 10.0 / IIS Express</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r>
              <a:rPr lang="es-ES">
                <a:latin typeface="Cambria"/>
                <a:ea typeface="Cambria"/>
                <a:cs typeface="Cambria"/>
                <a:sym typeface="Cambria"/>
              </a:rPr>
              <a:t>• ORM: Entity Framework 6.5.1</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r>
              <a:rPr lang="es-ES">
                <a:latin typeface="Cambria"/>
                <a:ea typeface="Cambria"/>
                <a:cs typeface="Cambria"/>
                <a:sym typeface="Cambria"/>
              </a:rPr>
              <a:t>Base de Datos: MySQL en Railway</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r>
              <a:rPr lang="es-ES">
                <a:latin typeface="Cambria"/>
                <a:ea typeface="Cambria"/>
                <a:cs typeface="Cambria"/>
                <a:sym typeface="Cambria"/>
              </a:rPr>
              <a:t>IDE: IntelliJ IDEA / Eclipse</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r>
              <a:rPr lang="es-ES">
                <a:latin typeface="Cambria"/>
                <a:ea typeface="Cambria"/>
                <a:cs typeface="Cambria"/>
                <a:sym typeface="Cambria"/>
              </a:rPr>
              <a:t>Build Tool: Maven / Gradle</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endParaRPr>
              <a:latin typeface="Cambria"/>
              <a:ea typeface="Cambria"/>
              <a:cs typeface="Cambria"/>
              <a:sym typeface="Cambria"/>
            </a:endParaRPr>
          </a:p>
          <a:p>
            <a:pPr marL="0" lvl="0" indent="0" algn="l" rtl="0">
              <a:lnSpc>
                <a:spcPct val="100000"/>
              </a:lnSpc>
              <a:spcBef>
                <a:spcPts val="600"/>
              </a:spcBef>
              <a:spcAft>
                <a:spcPts val="600"/>
              </a:spcAft>
              <a:buClr>
                <a:schemeClr val="dk1"/>
              </a:buClr>
              <a:buSzPct val="61110"/>
              <a:buFont typeface="Arial"/>
              <a:buNone/>
            </a:pPr>
            <a:r>
              <a:rPr lang="es-ES">
                <a:latin typeface="Cambria"/>
                <a:ea typeface="Cambria"/>
                <a:cs typeface="Cambria"/>
                <a:sym typeface="Cambria"/>
              </a:rPr>
              <a:t>Estas tecnologías garantizan un desarrollo eficiente, mantenible y escalable del sistema de integración.</a:t>
            </a:r>
            <a:endParaRPr/>
          </a:p>
        </p:txBody>
      </p:sp>
      <p:sp>
        <p:nvSpPr>
          <p:cNvPr id="130" name="Google Shape;130;g3a5b9630aa3_7_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MARCO TEÓRICO</a:t>
            </a:r>
            <a:endParaRPr sz="1800" b="0" i="0" u="none" strike="noStrike" cap="none">
              <a:solidFill>
                <a:srgbClr val="FFFF00"/>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DESARROLLO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3a5b9630aa3_7_1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SzPts val="1800"/>
              <a:buNone/>
            </a:pPr>
            <a:r>
              <a:rPr lang="es-ES"/>
              <a:t>MARCO TEÓRICO</a:t>
            </a:r>
            <a:endParaRPr/>
          </a:p>
        </p:txBody>
      </p:sp>
      <p:sp>
        <p:nvSpPr>
          <p:cNvPr id="136" name="Google Shape;136;g3a5b9630aa3_7_14"/>
          <p:cNvSpPr txBox="1">
            <a:spLocks noGrp="1"/>
          </p:cNvSpPr>
          <p:nvPr>
            <p:ph type="body" idx="1"/>
          </p:nvPr>
        </p:nvSpPr>
        <p:spPr>
          <a:xfrm>
            <a:off x="581198" y="2191799"/>
            <a:ext cx="8562900" cy="3678300"/>
          </a:xfrm>
          <a:prstGeom prst="rect">
            <a:avLst/>
          </a:prstGeom>
          <a:noFill/>
          <a:ln>
            <a:noFill/>
          </a:ln>
        </p:spPr>
        <p:txBody>
          <a:bodyPr spcFirstLastPara="1" wrap="square" lIns="91425" tIns="45700" rIns="91425" bIns="45700" anchor="ctr" anchorCtr="0">
            <a:normAutofit fontScale="92500" lnSpcReduction="20000"/>
          </a:bodyPr>
          <a:lstStyle/>
          <a:p>
            <a:pPr marL="0" lvl="0" indent="0" algn="l" rtl="0">
              <a:lnSpc>
                <a:spcPct val="100000"/>
              </a:lnSpc>
              <a:spcBef>
                <a:spcPts val="360"/>
              </a:spcBef>
              <a:spcAft>
                <a:spcPts val="0"/>
              </a:spcAft>
              <a:buClr>
                <a:schemeClr val="dk1"/>
              </a:buClr>
              <a:buSzPct val="61110"/>
              <a:buFont typeface="Arial"/>
              <a:buNone/>
            </a:pPr>
            <a:r>
              <a:rPr lang="es-ES">
                <a:latin typeface="Cambria"/>
                <a:ea typeface="Cambria"/>
                <a:cs typeface="Cambria"/>
                <a:sym typeface="Cambria"/>
              </a:rPr>
              <a:t>1.4 ARQUITECTURA EN CAPAS</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r>
              <a:rPr lang="es-ES">
                <a:latin typeface="Cambria"/>
                <a:ea typeface="Cambria"/>
                <a:cs typeface="Cambria"/>
                <a:sym typeface="Cambria"/>
              </a:rPr>
              <a:t>El sistema se estructura en tres capas lógicas principales que garantizan la separación de responsabilidades:</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r>
              <a:rPr lang="es-ES">
                <a:latin typeface="Cambria"/>
                <a:ea typeface="Cambria"/>
                <a:cs typeface="Cambria"/>
                <a:sym typeface="Cambria"/>
              </a:rPr>
              <a:t>• Capa de Presentación: Compuesta por aplicaciones cliente (Consola, Escritorio, Web, Móvil) que interactúan con el usuario</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r>
              <a:rPr lang="es-ES">
                <a:latin typeface="Cambria"/>
                <a:ea typeface="Cambria"/>
                <a:cs typeface="Cambria"/>
                <a:sym typeface="Cambria"/>
              </a:rPr>
              <a:t>• Capa de Lógica de Negocio: Contiene los servicios web RESTful(Servicio BanQuito y Servicio Comercializadora) que implementan las reglas de negocio</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r>
              <a:rPr lang="es-ES">
                <a:latin typeface="Cambria"/>
                <a:ea typeface="Cambria"/>
                <a:cs typeface="Cambria"/>
                <a:sym typeface="Cambria"/>
              </a:rPr>
              <a:t>• Capa de Acceso a Datos: Utiliza Entity Framework para la comunicación con las bases de datos banquito_db y comercializadora_db</a:t>
            </a: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endParaRPr>
              <a:latin typeface="Cambria"/>
              <a:ea typeface="Cambria"/>
              <a:cs typeface="Cambria"/>
              <a:sym typeface="Cambria"/>
            </a:endParaRPr>
          </a:p>
          <a:p>
            <a:pPr marL="0" lvl="0" indent="0" algn="l" rtl="0">
              <a:lnSpc>
                <a:spcPct val="100000"/>
              </a:lnSpc>
              <a:spcBef>
                <a:spcPts val="600"/>
              </a:spcBef>
              <a:spcAft>
                <a:spcPts val="0"/>
              </a:spcAft>
              <a:buClr>
                <a:schemeClr val="dk1"/>
              </a:buClr>
              <a:buSzPct val="61110"/>
              <a:buFont typeface="Arial"/>
              <a:buNone/>
            </a:pPr>
            <a:r>
              <a:rPr lang="es-ES">
                <a:latin typeface="Cambria"/>
                <a:ea typeface="Cambria"/>
                <a:cs typeface="Cambria"/>
                <a:sym typeface="Cambria"/>
              </a:rPr>
              <a:t>Esta arquitectura facilita el mantenimiento, testing y escalabilidad del sistema.</a:t>
            </a:r>
            <a:endParaRPr>
              <a:latin typeface="Cambria"/>
              <a:ea typeface="Cambria"/>
              <a:cs typeface="Cambria"/>
              <a:sym typeface="Cambria"/>
            </a:endParaRPr>
          </a:p>
          <a:p>
            <a:pPr marL="0" lvl="0" indent="0" algn="l" rtl="0">
              <a:lnSpc>
                <a:spcPct val="100000"/>
              </a:lnSpc>
              <a:spcBef>
                <a:spcPts val="600"/>
              </a:spcBef>
              <a:spcAft>
                <a:spcPts val="600"/>
              </a:spcAft>
              <a:buSzPct val="99459"/>
              <a:buNone/>
            </a:pPr>
            <a:endParaRPr/>
          </a:p>
        </p:txBody>
      </p:sp>
      <p:sp>
        <p:nvSpPr>
          <p:cNvPr id="137" name="Google Shape;137;g3a5b9630aa3_7_1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MARCO TEÓRICO</a:t>
            </a:r>
            <a:endParaRPr sz="1800" b="0" i="0" u="none" strike="noStrike" cap="none">
              <a:solidFill>
                <a:srgbClr val="FFFF00"/>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DESARROLLO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3a5b9630aa3_8_46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43" name="Google Shape;143;g3a5b9630aa3_8_462"/>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457200" lvl="0" indent="-333375" algn="just" rtl="0">
              <a:lnSpc>
                <a:spcPct val="107000"/>
              </a:lnSpc>
              <a:spcBef>
                <a:spcPts val="0"/>
              </a:spcBef>
              <a:spcAft>
                <a:spcPts val="0"/>
              </a:spcAft>
              <a:buSzPts val="1650"/>
              <a:buChar char="∙"/>
            </a:pPr>
            <a:r>
              <a:rPr lang="es-ES" sz="1650">
                <a:latin typeface="Cambria"/>
                <a:ea typeface="Cambria"/>
                <a:cs typeface="Cambria"/>
                <a:sym typeface="Cambria"/>
              </a:rPr>
              <a:t>2.1 OBJETIVO</a:t>
            </a:r>
            <a:endParaRPr sz="1650">
              <a:latin typeface="Cambria"/>
              <a:ea typeface="Cambria"/>
              <a:cs typeface="Cambria"/>
              <a:sym typeface="Cambria"/>
            </a:endParaRPr>
          </a:p>
          <a:p>
            <a:pPr marL="457200" lvl="0" indent="0" algn="just" rtl="0">
              <a:lnSpc>
                <a:spcPct val="107000"/>
              </a:lnSpc>
              <a:spcBef>
                <a:spcPts val="0"/>
              </a:spcBef>
              <a:spcAft>
                <a:spcPts val="0"/>
              </a:spcAft>
              <a:buNone/>
            </a:pPr>
            <a:r>
              <a:rPr lang="es-ES" sz="1650">
                <a:latin typeface="Cambria"/>
                <a:ea typeface="Cambria"/>
                <a:cs typeface="Cambria"/>
                <a:sym typeface="Cambria"/>
              </a:rPr>
              <a:t>Desarrollar una solución de software integral basada en una Arquitectura Orientada a Servicios (RESTful) que conecte el sistema de ventas de una comercializadora de electrodomésticos con el módulo de créditos del Banco BanQuito, con el fin de automatizar y agilizar el proceso de adquisición de productos financiados.</a:t>
            </a:r>
            <a:endParaRPr sz="1650">
              <a:latin typeface="Cambria"/>
              <a:ea typeface="Cambria"/>
              <a:cs typeface="Cambria"/>
              <a:sym typeface="Cambria"/>
            </a:endParaRPr>
          </a:p>
          <a:p>
            <a:pPr marL="0" lvl="0" indent="0" algn="just" rtl="0">
              <a:lnSpc>
                <a:spcPct val="107000"/>
              </a:lnSpc>
              <a:spcBef>
                <a:spcPts val="0"/>
              </a:spcBef>
              <a:spcAft>
                <a:spcPts val="0"/>
              </a:spcAft>
              <a:buNone/>
            </a:pPr>
            <a:endParaRPr>
              <a:latin typeface="Cambria"/>
              <a:ea typeface="Cambria"/>
              <a:cs typeface="Cambria"/>
              <a:sym typeface="Cambria"/>
            </a:endParaRPr>
          </a:p>
        </p:txBody>
      </p:sp>
      <p:sp>
        <p:nvSpPr>
          <p:cNvPr id="144" name="Google Shape;144;g3a5b9630aa3_8_46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OBJETIVO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50" name="Google Shape;150;p4"/>
          <p:cNvSpPr txBox="1">
            <a:spLocks noGrp="1"/>
          </p:cNvSpPr>
          <p:nvPr>
            <p:ph type="body" idx="1"/>
          </p:nvPr>
        </p:nvSpPr>
        <p:spPr>
          <a:xfrm>
            <a:off x="581192" y="2180496"/>
            <a:ext cx="8589441" cy="1380851"/>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pPr>
            <a:r>
              <a:rPr lang="es-ES" sz="1800">
                <a:latin typeface="Cambria"/>
                <a:ea typeface="Cambria"/>
                <a:cs typeface="Cambria"/>
                <a:sym typeface="Cambria"/>
              </a:rPr>
              <a:t>2.2	MODELO CONCEPTUAL DE LA BASE DE DATOS</a:t>
            </a:r>
            <a:endParaRPr/>
          </a:p>
          <a:p>
            <a:pPr marL="342900" marR="0" lvl="0" indent="-342900" algn="just" rtl="0">
              <a:lnSpc>
                <a:spcPct val="107000"/>
              </a:lnSpc>
              <a:spcBef>
                <a:spcPts val="0"/>
              </a:spcBef>
              <a:spcAft>
                <a:spcPts val="0"/>
              </a:spcAft>
              <a:buSzPts val="1656"/>
              <a:buFont typeface="Noto Sans Symbols"/>
              <a:buChar char="∙"/>
            </a:pPr>
            <a:r>
              <a:rPr lang="es-ES" sz="1800">
                <a:latin typeface="Cambria"/>
                <a:ea typeface="Cambria"/>
                <a:cs typeface="Cambria"/>
                <a:sym typeface="Cambria"/>
              </a:rPr>
              <a:t>1.	A continuación, se presente el modelo conceptual de las bases de datos </a:t>
            </a:r>
            <a:r>
              <a:rPr lang="es-ES">
                <a:latin typeface="Cambria"/>
                <a:ea typeface="Cambria"/>
                <a:cs typeface="Cambria"/>
                <a:sym typeface="Cambria"/>
              </a:rPr>
              <a:t>“BanQuito” Y “Comercializadora”</a:t>
            </a:r>
            <a:endParaRPr sz="1800">
              <a:latin typeface="Cambria"/>
              <a:ea typeface="Cambria"/>
              <a:cs typeface="Cambria"/>
              <a:sym typeface="Cambria"/>
            </a:endParaRPr>
          </a:p>
        </p:txBody>
      </p:sp>
      <p:sp>
        <p:nvSpPr>
          <p:cNvPr id="151" name="Google Shape;151;p4"/>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MODELO CONCEPTUAL DE LA BASE DE DATOS</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152" name="Google Shape;152;p4"/>
          <p:cNvPicPr preferRelativeResize="0"/>
          <p:nvPr/>
        </p:nvPicPr>
        <p:blipFill rotWithShape="1">
          <a:blip r:embed="rId3">
            <a:alphaModFix/>
          </a:blip>
          <a:srcRect t="-10550" b="10548"/>
          <a:stretch/>
        </p:blipFill>
        <p:spPr>
          <a:xfrm>
            <a:off x="91725" y="3436653"/>
            <a:ext cx="9078898" cy="31838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58" name="Google Shape;158;p5"/>
          <p:cNvSpPr txBox="1">
            <a:spLocks noGrp="1"/>
          </p:cNvSpPr>
          <p:nvPr>
            <p:ph type="body" idx="1"/>
          </p:nvPr>
        </p:nvSpPr>
        <p:spPr>
          <a:xfrm>
            <a:off x="595569" y="1849818"/>
            <a:ext cx="8589441" cy="1248504"/>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pPr>
            <a:r>
              <a:rPr lang="es-ES" sz="1800">
                <a:latin typeface="Cambria"/>
                <a:ea typeface="Cambria"/>
                <a:cs typeface="Cambria"/>
                <a:sym typeface="Cambria"/>
              </a:rPr>
              <a:t>2.3	CREAR BASE DE DATOS</a:t>
            </a:r>
            <a:endParaRPr/>
          </a:p>
          <a:p>
            <a:pPr marL="0" lvl="0" indent="0" algn="just" rtl="0">
              <a:lnSpc>
                <a:spcPct val="107000"/>
              </a:lnSpc>
              <a:spcBef>
                <a:spcPts val="0"/>
              </a:spcBef>
              <a:spcAft>
                <a:spcPts val="0"/>
              </a:spcAft>
              <a:buSzPts val="1656"/>
              <a:buNone/>
            </a:pPr>
            <a:r>
              <a:rPr lang="es-ES">
                <a:latin typeface="Cambria"/>
                <a:ea typeface="Cambria"/>
                <a:cs typeface="Cambria"/>
                <a:sym typeface="Cambria"/>
              </a:rPr>
              <a:t>Al abrir MySQL Railway se crean las bases de datos banquito_db y comercializadora_db.</a:t>
            </a:r>
            <a:endParaRPr/>
          </a:p>
        </p:txBody>
      </p:sp>
      <p:sp>
        <p:nvSpPr>
          <p:cNvPr id="159" name="Google Shape;159;p5"/>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CREAR BASE DE DATOS</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160" name="Google Shape;160;p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CREAR BASE DE DATOS</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161" name="Google Shape;161;p5"/>
          <p:cNvPicPr preferRelativeResize="0"/>
          <p:nvPr/>
        </p:nvPicPr>
        <p:blipFill>
          <a:blip r:embed="rId3">
            <a:alphaModFix/>
          </a:blip>
          <a:stretch>
            <a:fillRect/>
          </a:stretch>
        </p:blipFill>
        <p:spPr>
          <a:xfrm>
            <a:off x="1784113" y="3098325"/>
            <a:ext cx="6212350" cy="3637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67" name="Google Shape;167;p7"/>
          <p:cNvSpPr txBox="1">
            <a:spLocks noGrp="1"/>
          </p:cNvSpPr>
          <p:nvPr>
            <p:ph type="body" idx="1"/>
          </p:nvPr>
        </p:nvSpPr>
        <p:spPr>
          <a:xfrm>
            <a:off x="581192" y="1848998"/>
            <a:ext cx="8589441" cy="763187"/>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Cambria"/>
              <a:buChar char="∙"/>
            </a:pPr>
            <a:r>
              <a:rPr lang="es-ES">
                <a:latin typeface="Cambria"/>
                <a:ea typeface="Cambria"/>
                <a:cs typeface="Cambria"/>
                <a:sym typeface="Cambria"/>
              </a:rPr>
              <a:t>2.</a:t>
            </a:r>
            <a:r>
              <a:rPr lang="es-ES" sz="1800">
                <a:latin typeface="Cambria"/>
                <a:ea typeface="Cambria"/>
                <a:cs typeface="Cambria"/>
                <a:sym typeface="Cambria"/>
              </a:rPr>
              <a:t>4.</a:t>
            </a:r>
            <a:r>
              <a:rPr lang="es-ES">
                <a:latin typeface="Cambria"/>
                <a:ea typeface="Cambria"/>
                <a:cs typeface="Cambria"/>
                <a:sym typeface="Cambria"/>
              </a:rPr>
              <a:t> </a:t>
            </a:r>
            <a:r>
              <a:rPr lang="es-ES" sz="1800">
                <a:latin typeface="Cambria"/>
                <a:ea typeface="Cambria"/>
                <a:cs typeface="Cambria"/>
                <a:sym typeface="Cambria"/>
              </a:rPr>
              <a:t>Ahora para insertar datos deberemos usar nuestro script Carga_Datos.sql</a:t>
            </a:r>
            <a:r>
              <a:rPr lang="es-ES">
                <a:latin typeface="Cambria"/>
                <a:ea typeface="Cambria"/>
                <a:cs typeface="Cambria"/>
                <a:sym typeface="Cambria"/>
              </a:rPr>
              <a:t>, copiamos y PEGAMOS su contenido en la herramienta y verificamos</a:t>
            </a:r>
            <a:endParaRPr sz="1800">
              <a:latin typeface="Cambria"/>
              <a:ea typeface="Cambria"/>
              <a:cs typeface="Cambria"/>
              <a:sym typeface="Cambria"/>
            </a:endParaRPr>
          </a:p>
        </p:txBody>
      </p:sp>
      <p:sp>
        <p:nvSpPr>
          <p:cNvPr id="168" name="Google Shape;168;p7"/>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CREAR BASE DE DATOS</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169" name="Google Shape;169;p7"/>
          <p:cNvPicPr preferRelativeResize="0"/>
          <p:nvPr/>
        </p:nvPicPr>
        <p:blipFill rotWithShape="1">
          <a:blip r:embed="rId3">
            <a:alphaModFix/>
          </a:blip>
          <a:srcRect/>
          <a:stretch/>
        </p:blipFill>
        <p:spPr>
          <a:xfrm>
            <a:off x="3521975" y="2745225"/>
            <a:ext cx="2808299" cy="408718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75" name="Google Shape;175;p8"/>
          <p:cNvSpPr txBox="1">
            <a:spLocks noGrp="1"/>
          </p:cNvSpPr>
          <p:nvPr>
            <p:ph type="body" idx="1"/>
          </p:nvPr>
        </p:nvSpPr>
        <p:spPr>
          <a:xfrm>
            <a:off x="450550" y="1919250"/>
            <a:ext cx="8796000" cy="1013700"/>
          </a:xfrm>
          <a:prstGeom prst="rect">
            <a:avLst/>
          </a:prstGeom>
          <a:noFill/>
          <a:ln>
            <a:noFill/>
          </a:ln>
        </p:spPr>
        <p:txBody>
          <a:bodyPr spcFirstLastPara="1" wrap="square" lIns="91425" tIns="45700" rIns="91425" bIns="45700" anchor="ctr" anchorCtr="0">
            <a:normAutofit fontScale="85000" lnSpcReduction="10000"/>
          </a:bodyPr>
          <a:lstStyle/>
          <a:p>
            <a:pPr marL="342900" marR="0" lvl="0" indent="-327126" algn="just" rtl="0">
              <a:lnSpc>
                <a:spcPct val="107000"/>
              </a:lnSpc>
              <a:spcBef>
                <a:spcPts val="0"/>
              </a:spcBef>
              <a:spcAft>
                <a:spcPts val="0"/>
              </a:spcAft>
              <a:buSzPct val="91999"/>
              <a:buFont typeface="Noto Sans Symbols"/>
              <a:buChar char="∙"/>
            </a:pPr>
            <a:r>
              <a:rPr lang="es-ES" sz="1800">
                <a:latin typeface="Cambria"/>
                <a:ea typeface="Cambria"/>
                <a:cs typeface="Cambria"/>
                <a:sym typeface="Cambria"/>
              </a:rPr>
              <a:t>2.4	Creación del Servidor </a:t>
            </a:r>
            <a:r>
              <a:rPr lang="es-ES">
                <a:latin typeface="Cambria"/>
                <a:ea typeface="Cambria"/>
                <a:cs typeface="Cambria"/>
                <a:sym typeface="Cambria"/>
              </a:rPr>
              <a:t>RESTful</a:t>
            </a:r>
            <a:endParaRPr>
              <a:latin typeface="Cambria"/>
              <a:ea typeface="Cambria"/>
              <a:cs typeface="Cambria"/>
              <a:sym typeface="Cambria"/>
            </a:endParaRPr>
          </a:p>
          <a:p>
            <a:pPr marL="0" lvl="0" indent="0" algn="just" rtl="0">
              <a:lnSpc>
                <a:spcPct val="107000"/>
              </a:lnSpc>
              <a:spcBef>
                <a:spcPts val="0"/>
              </a:spcBef>
              <a:spcAft>
                <a:spcPts val="0"/>
              </a:spcAft>
              <a:buSzPct val="108235"/>
              <a:buNone/>
            </a:pPr>
            <a:r>
              <a:rPr lang="es-ES">
                <a:latin typeface="Cambria"/>
                <a:ea typeface="Cambria"/>
                <a:cs typeface="Cambria"/>
                <a:sym typeface="Cambria"/>
              </a:rPr>
              <a:t>Para comenzar con la creación del proyecto servidor se procede a crear un nuevo proyecto en Netbeans 21, el proyecto que se deberá seleccionar es del tipo Aplicación Spring Boot RESTful API con Java.</a:t>
            </a:r>
            <a:endParaRPr sz="1800">
              <a:latin typeface="Cambria"/>
              <a:ea typeface="Cambria"/>
              <a:cs typeface="Cambria"/>
              <a:sym typeface="Cambria"/>
            </a:endParaRPr>
          </a:p>
          <a:p>
            <a:pPr marL="0" marR="0" lvl="0" indent="0" algn="just" rtl="0">
              <a:lnSpc>
                <a:spcPct val="107000"/>
              </a:lnSpc>
              <a:spcBef>
                <a:spcPts val="0"/>
              </a:spcBef>
              <a:spcAft>
                <a:spcPts val="0"/>
              </a:spcAft>
              <a:buSzPct val="91999"/>
              <a:buFont typeface="Noto Sans Symbols"/>
              <a:buNone/>
            </a:pPr>
            <a:endParaRPr sz="1800">
              <a:latin typeface="Cambria"/>
              <a:ea typeface="Cambria"/>
              <a:cs typeface="Cambria"/>
              <a:sym typeface="Cambria"/>
            </a:endParaRPr>
          </a:p>
        </p:txBody>
      </p:sp>
      <p:sp>
        <p:nvSpPr>
          <p:cNvPr id="176" name="Google Shape;176;p8"/>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177" name="Google Shape;177;p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178" name="Google Shape;178;p8"/>
          <p:cNvPicPr preferRelativeResize="0"/>
          <p:nvPr/>
        </p:nvPicPr>
        <p:blipFill>
          <a:blip r:embed="rId3">
            <a:alphaModFix/>
          </a:blip>
          <a:stretch>
            <a:fillRect/>
          </a:stretch>
        </p:blipFill>
        <p:spPr>
          <a:xfrm>
            <a:off x="450550" y="3398175"/>
            <a:ext cx="3984024" cy="2689950"/>
          </a:xfrm>
          <a:prstGeom prst="rect">
            <a:avLst/>
          </a:prstGeom>
          <a:noFill/>
          <a:ln w="88900" cap="flat" cmpd="sng">
            <a:solidFill>
              <a:srgbClr val="000000"/>
            </a:solidFill>
            <a:prstDash val="solid"/>
            <a:miter lim="8000"/>
            <a:headEnd type="none" w="sm" len="sm"/>
            <a:tailEnd type="none" w="sm" len="sm"/>
          </a:ln>
        </p:spPr>
      </p:pic>
      <p:pic>
        <p:nvPicPr>
          <p:cNvPr id="179" name="Google Shape;179;p8"/>
          <p:cNvPicPr preferRelativeResize="0"/>
          <p:nvPr/>
        </p:nvPicPr>
        <p:blipFill>
          <a:blip r:embed="rId4">
            <a:alphaModFix/>
          </a:blip>
          <a:stretch>
            <a:fillRect/>
          </a:stretch>
        </p:blipFill>
        <p:spPr>
          <a:xfrm>
            <a:off x="4921325" y="3603225"/>
            <a:ext cx="4325225" cy="2279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5" name="Google Shape;185;p9"/>
          <p:cNvSpPr txBox="1">
            <a:spLocks noGrp="1"/>
          </p:cNvSpPr>
          <p:nvPr>
            <p:ph type="body" idx="1"/>
          </p:nvPr>
        </p:nvSpPr>
        <p:spPr>
          <a:xfrm>
            <a:off x="390692" y="1962876"/>
            <a:ext cx="8589441" cy="609601"/>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Cambria"/>
              <a:buChar char="∙"/>
            </a:pPr>
            <a:r>
              <a:rPr lang="es-ES" sz="1800">
                <a:latin typeface="Cambria"/>
                <a:ea typeface="Cambria"/>
                <a:cs typeface="Cambria"/>
                <a:sym typeface="Cambria"/>
              </a:rPr>
              <a:t>2.	Luego ajustar las configuraciones del servidor</a:t>
            </a:r>
            <a:r>
              <a:rPr lang="es-ES">
                <a:latin typeface="Cambria"/>
                <a:ea typeface="Cambria"/>
                <a:cs typeface="Cambria"/>
                <a:sym typeface="Cambria"/>
              </a:rPr>
              <a:t> elegir proyecto vacío</a:t>
            </a:r>
            <a:r>
              <a:rPr lang="es-ES" sz="1800">
                <a:latin typeface="Cambria"/>
                <a:ea typeface="Cambria"/>
                <a:cs typeface="Cambria"/>
                <a:sym typeface="Cambria"/>
              </a:rPr>
              <a:t>.</a:t>
            </a:r>
            <a:endParaRPr>
              <a:latin typeface="Cambria"/>
              <a:ea typeface="Cambria"/>
              <a:cs typeface="Cambria"/>
              <a:sym typeface="Cambria"/>
            </a:endParaRPr>
          </a:p>
        </p:txBody>
      </p:sp>
      <p:sp>
        <p:nvSpPr>
          <p:cNvPr id="186" name="Google Shape;186;p9"/>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187" name="Google Shape;187;p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188" name="Google Shape;188;p9" descr="Interfaz de usuario gráfica, Texto, Aplicación, Correo electrónico&#10;&#10;Descripción generada automáticamente"/>
          <p:cNvPicPr preferRelativeResize="0"/>
          <p:nvPr/>
        </p:nvPicPr>
        <p:blipFill>
          <a:blip r:embed="rId3">
            <a:alphaModFix/>
          </a:blip>
          <a:stretch>
            <a:fillRect/>
          </a:stretch>
        </p:blipFill>
        <p:spPr>
          <a:xfrm>
            <a:off x="2123188" y="2819400"/>
            <a:ext cx="5124450" cy="3533775"/>
          </a:xfrm>
          <a:prstGeom prst="rect">
            <a:avLst/>
          </a:prstGeom>
          <a:noFill/>
          <a:ln w="88900" cap="flat" cmpd="sng">
            <a:solidFill>
              <a:srgbClr val="000000"/>
            </a:solidFill>
            <a:prstDash val="solid"/>
            <a:miter lim="8000"/>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0"/>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94" name="Google Shape;194;p10"/>
          <p:cNvSpPr txBox="1">
            <a:spLocks noGrp="1"/>
          </p:cNvSpPr>
          <p:nvPr>
            <p:ph type="body" idx="1"/>
          </p:nvPr>
        </p:nvSpPr>
        <p:spPr>
          <a:xfrm>
            <a:off x="581191" y="1905093"/>
            <a:ext cx="8589441" cy="529637"/>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3. Ahora se crea la estructura del proyecto</a:t>
            </a:r>
            <a:r>
              <a:rPr lang="es-ES" sz="1800">
                <a:latin typeface="Cambria"/>
                <a:ea typeface="Cambria"/>
                <a:cs typeface="Cambria"/>
                <a:sym typeface="Cambria"/>
              </a:rPr>
              <a:t>.</a:t>
            </a:r>
            <a:endParaRPr/>
          </a:p>
        </p:txBody>
      </p:sp>
      <p:sp>
        <p:nvSpPr>
          <p:cNvPr id="195" name="Google Shape;195;p10"/>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196" name="Google Shape;196;p1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197" name="Google Shape;197;p10"/>
          <p:cNvPicPr preferRelativeResize="0"/>
          <p:nvPr/>
        </p:nvPicPr>
        <p:blipFill>
          <a:blip r:embed="rId3">
            <a:alphaModFix/>
          </a:blip>
          <a:stretch>
            <a:fillRect/>
          </a:stretch>
        </p:blipFill>
        <p:spPr>
          <a:xfrm>
            <a:off x="6065175" y="2000749"/>
            <a:ext cx="2351950" cy="4720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3" name="Google Shape;203;p11"/>
          <p:cNvSpPr txBox="1">
            <a:spLocks noGrp="1"/>
          </p:cNvSpPr>
          <p:nvPr>
            <p:ph type="body" idx="1"/>
          </p:nvPr>
        </p:nvSpPr>
        <p:spPr>
          <a:xfrm>
            <a:off x="581192" y="1962603"/>
            <a:ext cx="8589441" cy="565297"/>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4. Ahora se crea una clase para hacer Conexión a la BDD y se codifica su lógica</a:t>
            </a:r>
            <a:r>
              <a:rPr lang="es-ES" sz="1800">
                <a:latin typeface="Cambria"/>
                <a:ea typeface="Cambria"/>
                <a:cs typeface="Cambria"/>
                <a:sym typeface="Cambria"/>
              </a:rPr>
              <a:t>.</a:t>
            </a:r>
            <a:endParaRPr sz="1800">
              <a:latin typeface="Cambria"/>
              <a:ea typeface="Cambria"/>
              <a:cs typeface="Cambria"/>
              <a:sym typeface="Cambria"/>
            </a:endParaRPr>
          </a:p>
        </p:txBody>
      </p:sp>
      <p:sp>
        <p:nvSpPr>
          <p:cNvPr id="204" name="Google Shape;204;p11"/>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205" name="Google Shape;205;p1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206" name="Google Shape;206;p11"/>
          <p:cNvPicPr preferRelativeResize="0"/>
          <p:nvPr/>
        </p:nvPicPr>
        <p:blipFill>
          <a:blip r:embed="rId3">
            <a:alphaModFix/>
          </a:blip>
          <a:stretch>
            <a:fillRect/>
          </a:stretch>
        </p:blipFill>
        <p:spPr>
          <a:xfrm>
            <a:off x="2154088" y="2680300"/>
            <a:ext cx="5443654" cy="40252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12" name="Google Shape;212;p13"/>
          <p:cNvSpPr txBox="1">
            <a:spLocks noGrp="1"/>
          </p:cNvSpPr>
          <p:nvPr>
            <p:ph type="body" idx="1"/>
          </p:nvPr>
        </p:nvSpPr>
        <p:spPr>
          <a:xfrm>
            <a:off x="581192" y="1721974"/>
            <a:ext cx="8589441" cy="845938"/>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5. Ahora en la carpeta Servicio creamos la clase CreditoService y CreditoValidatorService para manejar las funciones que se utilizarán</a:t>
            </a:r>
            <a:r>
              <a:rPr lang="es-ES" sz="1800">
                <a:latin typeface="Cambria"/>
                <a:ea typeface="Cambria"/>
                <a:cs typeface="Cambria"/>
                <a:sym typeface="Cambria"/>
              </a:rPr>
              <a:t>.</a:t>
            </a:r>
            <a:r>
              <a:rPr lang="es-ES">
                <a:latin typeface="Cambria"/>
                <a:ea typeface="Cambria"/>
                <a:cs typeface="Cambria"/>
                <a:sym typeface="Cambria"/>
              </a:rPr>
              <a:t> </a:t>
            </a:r>
            <a:endParaRPr sz="1800">
              <a:latin typeface="Cambria"/>
              <a:ea typeface="Cambria"/>
              <a:cs typeface="Cambria"/>
              <a:sym typeface="Cambria"/>
            </a:endParaRPr>
          </a:p>
        </p:txBody>
      </p:sp>
      <p:sp>
        <p:nvSpPr>
          <p:cNvPr id="213" name="Google Shape;213;p13"/>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214" name="Google Shape;214;p1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215" name="Google Shape;215;p13"/>
          <p:cNvPicPr preferRelativeResize="0"/>
          <p:nvPr/>
        </p:nvPicPr>
        <p:blipFill>
          <a:blip r:embed="rId3">
            <a:alphaModFix/>
          </a:blip>
          <a:stretch>
            <a:fillRect/>
          </a:stretch>
        </p:blipFill>
        <p:spPr>
          <a:xfrm>
            <a:off x="793500" y="2793576"/>
            <a:ext cx="3023850" cy="3672426"/>
          </a:xfrm>
          <a:prstGeom prst="rect">
            <a:avLst/>
          </a:prstGeom>
          <a:noFill/>
          <a:ln>
            <a:noFill/>
          </a:ln>
        </p:spPr>
      </p:pic>
      <p:pic>
        <p:nvPicPr>
          <p:cNvPr id="216" name="Google Shape;216;p13"/>
          <p:cNvPicPr preferRelativeResize="0"/>
          <p:nvPr/>
        </p:nvPicPr>
        <p:blipFill>
          <a:blip r:embed="rId4">
            <a:alphaModFix/>
          </a:blip>
          <a:stretch>
            <a:fillRect/>
          </a:stretch>
        </p:blipFill>
        <p:spPr>
          <a:xfrm>
            <a:off x="5283401" y="2737213"/>
            <a:ext cx="3023850" cy="378514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22" name="Google Shape;222;p14"/>
          <p:cNvSpPr txBox="1">
            <a:spLocks noGrp="1"/>
          </p:cNvSpPr>
          <p:nvPr>
            <p:ph type="body" idx="1"/>
          </p:nvPr>
        </p:nvSpPr>
        <p:spPr>
          <a:xfrm>
            <a:off x="554721" y="1752107"/>
            <a:ext cx="8558126" cy="570011"/>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6. Ahora </a:t>
            </a:r>
            <a:r>
              <a:rPr lang="es-ES" sz="1800">
                <a:latin typeface="Cambria"/>
                <a:ea typeface="Cambria"/>
                <a:cs typeface="Cambria"/>
                <a:sym typeface="Cambria"/>
              </a:rPr>
              <a:t>se </a:t>
            </a:r>
            <a:r>
              <a:rPr lang="es-ES">
                <a:latin typeface="Cambria"/>
                <a:ea typeface="Cambria"/>
                <a:cs typeface="Cambria"/>
                <a:sym typeface="Cambria"/>
              </a:rPr>
              <a:t>crea un nuevo Servidor De la Comercializadora con su estructura.</a:t>
            </a:r>
            <a:endParaRPr/>
          </a:p>
        </p:txBody>
      </p:sp>
      <p:sp>
        <p:nvSpPr>
          <p:cNvPr id="223" name="Google Shape;223;p14"/>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224" name="Google Shape;224;p1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225" name="Google Shape;225;p14"/>
          <p:cNvPicPr preferRelativeResize="0"/>
          <p:nvPr/>
        </p:nvPicPr>
        <p:blipFill>
          <a:blip r:embed="rId3">
            <a:alphaModFix/>
          </a:blip>
          <a:stretch>
            <a:fillRect/>
          </a:stretch>
        </p:blipFill>
        <p:spPr>
          <a:xfrm>
            <a:off x="3634075" y="2322118"/>
            <a:ext cx="2162094" cy="423108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1" name="Google Shape;231;p15"/>
          <p:cNvSpPr txBox="1">
            <a:spLocks noGrp="1"/>
          </p:cNvSpPr>
          <p:nvPr>
            <p:ph type="body" idx="1"/>
          </p:nvPr>
        </p:nvSpPr>
        <p:spPr>
          <a:xfrm>
            <a:off x="580915" y="1952011"/>
            <a:ext cx="8531932" cy="601523"/>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7. Se procede a codificar la lógica para usar los métodos desarrollados</a:t>
            </a:r>
            <a:r>
              <a:rPr lang="es-ES" sz="1800">
                <a:latin typeface="Cambria"/>
                <a:ea typeface="Cambria"/>
                <a:cs typeface="Cambria"/>
                <a:sym typeface="Cambria"/>
              </a:rPr>
              <a:t>.</a:t>
            </a:r>
            <a:endParaRPr/>
          </a:p>
        </p:txBody>
      </p:sp>
      <p:sp>
        <p:nvSpPr>
          <p:cNvPr id="232" name="Google Shape;232;p15"/>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SERVIDOR SOAP</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233" name="Google Shape;233;p15"/>
          <p:cNvPicPr preferRelativeResize="0"/>
          <p:nvPr/>
        </p:nvPicPr>
        <p:blipFill>
          <a:blip r:embed="rId3">
            <a:alphaModFix/>
          </a:blip>
          <a:stretch>
            <a:fillRect/>
          </a:stretch>
        </p:blipFill>
        <p:spPr>
          <a:xfrm>
            <a:off x="1053875" y="2553534"/>
            <a:ext cx="3197901" cy="3999667"/>
          </a:xfrm>
          <a:prstGeom prst="rect">
            <a:avLst/>
          </a:prstGeom>
          <a:noFill/>
          <a:ln>
            <a:noFill/>
          </a:ln>
        </p:spPr>
      </p:pic>
      <p:pic>
        <p:nvPicPr>
          <p:cNvPr id="234" name="Google Shape;234;p15"/>
          <p:cNvPicPr preferRelativeResize="0"/>
          <p:nvPr/>
        </p:nvPicPr>
        <p:blipFill>
          <a:blip r:embed="rId4">
            <a:alphaModFix/>
          </a:blip>
          <a:stretch>
            <a:fillRect/>
          </a:stretch>
        </p:blipFill>
        <p:spPr>
          <a:xfrm>
            <a:off x="4591276" y="2553534"/>
            <a:ext cx="3363895" cy="399966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40" name="Google Shape;240;p17"/>
          <p:cNvSpPr txBox="1">
            <a:spLocks noGrp="1"/>
          </p:cNvSpPr>
          <p:nvPr>
            <p:ph type="body" idx="1"/>
          </p:nvPr>
        </p:nvSpPr>
        <p:spPr>
          <a:xfrm>
            <a:off x="581192" y="1902964"/>
            <a:ext cx="8589441" cy="883545"/>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pPr>
            <a:r>
              <a:rPr lang="es-ES" sz="1800">
                <a:latin typeface="Cambria"/>
                <a:ea typeface="Cambria"/>
                <a:cs typeface="Cambria"/>
                <a:sym typeface="Cambria"/>
              </a:rPr>
              <a:t>2.5	PROYECTO – CLIENTE CONSOLA</a:t>
            </a:r>
            <a:endParaRPr/>
          </a:p>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Menú principal de navegación del sistema de consola</a:t>
            </a:r>
            <a:endParaRPr sz="1800">
              <a:latin typeface="Cambria"/>
              <a:ea typeface="Cambria"/>
              <a:cs typeface="Cambria"/>
              <a:sym typeface="Cambria"/>
            </a:endParaRPr>
          </a:p>
        </p:txBody>
      </p:sp>
      <p:sp>
        <p:nvSpPr>
          <p:cNvPr id="241" name="Google Shape;241;p17"/>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242" name="Google Shape;242;p17"/>
          <p:cNvPicPr preferRelativeResize="0"/>
          <p:nvPr/>
        </p:nvPicPr>
        <p:blipFill rotWithShape="1">
          <a:blip r:embed="rId3">
            <a:alphaModFix/>
          </a:blip>
          <a:srcRect/>
          <a:stretch/>
        </p:blipFill>
        <p:spPr>
          <a:xfrm>
            <a:off x="1118888" y="2854250"/>
            <a:ext cx="7514050" cy="3763650"/>
          </a:xfrm>
          <a:prstGeom prst="rect">
            <a:avLst/>
          </a:prstGeom>
          <a:noFill/>
          <a:ln>
            <a:noFill/>
          </a:ln>
        </p:spPr>
      </p:pic>
      <p:sp>
        <p:nvSpPr>
          <p:cNvPr id="243" name="Google Shape;243;p1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49" name="Google Shape;249;p18"/>
          <p:cNvSpPr txBox="1">
            <a:spLocks noGrp="1"/>
          </p:cNvSpPr>
          <p:nvPr>
            <p:ph type="body" idx="1"/>
          </p:nvPr>
        </p:nvSpPr>
        <p:spPr>
          <a:xfrm>
            <a:off x="581192" y="1902964"/>
            <a:ext cx="8589441" cy="883545"/>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1. </a:t>
            </a:r>
            <a:r>
              <a:rPr lang="es-ES" sz="1800">
                <a:latin typeface="Cambria"/>
                <a:ea typeface="Cambria"/>
                <a:cs typeface="Cambria"/>
                <a:sym typeface="Cambria"/>
              </a:rPr>
              <a:t>Se crea un cliente </a:t>
            </a:r>
            <a:r>
              <a:rPr lang="es-ES">
                <a:latin typeface="Cambria"/>
                <a:ea typeface="Cambria"/>
                <a:cs typeface="Cambria"/>
                <a:sym typeface="Cambria"/>
              </a:rPr>
              <a:t>consola</a:t>
            </a:r>
            <a:r>
              <a:rPr lang="es-ES" sz="1800">
                <a:latin typeface="Cambria"/>
                <a:ea typeface="Cambria"/>
                <a:cs typeface="Cambria"/>
                <a:sym typeface="Cambria"/>
              </a:rPr>
              <a:t>. Tomar en cuenta que el proyecto servidor debe estar desplegado, </a:t>
            </a:r>
            <a:r>
              <a:rPr lang="es-ES">
                <a:latin typeface="Cambria"/>
                <a:ea typeface="Cambria"/>
                <a:cs typeface="Cambria"/>
                <a:sym typeface="Cambria"/>
              </a:rPr>
              <a:t>y configurar las rutas del aplicativo.</a:t>
            </a:r>
            <a:endParaRPr/>
          </a:p>
        </p:txBody>
      </p:sp>
      <p:sp>
        <p:nvSpPr>
          <p:cNvPr id="250" name="Google Shape;250;p18"/>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251" name="Google Shape;251;p1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57" name="Google Shape;257;p19"/>
          <p:cNvSpPr txBox="1">
            <a:spLocks noGrp="1"/>
          </p:cNvSpPr>
          <p:nvPr>
            <p:ph type="body" idx="1"/>
          </p:nvPr>
        </p:nvSpPr>
        <p:spPr>
          <a:xfrm>
            <a:off x="581192" y="1902964"/>
            <a:ext cx="8589441" cy="883545"/>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2. Se crea la estructura del proyecto consola</a:t>
            </a:r>
            <a:endParaRPr sz="1800">
              <a:latin typeface="Cambria"/>
              <a:ea typeface="Cambria"/>
              <a:cs typeface="Cambria"/>
              <a:sym typeface="Cambria"/>
            </a:endParaRPr>
          </a:p>
        </p:txBody>
      </p:sp>
      <p:sp>
        <p:nvSpPr>
          <p:cNvPr id="258" name="Google Shape;258;p19"/>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259" name="Google Shape;259;p1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260" name="Google Shape;260;p19"/>
          <p:cNvPicPr preferRelativeResize="0"/>
          <p:nvPr/>
        </p:nvPicPr>
        <p:blipFill>
          <a:blip r:embed="rId3">
            <a:alphaModFix/>
          </a:blip>
          <a:stretch>
            <a:fillRect/>
          </a:stretch>
        </p:blipFill>
        <p:spPr>
          <a:xfrm>
            <a:off x="6253175" y="1902974"/>
            <a:ext cx="2138850" cy="4781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0"/>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66" name="Google Shape;266;p20"/>
          <p:cNvSpPr txBox="1">
            <a:spLocks noGrp="1"/>
          </p:cNvSpPr>
          <p:nvPr>
            <p:ph type="body" idx="1"/>
          </p:nvPr>
        </p:nvSpPr>
        <p:spPr>
          <a:xfrm>
            <a:off x="581192" y="1902964"/>
            <a:ext cx="8589441" cy="883545"/>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3. Se procede a implementar los modelos necesario para llevar a cabo las acciones en el paquete Models. </a:t>
            </a:r>
            <a:endParaRPr sz="1800">
              <a:latin typeface="Cambria"/>
              <a:ea typeface="Cambria"/>
              <a:cs typeface="Cambria"/>
              <a:sym typeface="Cambria"/>
            </a:endParaRPr>
          </a:p>
        </p:txBody>
      </p:sp>
      <p:sp>
        <p:nvSpPr>
          <p:cNvPr id="267" name="Google Shape;267;p20"/>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268" name="Google Shape;268;p2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269" name="Google Shape;269;p20"/>
          <p:cNvPicPr preferRelativeResize="0"/>
          <p:nvPr/>
        </p:nvPicPr>
        <p:blipFill>
          <a:blip r:embed="rId3">
            <a:alphaModFix/>
          </a:blip>
          <a:stretch>
            <a:fillRect/>
          </a:stretch>
        </p:blipFill>
        <p:spPr>
          <a:xfrm>
            <a:off x="271450" y="2786509"/>
            <a:ext cx="4045705" cy="3766691"/>
          </a:xfrm>
          <a:prstGeom prst="rect">
            <a:avLst/>
          </a:prstGeom>
          <a:noFill/>
          <a:ln>
            <a:noFill/>
          </a:ln>
        </p:spPr>
      </p:pic>
      <p:pic>
        <p:nvPicPr>
          <p:cNvPr id="270" name="Google Shape;270;p20"/>
          <p:cNvPicPr preferRelativeResize="0"/>
          <p:nvPr/>
        </p:nvPicPr>
        <p:blipFill>
          <a:blip r:embed="rId4">
            <a:alphaModFix/>
          </a:blip>
          <a:stretch>
            <a:fillRect/>
          </a:stretch>
        </p:blipFill>
        <p:spPr>
          <a:xfrm>
            <a:off x="4928805" y="2786509"/>
            <a:ext cx="2918716" cy="376669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6" name="Google Shape;276;p22"/>
          <p:cNvSpPr txBox="1">
            <a:spLocks noGrp="1"/>
          </p:cNvSpPr>
          <p:nvPr>
            <p:ph type="body" idx="1"/>
          </p:nvPr>
        </p:nvSpPr>
        <p:spPr>
          <a:xfrm>
            <a:off x="581192" y="1902964"/>
            <a:ext cx="8589441" cy="883545"/>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4</a:t>
            </a:r>
            <a:r>
              <a:rPr lang="es-ES" sz="1800">
                <a:latin typeface="Cambria"/>
                <a:ea typeface="Cambria"/>
                <a:cs typeface="Cambria"/>
                <a:sym typeface="Cambria"/>
              </a:rPr>
              <a:t>.</a:t>
            </a:r>
            <a:r>
              <a:rPr lang="es-ES">
                <a:latin typeface="Cambria"/>
                <a:ea typeface="Cambria"/>
                <a:cs typeface="Cambria"/>
                <a:sym typeface="Cambria"/>
              </a:rPr>
              <a:t> Se procede a implementar el modelo necesario para llevar a cabo las acciones, esto en una clase Comercializadora en el paquete Models. </a:t>
            </a:r>
            <a:endParaRPr sz="1800">
              <a:latin typeface="Cambria"/>
              <a:ea typeface="Cambria"/>
              <a:cs typeface="Cambria"/>
              <a:sym typeface="Cambria"/>
            </a:endParaRPr>
          </a:p>
        </p:txBody>
      </p:sp>
      <p:sp>
        <p:nvSpPr>
          <p:cNvPr id="277" name="Google Shape;277;p22"/>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278" name="Google Shape;278;p2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279" name="Google Shape;279;p22"/>
          <p:cNvPicPr preferRelativeResize="0"/>
          <p:nvPr/>
        </p:nvPicPr>
        <p:blipFill>
          <a:blip r:embed="rId3">
            <a:alphaModFix/>
          </a:blip>
          <a:stretch>
            <a:fillRect/>
          </a:stretch>
        </p:blipFill>
        <p:spPr>
          <a:xfrm>
            <a:off x="934800" y="2786509"/>
            <a:ext cx="2518530" cy="3766691"/>
          </a:xfrm>
          <a:prstGeom prst="rect">
            <a:avLst/>
          </a:prstGeom>
          <a:noFill/>
          <a:ln>
            <a:noFill/>
          </a:ln>
        </p:spPr>
      </p:pic>
      <p:pic>
        <p:nvPicPr>
          <p:cNvPr id="280" name="Google Shape;280;p22"/>
          <p:cNvPicPr preferRelativeResize="0"/>
          <p:nvPr/>
        </p:nvPicPr>
        <p:blipFill>
          <a:blip r:embed="rId4">
            <a:alphaModFix/>
          </a:blip>
          <a:stretch>
            <a:fillRect/>
          </a:stretch>
        </p:blipFill>
        <p:spPr>
          <a:xfrm>
            <a:off x="3674005" y="2786509"/>
            <a:ext cx="2403826" cy="3766691"/>
          </a:xfrm>
          <a:prstGeom prst="rect">
            <a:avLst/>
          </a:prstGeom>
          <a:noFill/>
          <a:ln>
            <a:noFill/>
          </a:ln>
        </p:spPr>
      </p:pic>
      <p:pic>
        <p:nvPicPr>
          <p:cNvPr id="281" name="Google Shape;281;p22"/>
          <p:cNvPicPr preferRelativeResize="0"/>
          <p:nvPr/>
        </p:nvPicPr>
        <p:blipFill>
          <a:blip r:embed="rId5">
            <a:alphaModFix/>
          </a:blip>
          <a:stretch>
            <a:fillRect/>
          </a:stretch>
        </p:blipFill>
        <p:spPr>
          <a:xfrm>
            <a:off x="6298507" y="2786509"/>
            <a:ext cx="2298604" cy="376669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87" name="Google Shape;287;p23"/>
          <p:cNvSpPr txBox="1">
            <a:spLocks noGrp="1"/>
          </p:cNvSpPr>
          <p:nvPr>
            <p:ph type="body" idx="1"/>
          </p:nvPr>
        </p:nvSpPr>
        <p:spPr>
          <a:xfrm>
            <a:off x="581192" y="1902964"/>
            <a:ext cx="8589441" cy="883545"/>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Cambria"/>
              <a:buChar char="∙"/>
            </a:pPr>
            <a:r>
              <a:rPr lang="es-ES">
                <a:latin typeface="Cambria"/>
                <a:ea typeface="Cambria"/>
                <a:cs typeface="Cambria"/>
                <a:sym typeface="Cambria"/>
              </a:rPr>
              <a:t>4</a:t>
            </a:r>
            <a:r>
              <a:rPr lang="es-ES" sz="1800">
                <a:latin typeface="Cambria"/>
                <a:ea typeface="Cambria"/>
                <a:cs typeface="Cambria"/>
                <a:sym typeface="Cambria"/>
              </a:rPr>
              <a:t>.</a:t>
            </a:r>
            <a:r>
              <a:rPr lang="es-ES">
                <a:latin typeface="Cambria"/>
                <a:ea typeface="Cambria"/>
                <a:cs typeface="Cambria"/>
                <a:sym typeface="Cambria"/>
              </a:rPr>
              <a:t> Se procede a implementar el modelo necesario para llevar a cabo las acciones, esto en una clase CalculoFactura en el paquete Models. </a:t>
            </a:r>
            <a:endParaRPr sz="1800">
              <a:latin typeface="Cambria"/>
              <a:ea typeface="Cambria"/>
              <a:cs typeface="Cambria"/>
              <a:sym typeface="Cambria"/>
            </a:endParaRPr>
          </a:p>
        </p:txBody>
      </p:sp>
      <p:sp>
        <p:nvSpPr>
          <p:cNvPr id="288" name="Google Shape;288;p23"/>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289" name="Google Shape;289;p2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290" name="Google Shape;290;p23"/>
          <p:cNvPicPr preferRelativeResize="0"/>
          <p:nvPr/>
        </p:nvPicPr>
        <p:blipFill>
          <a:blip r:embed="rId3">
            <a:alphaModFix/>
          </a:blip>
          <a:stretch>
            <a:fillRect/>
          </a:stretch>
        </p:blipFill>
        <p:spPr>
          <a:xfrm>
            <a:off x="3002050" y="2887859"/>
            <a:ext cx="3747716" cy="376669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4"/>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96" name="Google Shape;296;p24"/>
          <p:cNvSpPr txBox="1">
            <a:spLocks noGrp="1"/>
          </p:cNvSpPr>
          <p:nvPr>
            <p:ph type="body" idx="1"/>
          </p:nvPr>
        </p:nvSpPr>
        <p:spPr>
          <a:xfrm>
            <a:off x="581192" y="1902964"/>
            <a:ext cx="8589441" cy="883545"/>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4</a:t>
            </a:r>
            <a:r>
              <a:rPr lang="es-ES" sz="1800">
                <a:latin typeface="Cambria"/>
                <a:ea typeface="Cambria"/>
                <a:cs typeface="Cambria"/>
                <a:sym typeface="Cambria"/>
              </a:rPr>
              <a:t>.</a:t>
            </a:r>
            <a:r>
              <a:rPr lang="es-ES">
                <a:latin typeface="Cambria"/>
                <a:ea typeface="Cambria"/>
                <a:cs typeface="Cambria"/>
                <a:sym typeface="Cambria"/>
              </a:rPr>
              <a:t> Se procede a implementar el modelo necesario para llevar a cabo las acciones, esto en una clase SolicitudCalculo en el paquete Models. </a:t>
            </a:r>
            <a:endParaRPr sz="1800">
              <a:latin typeface="Cambria"/>
              <a:ea typeface="Cambria"/>
              <a:cs typeface="Cambria"/>
              <a:sym typeface="Cambria"/>
            </a:endParaRPr>
          </a:p>
        </p:txBody>
      </p:sp>
      <p:sp>
        <p:nvSpPr>
          <p:cNvPr id="297" name="Google Shape;297;p24"/>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298" name="Google Shape;298;p2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299" name="Google Shape;299;p24"/>
          <p:cNvPicPr preferRelativeResize="0"/>
          <p:nvPr/>
        </p:nvPicPr>
        <p:blipFill>
          <a:blip r:embed="rId3">
            <a:alphaModFix/>
          </a:blip>
          <a:stretch>
            <a:fillRect/>
          </a:stretch>
        </p:blipFill>
        <p:spPr>
          <a:xfrm>
            <a:off x="288475" y="2973534"/>
            <a:ext cx="4124325" cy="3238500"/>
          </a:xfrm>
          <a:prstGeom prst="rect">
            <a:avLst/>
          </a:prstGeom>
          <a:noFill/>
          <a:ln>
            <a:noFill/>
          </a:ln>
        </p:spPr>
      </p:pic>
      <p:pic>
        <p:nvPicPr>
          <p:cNvPr id="300" name="Google Shape;300;p24"/>
          <p:cNvPicPr preferRelativeResize="0"/>
          <p:nvPr/>
        </p:nvPicPr>
        <p:blipFill>
          <a:blip r:embed="rId4">
            <a:alphaModFix/>
          </a:blip>
          <a:stretch>
            <a:fillRect/>
          </a:stretch>
        </p:blipFill>
        <p:spPr>
          <a:xfrm>
            <a:off x="4701275" y="3325959"/>
            <a:ext cx="3990975" cy="2533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06" name="Google Shape;306;p25"/>
          <p:cNvSpPr txBox="1">
            <a:spLocks noGrp="1"/>
          </p:cNvSpPr>
          <p:nvPr>
            <p:ph type="body" idx="1"/>
          </p:nvPr>
        </p:nvSpPr>
        <p:spPr>
          <a:xfrm>
            <a:off x="330970" y="1785019"/>
            <a:ext cx="8589300" cy="8835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5</a:t>
            </a:r>
            <a:r>
              <a:rPr lang="es-ES" sz="1800">
                <a:latin typeface="Cambria"/>
                <a:ea typeface="Cambria"/>
                <a:cs typeface="Cambria"/>
                <a:sym typeface="Cambria"/>
              </a:rPr>
              <a:t>.</a:t>
            </a:r>
            <a:r>
              <a:rPr lang="es-ES">
                <a:latin typeface="Cambria"/>
                <a:ea typeface="Cambria"/>
                <a:cs typeface="Cambria"/>
                <a:sym typeface="Cambria"/>
              </a:rPr>
              <a:t> Ahora en la carpeta Services en la clase CreditoServiceClient creada se codifica la lógica del controlador. </a:t>
            </a:r>
            <a:endParaRPr sz="1800">
              <a:latin typeface="Cambria"/>
              <a:ea typeface="Cambria"/>
              <a:cs typeface="Cambria"/>
              <a:sym typeface="Cambria"/>
            </a:endParaRPr>
          </a:p>
        </p:txBody>
      </p:sp>
      <p:sp>
        <p:nvSpPr>
          <p:cNvPr id="307" name="Google Shape;307;p25"/>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308" name="Google Shape;308;p2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6"/>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4" name="Google Shape;314;p26"/>
          <p:cNvSpPr txBox="1">
            <a:spLocks noGrp="1"/>
          </p:cNvSpPr>
          <p:nvPr>
            <p:ph type="body" idx="1"/>
          </p:nvPr>
        </p:nvSpPr>
        <p:spPr>
          <a:xfrm>
            <a:off x="336716" y="1712320"/>
            <a:ext cx="8654883" cy="883545"/>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6</a:t>
            </a:r>
            <a:r>
              <a:rPr lang="es-ES" sz="1800">
                <a:latin typeface="Cambria"/>
                <a:ea typeface="Cambria"/>
                <a:cs typeface="Cambria"/>
                <a:sym typeface="Cambria"/>
              </a:rPr>
              <a:t>.</a:t>
            </a:r>
            <a:r>
              <a:rPr lang="es-ES">
                <a:latin typeface="Cambria"/>
                <a:ea typeface="Cambria"/>
                <a:cs typeface="Cambria"/>
                <a:sym typeface="Cambria"/>
              </a:rPr>
              <a:t> </a:t>
            </a:r>
            <a:r>
              <a:rPr lang="es-ES" sz="1800">
                <a:latin typeface="Cambria"/>
                <a:ea typeface="Cambria"/>
                <a:cs typeface="Cambria"/>
                <a:sym typeface="Cambria"/>
              </a:rPr>
              <a:t>Ahora </a:t>
            </a:r>
            <a:r>
              <a:rPr lang="es-ES">
                <a:latin typeface="Cambria"/>
                <a:ea typeface="Cambria"/>
                <a:cs typeface="Cambria"/>
                <a:sym typeface="Cambria"/>
              </a:rPr>
              <a:t>se codifica la clase de la vista FacturacionServiceClient la cual debe ser creada dentro de la carpeta respectiva. </a:t>
            </a:r>
            <a:endParaRPr sz="1800">
              <a:latin typeface="Cambria"/>
              <a:ea typeface="Cambria"/>
              <a:cs typeface="Cambria"/>
              <a:sym typeface="Cambria"/>
            </a:endParaRPr>
          </a:p>
        </p:txBody>
      </p:sp>
      <p:sp>
        <p:nvSpPr>
          <p:cNvPr id="315" name="Google Shape;315;p26"/>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316" name="Google Shape;316;p26"/>
          <p:cNvPicPr preferRelativeResize="0"/>
          <p:nvPr/>
        </p:nvPicPr>
        <p:blipFill rotWithShape="1">
          <a:blip r:embed="rId3">
            <a:alphaModFix/>
          </a:blip>
          <a:srcRect/>
          <a:stretch/>
        </p:blipFill>
        <p:spPr>
          <a:xfrm>
            <a:off x="2435313" y="2714490"/>
            <a:ext cx="4457688" cy="3957335"/>
          </a:xfrm>
          <a:prstGeom prst="rect">
            <a:avLst/>
          </a:prstGeom>
          <a:noFill/>
          <a:ln>
            <a:noFill/>
          </a:ln>
        </p:spPr>
      </p:pic>
      <p:sp>
        <p:nvSpPr>
          <p:cNvPr id="317" name="Google Shape;317;p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2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23" name="Google Shape;323;p27"/>
          <p:cNvSpPr txBox="1">
            <a:spLocks noGrp="1"/>
          </p:cNvSpPr>
          <p:nvPr>
            <p:ph type="body" idx="1"/>
          </p:nvPr>
        </p:nvSpPr>
        <p:spPr>
          <a:xfrm>
            <a:off x="581192" y="1742375"/>
            <a:ext cx="8458604" cy="620338"/>
          </a:xfrm>
          <a:prstGeom prst="rect">
            <a:avLst/>
          </a:prstGeom>
          <a:noFill/>
          <a:ln>
            <a:noFill/>
          </a:ln>
        </p:spPr>
        <p:txBody>
          <a:bodyPr spcFirstLastPara="1" wrap="square" lIns="91425" tIns="45700" rIns="91425" bIns="45700" anchor="ctr" anchorCtr="0">
            <a:normAutofit lnSpcReduction="20000"/>
          </a:bodyPr>
          <a:lstStyle/>
          <a:p>
            <a:pPr marL="342900" lvl="0" indent="-342900" algn="just" rtl="0">
              <a:lnSpc>
                <a:spcPct val="107000"/>
              </a:lnSpc>
              <a:spcBef>
                <a:spcPts val="0"/>
              </a:spcBef>
              <a:spcAft>
                <a:spcPts val="0"/>
              </a:spcAft>
              <a:buSzPts val="1656"/>
              <a:buFont typeface="Noto Sans Symbols"/>
              <a:buChar char="∙"/>
            </a:pPr>
            <a:r>
              <a:rPr lang="es-ES" sz="1800">
                <a:latin typeface="Cambria"/>
                <a:ea typeface="Cambria"/>
                <a:cs typeface="Cambria"/>
                <a:sym typeface="Cambria"/>
              </a:rPr>
              <a:t>7.</a:t>
            </a:r>
            <a:r>
              <a:rPr lang="es-ES">
                <a:latin typeface="Cambria"/>
                <a:ea typeface="Cambria"/>
                <a:cs typeface="Cambria"/>
                <a:sym typeface="Cambria"/>
              </a:rPr>
              <a:t> Ahora en la clase principal se codifica lo necesario para la ejecución del programa</a:t>
            </a:r>
            <a:endParaRPr sz="1800">
              <a:latin typeface="Cambria"/>
              <a:ea typeface="Cambria"/>
              <a:cs typeface="Cambria"/>
              <a:sym typeface="Cambria"/>
            </a:endParaRPr>
          </a:p>
        </p:txBody>
      </p:sp>
      <p:sp>
        <p:nvSpPr>
          <p:cNvPr id="324" name="Google Shape;324;p27"/>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325" name="Google Shape;325;p27"/>
          <p:cNvPicPr preferRelativeResize="0"/>
          <p:nvPr/>
        </p:nvPicPr>
        <p:blipFill rotWithShape="1">
          <a:blip r:embed="rId3">
            <a:alphaModFix/>
          </a:blip>
          <a:srcRect/>
          <a:stretch/>
        </p:blipFill>
        <p:spPr>
          <a:xfrm>
            <a:off x="3050675" y="2498238"/>
            <a:ext cx="3519642" cy="4190487"/>
          </a:xfrm>
          <a:prstGeom prst="rect">
            <a:avLst/>
          </a:prstGeom>
          <a:noFill/>
          <a:ln>
            <a:noFill/>
          </a:ln>
        </p:spPr>
      </p:pic>
      <p:sp>
        <p:nvSpPr>
          <p:cNvPr id="326" name="Google Shape;326;p2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32" name="Google Shape;332;p28"/>
          <p:cNvSpPr txBox="1">
            <a:spLocks noGrp="1"/>
          </p:cNvSpPr>
          <p:nvPr>
            <p:ph type="body" idx="1"/>
          </p:nvPr>
        </p:nvSpPr>
        <p:spPr>
          <a:xfrm>
            <a:off x="581192" y="1742375"/>
            <a:ext cx="8458604" cy="620338"/>
          </a:xfrm>
          <a:prstGeom prst="rect">
            <a:avLst/>
          </a:prstGeom>
          <a:noFill/>
          <a:ln>
            <a:noFill/>
          </a:ln>
        </p:spPr>
        <p:txBody>
          <a:bodyPr spcFirstLastPara="1" wrap="square" lIns="91425" tIns="45700" rIns="91425" bIns="45700" anchor="ctr" anchorCtr="0">
            <a:normAutofit lnSpcReduction="20000"/>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Consola: Menú principal, gestión de productos, facturación y consultas de clientes.</a:t>
            </a:r>
            <a:endParaRPr sz="1800">
              <a:latin typeface="Cambria"/>
              <a:ea typeface="Cambria"/>
              <a:cs typeface="Cambria"/>
              <a:sym typeface="Cambria"/>
            </a:endParaRPr>
          </a:p>
        </p:txBody>
      </p:sp>
      <p:sp>
        <p:nvSpPr>
          <p:cNvPr id="333" name="Google Shape;333;p28"/>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334" name="Google Shape;334;p28" title="Screenshot 2025-11-18 133632.png"/>
          <p:cNvPicPr preferRelativeResize="0"/>
          <p:nvPr/>
        </p:nvPicPr>
        <p:blipFill rotWithShape="1">
          <a:blip r:embed="rId3">
            <a:alphaModFix/>
          </a:blip>
          <a:srcRect/>
          <a:stretch/>
        </p:blipFill>
        <p:spPr>
          <a:xfrm>
            <a:off x="760825" y="2526830"/>
            <a:ext cx="7863825" cy="3931900"/>
          </a:xfrm>
          <a:prstGeom prst="rect">
            <a:avLst/>
          </a:prstGeom>
          <a:noFill/>
          <a:ln>
            <a:noFill/>
          </a:ln>
        </p:spPr>
      </p:pic>
      <p:sp>
        <p:nvSpPr>
          <p:cNvPr id="335" name="Google Shape;335;p2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g3a5b9630aa3_8_3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41" name="Google Shape;341;g3a5b9630aa3_8_36"/>
          <p:cNvSpPr txBox="1">
            <a:spLocks noGrp="1"/>
          </p:cNvSpPr>
          <p:nvPr>
            <p:ph type="body" idx="1"/>
          </p:nvPr>
        </p:nvSpPr>
        <p:spPr>
          <a:xfrm>
            <a:off x="581192" y="1742375"/>
            <a:ext cx="8458500" cy="6204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Consola: Listado completo de productos</a:t>
            </a:r>
            <a:endParaRPr sz="1800">
              <a:latin typeface="Cambria"/>
              <a:ea typeface="Cambria"/>
              <a:cs typeface="Cambria"/>
              <a:sym typeface="Cambria"/>
            </a:endParaRPr>
          </a:p>
        </p:txBody>
      </p:sp>
      <p:sp>
        <p:nvSpPr>
          <p:cNvPr id="342" name="Google Shape;342;g3a5b9630aa3_8_3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343" name="Google Shape;343;g3a5b9630aa3_8_36"/>
          <p:cNvPicPr preferRelativeResize="0"/>
          <p:nvPr/>
        </p:nvPicPr>
        <p:blipFill rotWithShape="1">
          <a:blip r:embed="rId3">
            <a:alphaModFix/>
          </a:blip>
          <a:srcRect/>
          <a:stretch/>
        </p:blipFill>
        <p:spPr>
          <a:xfrm>
            <a:off x="2110113" y="2726800"/>
            <a:ext cx="5400675" cy="3800475"/>
          </a:xfrm>
          <a:prstGeom prst="rect">
            <a:avLst/>
          </a:prstGeom>
          <a:noFill/>
          <a:ln>
            <a:noFill/>
          </a:ln>
        </p:spPr>
      </p:pic>
      <p:sp>
        <p:nvSpPr>
          <p:cNvPr id="344" name="Google Shape;344;g3a5b9630aa3_8_3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3a5b9630aa3_8_4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50" name="Google Shape;350;g3a5b9630aa3_8_45"/>
          <p:cNvSpPr txBox="1">
            <a:spLocks noGrp="1"/>
          </p:cNvSpPr>
          <p:nvPr>
            <p:ph type="body" idx="1"/>
          </p:nvPr>
        </p:nvSpPr>
        <p:spPr>
          <a:xfrm>
            <a:off x="581192" y="1742375"/>
            <a:ext cx="8458500" cy="6204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Consola: Búsqueda de productos por ID</a:t>
            </a:r>
            <a:endParaRPr sz="1800">
              <a:latin typeface="Cambria"/>
              <a:ea typeface="Cambria"/>
              <a:cs typeface="Cambria"/>
              <a:sym typeface="Cambria"/>
            </a:endParaRPr>
          </a:p>
        </p:txBody>
      </p:sp>
      <p:sp>
        <p:nvSpPr>
          <p:cNvPr id="351" name="Google Shape;351;g3a5b9630aa3_8_4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352" name="Google Shape;352;g3a5b9630aa3_8_45"/>
          <p:cNvPicPr preferRelativeResize="0"/>
          <p:nvPr/>
        </p:nvPicPr>
        <p:blipFill rotWithShape="1">
          <a:blip r:embed="rId3">
            <a:alphaModFix/>
          </a:blip>
          <a:srcRect/>
          <a:stretch/>
        </p:blipFill>
        <p:spPr>
          <a:xfrm>
            <a:off x="2110113" y="3042525"/>
            <a:ext cx="5400675" cy="3390900"/>
          </a:xfrm>
          <a:prstGeom prst="rect">
            <a:avLst/>
          </a:prstGeom>
          <a:noFill/>
          <a:ln>
            <a:noFill/>
          </a:ln>
        </p:spPr>
      </p:pic>
      <p:sp>
        <p:nvSpPr>
          <p:cNvPr id="353" name="Google Shape;353;g3a5b9630aa3_8_4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g3a5b9630aa3_8_5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59" name="Google Shape;359;g3a5b9630aa3_8_54"/>
          <p:cNvSpPr txBox="1">
            <a:spLocks noGrp="1"/>
          </p:cNvSpPr>
          <p:nvPr>
            <p:ph type="body" idx="1"/>
          </p:nvPr>
        </p:nvSpPr>
        <p:spPr>
          <a:xfrm>
            <a:off x="581192" y="1742375"/>
            <a:ext cx="8458500" cy="6204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Consola: Búsqueda de productos por categoría</a:t>
            </a:r>
            <a:endParaRPr sz="1800">
              <a:latin typeface="Cambria"/>
              <a:ea typeface="Cambria"/>
              <a:cs typeface="Cambria"/>
              <a:sym typeface="Cambria"/>
            </a:endParaRPr>
          </a:p>
        </p:txBody>
      </p:sp>
      <p:sp>
        <p:nvSpPr>
          <p:cNvPr id="360" name="Google Shape;360;g3a5b9630aa3_8_5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361" name="Google Shape;361;g3a5b9630aa3_8_54"/>
          <p:cNvPicPr preferRelativeResize="0"/>
          <p:nvPr/>
        </p:nvPicPr>
        <p:blipFill rotWithShape="1">
          <a:blip r:embed="rId3">
            <a:alphaModFix/>
          </a:blip>
          <a:srcRect/>
          <a:stretch/>
        </p:blipFill>
        <p:spPr>
          <a:xfrm>
            <a:off x="785938" y="2799650"/>
            <a:ext cx="8049026" cy="3733500"/>
          </a:xfrm>
          <a:prstGeom prst="rect">
            <a:avLst/>
          </a:prstGeom>
          <a:noFill/>
          <a:ln>
            <a:noFill/>
          </a:ln>
        </p:spPr>
      </p:pic>
      <p:sp>
        <p:nvSpPr>
          <p:cNvPr id="362" name="Google Shape;362;g3a5b9630aa3_8_5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3a5b9630aa3_8_6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68" name="Google Shape;368;g3a5b9630aa3_8_63"/>
          <p:cNvSpPr txBox="1">
            <a:spLocks noGrp="1"/>
          </p:cNvSpPr>
          <p:nvPr>
            <p:ph type="body" idx="1"/>
          </p:nvPr>
        </p:nvSpPr>
        <p:spPr>
          <a:xfrm>
            <a:off x="581192" y="1742375"/>
            <a:ext cx="8458500" cy="6204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Consola: Creación de nuevo producto</a:t>
            </a:r>
            <a:endParaRPr sz="1800">
              <a:latin typeface="Cambria"/>
              <a:ea typeface="Cambria"/>
              <a:cs typeface="Cambria"/>
              <a:sym typeface="Cambria"/>
            </a:endParaRPr>
          </a:p>
        </p:txBody>
      </p:sp>
      <p:sp>
        <p:nvSpPr>
          <p:cNvPr id="369" name="Google Shape;369;g3a5b9630aa3_8_6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370" name="Google Shape;370;g3a5b9630aa3_8_63"/>
          <p:cNvPicPr preferRelativeResize="0"/>
          <p:nvPr/>
        </p:nvPicPr>
        <p:blipFill rotWithShape="1">
          <a:blip r:embed="rId3">
            <a:alphaModFix/>
          </a:blip>
          <a:srcRect/>
          <a:stretch/>
        </p:blipFill>
        <p:spPr>
          <a:xfrm>
            <a:off x="1502803" y="2702525"/>
            <a:ext cx="6615275" cy="3733500"/>
          </a:xfrm>
          <a:prstGeom prst="rect">
            <a:avLst/>
          </a:prstGeom>
          <a:noFill/>
          <a:ln>
            <a:noFill/>
          </a:ln>
        </p:spPr>
      </p:pic>
      <p:sp>
        <p:nvSpPr>
          <p:cNvPr id="371" name="Google Shape;371;g3a5b9630aa3_8_6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3a5b9630aa3_8_7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7" name="Google Shape;377;g3a5b9630aa3_8_72"/>
          <p:cNvSpPr txBox="1">
            <a:spLocks noGrp="1"/>
          </p:cNvSpPr>
          <p:nvPr>
            <p:ph type="body" idx="1"/>
          </p:nvPr>
        </p:nvSpPr>
        <p:spPr>
          <a:xfrm>
            <a:off x="581192" y="1742375"/>
            <a:ext cx="8458500" cy="6204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Consola: Actualización de producto existente</a:t>
            </a:r>
            <a:endParaRPr sz="1800">
              <a:latin typeface="Cambria"/>
              <a:ea typeface="Cambria"/>
              <a:cs typeface="Cambria"/>
              <a:sym typeface="Cambria"/>
            </a:endParaRPr>
          </a:p>
        </p:txBody>
      </p:sp>
      <p:sp>
        <p:nvSpPr>
          <p:cNvPr id="378" name="Google Shape;378;g3a5b9630aa3_8_7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379" name="Google Shape;379;g3a5b9630aa3_8_72"/>
          <p:cNvPicPr preferRelativeResize="0"/>
          <p:nvPr/>
        </p:nvPicPr>
        <p:blipFill rotWithShape="1">
          <a:blip r:embed="rId3">
            <a:alphaModFix/>
          </a:blip>
          <a:srcRect/>
          <a:stretch/>
        </p:blipFill>
        <p:spPr>
          <a:xfrm>
            <a:off x="1385513" y="2848250"/>
            <a:ext cx="6849875" cy="3636350"/>
          </a:xfrm>
          <a:prstGeom prst="rect">
            <a:avLst/>
          </a:prstGeom>
          <a:noFill/>
          <a:ln>
            <a:noFill/>
          </a:ln>
        </p:spPr>
      </p:pic>
      <p:sp>
        <p:nvSpPr>
          <p:cNvPr id="380" name="Google Shape;380;g3a5b9630aa3_8_7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g3a5b9630aa3_8_8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86" name="Google Shape;386;g3a5b9630aa3_8_81"/>
          <p:cNvSpPr txBox="1">
            <a:spLocks noGrp="1"/>
          </p:cNvSpPr>
          <p:nvPr>
            <p:ph type="body" idx="1"/>
          </p:nvPr>
        </p:nvSpPr>
        <p:spPr>
          <a:xfrm>
            <a:off x="581192" y="1742375"/>
            <a:ext cx="8458500" cy="6204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Consola: Menú de facturación</a:t>
            </a:r>
            <a:endParaRPr sz="1800">
              <a:latin typeface="Cambria"/>
              <a:ea typeface="Cambria"/>
              <a:cs typeface="Cambria"/>
              <a:sym typeface="Cambria"/>
            </a:endParaRPr>
          </a:p>
        </p:txBody>
      </p:sp>
      <p:sp>
        <p:nvSpPr>
          <p:cNvPr id="387" name="Google Shape;387;g3a5b9630aa3_8_8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388" name="Google Shape;388;g3a5b9630aa3_8_81"/>
          <p:cNvPicPr preferRelativeResize="0"/>
          <p:nvPr/>
        </p:nvPicPr>
        <p:blipFill rotWithShape="1">
          <a:blip r:embed="rId3">
            <a:alphaModFix/>
          </a:blip>
          <a:srcRect/>
          <a:stretch/>
        </p:blipFill>
        <p:spPr>
          <a:xfrm>
            <a:off x="581200" y="3091100"/>
            <a:ext cx="8458500" cy="2923926"/>
          </a:xfrm>
          <a:prstGeom prst="rect">
            <a:avLst/>
          </a:prstGeom>
          <a:noFill/>
          <a:ln>
            <a:noFill/>
          </a:ln>
        </p:spPr>
      </p:pic>
      <p:sp>
        <p:nvSpPr>
          <p:cNvPr id="389" name="Google Shape;389;g3a5b9630aa3_8_8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g3a5b9630aa3_8_9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95" name="Google Shape;395;g3a5b9630aa3_8_90"/>
          <p:cNvSpPr txBox="1">
            <a:spLocks noGrp="1"/>
          </p:cNvSpPr>
          <p:nvPr>
            <p:ph type="body" idx="1"/>
          </p:nvPr>
        </p:nvSpPr>
        <p:spPr>
          <a:xfrm>
            <a:off x="581192" y="1742375"/>
            <a:ext cx="8458500" cy="6204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Consola: Proceso de venta en efectivo con descuento</a:t>
            </a:r>
            <a:endParaRPr sz="1800">
              <a:latin typeface="Cambria"/>
              <a:ea typeface="Cambria"/>
              <a:cs typeface="Cambria"/>
              <a:sym typeface="Cambria"/>
            </a:endParaRPr>
          </a:p>
        </p:txBody>
      </p:sp>
      <p:sp>
        <p:nvSpPr>
          <p:cNvPr id="396" name="Google Shape;396;g3a5b9630aa3_8_9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397" name="Google Shape;397;g3a5b9630aa3_8_90"/>
          <p:cNvPicPr preferRelativeResize="0"/>
          <p:nvPr/>
        </p:nvPicPr>
        <p:blipFill rotWithShape="1">
          <a:blip r:embed="rId3">
            <a:alphaModFix/>
          </a:blip>
          <a:srcRect/>
          <a:stretch/>
        </p:blipFill>
        <p:spPr>
          <a:xfrm>
            <a:off x="2966350" y="2362775"/>
            <a:ext cx="3688200" cy="4364676"/>
          </a:xfrm>
          <a:prstGeom prst="rect">
            <a:avLst/>
          </a:prstGeom>
          <a:noFill/>
          <a:ln>
            <a:noFill/>
          </a:ln>
        </p:spPr>
      </p:pic>
      <p:sp>
        <p:nvSpPr>
          <p:cNvPr id="398" name="Google Shape;398;g3a5b9630aa3_8_9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3a5b9630aa3_8_9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04" name="Google Shape;404;g3a5b9630aa3_8_99"/>
          <p:cNvSpPr txBox="1">
            <a:spLocks noGrp="1"/>
          </p:cNvSpPr>
          <p:nvPr>
            <p:ph type="body" idx="1"/>
          </p:nvPr>
        </p:nvSpPr>
        <p:spPr>
          <a:xfrm>
            <a:off x="581192" y="1936650"/>
            <a:ext cx="8458500" cy="620400"/>
          </a:xfrm>
          <a:prstGeom prst="rect">
            <a:avLst/>
          </a:prstGeom>
          <a:noFill/>
          <a:ln>
            <a:noFill/>
          </a:ln>
        </p:spPr>
        <p:txBody>
          <a:bodyPr spcFirstLastPara="1" wrap="square" lIns="91425" tIns="45700" rIns="91425" bIns="45700" anchor="ctr" anchorCtr="0">
            <a:normAutofit lnSpcReduction="20000"/>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Consola: Error en venta a crédito Cliente con crédito activo</a:t>
            </a:r>
            <a:endParaRPr sz="1800">
              <a:latin typeface="Cambria"/>
              <a:ea typeface="Cambria"/>
              <a:cs typeface="Cambria"/>
              <a:sym typeface="Cambria"/>
            </a:endParaRPr>
          </a:p>
        </p:txBody>
      </p:sp>
      <p:sp>
        <p:nvSpPr>
          <p:cNvPr id="405" name="Google Shape;405;g3a5b9630aa3_8_9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406" name="Google Shape;406;g3a5b9630aa3_8_99"/>
          <p:cNvPicPr preferRelativeResize="0"/>
          <p:nvPr/>
        </p:nvPicPr>
        <p:blipFill rotWithShape="1">
          <a:blip r:embed="rId3">
            <a:alphaModFix/>
          </a:blip>
          <a:srcRect/>
          <a:stretch/>
        </p:blipFill>
        <p:spPr>
          <a:xfrm>
            <a:off x="415375" y="3188250"/>
            <a:ext cx="8790150" cy="2806027"/>
          </a:xfrm>
          <a:prstGeom prst="rect">
            <a:avLst/>
          </a:prstGeom>
          <a:noFill/>
          <a:ln>
            <a:noFill/>
          </a:ln>
        </p:spPr>
      </p:pic>
      <p:sp>
        <p:nvSpPr>
          <p:cNvPr id="407" name="Google Shape;407;g3a5b9630aa3_8_9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g3a5b9630aa3_8_10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13" name="Google Shape;413;g3a5b9630aa3_8_108"/>
          <p:cNvSpPr txBox="1">
            <a:spLocks noGrp="1"/>
          </p:cNvSpPr>
          <p:nvPr>
            <p:ph type="body" idx="1"/>
          </p:nvPr>
        </p:nvSpPr>
        <p:spPr>
          <a:xfrm>
            <a:off x="581192" y="1936650"/>
            <a:ext cx="8458500" cy="6204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Consola: Consulta de factura por número</a:t>
            </a:r>
            <a:endParaRPr sz="1800">
              <a:latin typeface="Cambria"/>
              <a:ea typeface="Cambria"/>
              <a:cs typeface="Cambria"/>
              <a:sym typeface="Cambria"/>
            </a:endParaRPr>
          </a:p>
        </p:txBody>
      </p:sp>
      <p:sp>
        <p:nvSpPr>
          <p:cNvPr id="414" name="Google Shape;414;g3a5b9630aa3_8_10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415" name="Google Shape;415;g3a5b9630aa3_8_108"/>
          <p:cNvPicPr preferRelativeResize="0"/>
          <p:nvPr/>
        </p:nvPicPr>
        <p:blipFill rotWithShape="1">
          <a:blip r:embed="rId3">
            <a:alphaModFix/>
          </a:blip>
          <a:srcRect/>
          <a:stretch/>
        </p:blipFill>
        <p:spPr>
          <a:xfrm>
            <a:off x="2372963" y="2557050"/>
            <a:ext cx="4874975" cy="4187151"/>
          </a:xfrm>
          <a:prstGeom prst="rect">
            <a:avLst/>
          </a:prstGeom>
          <a:noFill/>
          <a:ln>
            <a:noFill/>
          </a:ln>
        </p:spPr>
      </p:pic>
      <p:sp>
        <p:nvSpPr>
          <p:cNvPr id="416" name="Google Shape;416;g3a5b9630aa3_8_10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g3a5b9630aa3_8_11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22" name="Google Shape;422;g3a5b9630aa3_8_117"/>
          <p:cNvSpPr txBox="1">
            <a:spLocks noGrp="1"/>
          </p:cNvSpPr>
          <p:nvPr>
            <p:ph type="body" idx="1"/>
          </p:nvPr>
        </p:nvSpPr>
        <p:spPr>
          <a:xfrm>
            <a:off x="581192" y="1936650"/>
            <a:ext cx="8458500" cy="6204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Consola: Consulta de facturas por cliente</a:t>
            </a:r>
            <a:endParaRPr sz="1800">
              <a:latin typeface="Cambria"/>
              <a:ea typeface="Cambria"/>
              <a:cs typeface="Cambria"/>
              <a:sym typeface="Cambria"/>
            </a:endParaRPr>
          </a:p>
        </p:txBody>
      </p:sp>
      <p:sp>
        <p:nvSpPr>
          <p:cNvPr id="423" name="Google Shape;423;g3a5b9630aa3_8_11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424" name="Google Shape;424;g3a5b9630aa3_8_117"/>
          <p:cNvPicPr preferRelativeResize="0"/>
          <p:nvPr/>
        </p:nvPicPr>
        <p:blipFill rotWithShape="1">
          <a:blip r:embed="rId3">
            <a:alphaModFix/>
          </a:blip>
          <a:srcRect/>
          <a:stretch/>
        </p:blipFill>
        <p:spPr>
          <a:xfrm>
            <a:off x="696375" y="3020700"/>
            <a:ext cx="8228149" cy="3366725"/>
          </a:xfrm>
          <a:prstGeom prst="rect">
            <a:avLst/>
          </a:prstGeom>
          <a:noFill/>
          <a:ln>
            <a:noFill/>
          </a:ln>
        </p:spPr>
      </p:pic>
      <p:sp>
        <p:nvSpPr>
          <p:cNvPr id="425" name="Google Shape;425;g3a5b9630aa3_8_11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g3a5b9630aa3_8_12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31" name="Google Shape;431;g3a5b9630aa3_8_126"/>
          <p:cNvSpPr txBox="1">
            <a:spLocks noGrp="1"/>
          </p:cNvSpPr>
          <p:nvPr>
            <p:ph type="body" idx="1"/>
          </p:nvPr>
        </p:nvSpPr>
        <p:spPr>
          <a:xfrm>
            <a:off x="581192" y="1936650"/>
            <a:ext cx="8458500" cy="6204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Consola: Consulta de facturas por rango de precio</a:t>
            </a:r>
            <a:endParaRPr sz="1800">
              <a:latin typeface="Cambria"/>
              <a:ea typeface="Cambria"/>
              <a:cs typeface="Cambria"/>
              <a:sym typeface="Cambria"/>
            </a:endParaRPr>
          </a:p>
        </p:txBody>
      </p:sp>
      <p:sp>
        <p:nvSpPr>
          <p:cNvPr id="432" name="Google Shape;432;g3a5b9630aa3_8_1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433" name="Google Shape;433;g3a5b9630aa3_8_126"/>
          <p:cNvPicPr preferRelativeResize="0"/>
          <p:nvPr/>
        </p:nvPicPr>
        <p:blipFill rotWithShape="1">
          <a:blip r:embed="rId3">
            <a:alphaModFix/>
          </a:blip>
          <a:srcRect/>
          <a:stretch/>
        </p:blipFill>
        <p:spPr>
          <a:xfrm>
            <a:off x="2406225" y="2656425"/>
            <a:ext cx="4808425" cy="3901025"/>
          </a:xfrm>
          <a:prstGeom prst="rect">
            <a:avLst/>
          </a:prstGeom>
          <a:noFill/>
          <a:ln>
            <a:noFill/>
          </a:ln>
        </p:spPr>
      </p:pic>
      <p:sp>
        <p:nvSpPr>
          <p:cNvPr id="434" name="Google Shape;434;g3a5b9630aa3_8_1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g3a5b9630aa3_8_1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40" name="Google Shape;440;g3a5b9630aa3_8_135"/>
          <p:cNvSpPr txBox="1">
            <a:spLocks noGrp="1"/>
          </p:cNvSpPr>
          <p:nvPr>
            <p:ph type="body" idx="1"/>
          </p:nvPr>
        </p:nvSpPr>
        <p:spPr>
          <a:xfrm>
            <a:off x="581192" y="1936650"/>
            <a:ext cx="8458500" cy="6204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Cambria"/>
              <a:buChar char="∙"/>
            </a:pPr>
            <a:r>
              <a:rPr lang="es-ES">
                <a:latin typeface="Cambria"/>
                <a:ea typeface="Cambria"/>
                <a:cs typeface="Cambria"/>
                <a:sym typeface="Cambria"/>
              </a:rPr>
              <a:t>Capturas del Sistema de Consola: Tabla de amortización</a:t>
            </a:r>
            <a:endParaRPr sz="1800">
              <a:latin typeface="Cambria"/>
              <a:ea typeface="Cambria"/>
              <a:cs typeface="Cambria"/>
              <a:sym typeface="Cambria"/>
            </a:endParaRPr>
          </a:p>
        </p:txBody>
      </p:sp>
      <p:sp>
        <p:nvSpPr>
          <p:cNvPr id="441" name="Google Shape;441;g3a5b9630aa3_8_13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442" name="Google Shape;442;g3a5b9630aa3_8_135"/>
          <p:cNvPicPr preferRelativeResize="0"/>
          <p:nvPr/>
        </p:nvPicPr>
        <p:blipFill rotWithShape="1">
          <a:blip r:embed="rId3">
            <a:alphaModFix/>
          </a:blip>
          <a:srcRect/>
          <a:stretch/>
        </p:blipFill>
        <p:spPr>
          <a:xfrm>
            <a:off x="2129150" y="2680700"/>
            <a:ext cx="5362575" cy="39814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2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48" name="Google Shape;448;p29"/>
          <p:cNvSpPr txBox="1">
            <a:spLocks noGrp="1"/>
          </p:cNvSpPr>
          <p:nvPr>
            <p:ph type="body" idx="1"/>
          </p:nvPr>
        </p:nvSpPr>
        <p:spPr>
          <a:xfrm>
            <a:off x="581192" y="1860969"/>
            <a:ext cx="8431632" cy="1114286"/>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Cambria"/>
              <a:buChar char="∙"/>
            </a:pPr>
            <a:r>
              <a:rPr lang="es-ES">
                <a:latin typeface="Cambria"/>
                <a:ea typeface="Cambria"/>
                <a:cs typeface="Cambria"/>
                <a:sym typeface="Cambria"/>
              </a:rPr>
              <a:t>Creación de Cliente Escritorio</a:t>
            </a:r>
            <a:endParaRPr>
              <a:latin typeface="Cambria"/>
              <a:ea typeface="Cambria"/>
              <a:cs typeface="Cambria"/>
              <a:sym typeface="Cambria"/>
            </a:endParaRPr>
          </a:p>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1</a:t>
            </a:r>
            <a:r>
              <a:rPr lang="es-ES" sz="1800">
                <a:latin typeface="Cambria"/>
                <a:ea typeface="Cambria"/>
                <a:cs typeface="Cambria"/>
                <a:sym typeface="Cambria"/>
              </a:rPr>
              <a:t>.	</a:t>
            </a:r>
            <a:r>
              <a:rPr lang="es-ES">
                <a:latin typeface="Cambria"/>
                <a:ea typeface="Cambria"/>
                <a:cs typeface="Cambria"/>
                <a:sym typeface="Cambria"/>
              </a:rPr>
              <a:t>Crear nuevo proyecto del tipo Aplicación de Windows Forms  (Java Framework).</a:t>
            </a:r>
            <a:endParaRPr>
              <a:latin typeface="Cambria"/>
              <a:ea typeface="Cambria"/>
              <a:cs typeface="Cambria"/>
              <a:sym typeface="Cambria"/>
            </a:endParaRPr>
          </a:p>
        </p:txBody>
      </p:sp>
      <p:pic>
        <p:nvPicPr>
          <p:cNvPr id="449" name="Google Shape;449;p29" descr="Captura de pantalla de un celular&#10;&#10;Descripción generada automáticamente"/>
          <p:cNvPicPr preferRelativeResize="0"/>
          <p:nvPr/>
        </p:nvPicPr>
        <p:blipFill rotWithShape="1">
          <a:blip r:embed="rId3">
            <a:alphaModFix/>
          </a:blip>
          <a:srcRect l="11" t="22" r="125" b="37305"/>
          <a:stretch/>
        </p:blipFill>
        <p:spPr>
          <a:xfrm>
            <a:off x="326725" y="3168874"/>
            <a:ext cx="8954104" cy="3018300"/>
          </a:xfrm>
          <a:prstGeom prst="rect">
            <a:avLst/>
          </a:prstGeom>
          <a:noFill/>
          <a:ln>
            <a:noFill/>
          </a:ln>
        </p:spPr>
      </p:pic>
      <p:sp>
        <p:nvSpPr>
          <p:cNvPr id="450" name="Google Shape;450;p29"/>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
        <p:nvSpPr>
          <p:cNvPr id="451" name="Google Shape;451;p2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FFFF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57" name="Google Shape;457;p31"/>
          <p:cNvSpPr txBox="1">
            <a:spLocks noGrp="1"/>
          </p:cNvSpPr>
          <p:nvPr>
            <p:ph type="body" idx="1"/>
          </p:nvPr>
        </p:nvSpPr>
        <p:spPr>
          <a:xfrm>
            <a:off x="581192" y="1715956"/>
            <a:ext cx="8431632" cy="765915"/>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2. Crear una nueva clase en la carpeta Model, esta clase se llama CreateProducto y se estructura de </a:t>
            </a:r>
            <a:r>
              <a:rPr lang="es-ES" sz="1800">
                <a:latin typeface="Cambria"/>
                <a:ea typeface="Cambria"/>
                <a:cs typeface="Cambria"/>
                <a:sym typeface="Cambria"/>
              </a:rPr>
              <a:t>la </a:t>
            </a:r>
            <a:r>
              <a:rPr lang="es-ES">
                <a:latin typeface="Cambria"/>
                <a:ea typeface="Cambria"/>
                <a:cs typeface="Cambria"/>
                <a:sym typeface="Cambria"/>
              </a:rPr>
              <a:t>siguiente manera</a:t>
            </a:r>
            <a:r>
              <a:rPr lang="es-ES" sz="1800">
                <a:latin typeface="Cambria"/>
                <a:ea typeface="Cambria"/>
                <a:cs typeface="Cambria"/>
                <a:sym typeface="Cambria"/>
              </a:rPr>
              <a:t>.</a:t>
            </a:r>
            <a:endParaRPr>
              <a:latin typeface="Cambria"/>
              <a:ea typeface="Cambria"/>
              <a:cs typeface="Cambria"/>
              <a:sym typeface="Cambria"/>
            </a:endParaRPr>
          </a:p>
        </p:txBody>
      </p:sp>
      <p:sp>
        <p:nvSpPr>
          <p:cNvPr id="458" name="Google Shape;458;p31"/>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459" name="Google Shape;459;p31"/>
          <p:cNvPicPr preferRelativeResize="0"/>
          <p:nvPr/>
        </p:nvPicPr>
        <p:blipFill rotWithShape="1">
          <a:blip r:embed="rId3">
            <a:alphaModFix/>
          </a:blip>
          <a:srcRect/>
          <a:stretch/>
        </p:blipFill>
        <p:spPr>
          <a:xfrm>
            <a:off x="3011425" y="2651146"/>
            <a:ext cx="3571187" cy="4071329"/>
          </a:xfrm>
          <a:prstGeom prst="rect">
            <a:avLst/>
          </a:prstGeom>
          <a:noFill/>
          <a:ln>
            <a:noFill/>
          </a:ln>
        </p:spPr>
      </p:pic>
      <p:sp>
        <p:nvSpPr>
          <p:cNvPr id="460" name="Google Shape;460;p3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FFFF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3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66" name="Google Shape;466;p32"/>
          <p:cNvSpPr txBox="1">
            <a:spLocks noGrp="1"/>
          </p:cNvSpPr>
          <p:nvPr>
            <p:ph type="body" idx="1"/>
          </p:nvPr>
        </p:nvSpPr>
        <p:spPr>
          <a:xfrm>
            <a:off x="581192" y="1715956"/>
            <a:ext cx="8431632" cy="765915"/>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sz="1800">
                <a:latin typeface="Cambria"/>
                <a:ea typeface="Cambria"/>
                <a:cs typeface="Cambria"/>
                <a:sym typeface="Cambria"/>
              </a:rPr>
              <a:t>3.</a:t>
            </a:r>
            <a:r>
              <a:rPr lang="es-ES">
                <a:latin typeface="Cambria"/>
                <a:ea typeface="Cambria"/>
                <a:cs typeface="Cambria"/>
                <a:sym typeface="Cambria"/>
              </a:rPr>
              <a:t> Crear una nueva clase en la carpeta Model, esta clase se llama ProductoDTO y se estructura de </a:t>
            </a:r>
            <a:r>
              <a:rPr lang="es-ES" sz="1800">
                <a:latin typeface="Cambria"/>
                <a:ea typeface="Cambria"/>
                <a:cs typeface="Cambria"/>
                <a:sym typeface="Cambria"/>
              </a:rPr>
              <a:t>la </a:t>
            </a:r>
            <a:r>
              <a:rPr lang="es-ES">
                <a:latin typeface="Cambria"/>
                <a:ea typeface="Cambria"/>
                <a:cs typeface="Cambria"/>
                <a:sym typeface="Cambria"/>
              </a:rPr>
              <a:t>siguiente manera</a:t>
            </a:r>
            <a:r>
              <a:rPr lang="es-ES" sz="1800">
                <a:latin typeface="Cambria"/>
                <a:ea typeface="Cambria"/>
                <a:cs typeface="Cambria"/>
                <a:sym typeface="Cambria"/>
              </a:rPr>
              <a:t>.</a:t>
            </a:r>
            <a:endParaRPr>
              <a:latin typeface="Cambria"/>
              <a:ea typeface="Cambria"/>
              <a:cs typeface="Cambria"/>
              <a:sym typeface="Cambria"/>
            </a:endParaRPr>
          </a:p>
        </p:txBody>
      </p:sp>
      <p:sp>
        <p:nvSpPr>
          <p:cNvPr id="467" name="Google Shape;467;p32"/>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468" name="Google Shape;468;p32"/>
          <p:cNvPicPr preferRelativeResize="0"/>
          <p:nvPr/>
        </p:nvPicPr>
        <p:blipFill rotWithShape="1">
          <a:blip r:embed="rId3">
            <a:alphaModFix/>
          </a:blip>
          <a:srcRect/>
          <a:stretch/>
        </p:blipFill>
        <p:spPr>
          <a:xfrm>
            <a:off x="2937438" y="2701821"/>
            <a:ext cx="3719139" cy="4071330"/>
          </a:xfrm>
          <a:prstGeom prst="rect">
            <a:avLst/>
          </a:prstGeom>
          <a:noFill/>
          <a:ln>
            <a:noFill/>
          </a:ln>
        </p:spPr>
      </p:pic>
      <p:sp>
        <p:nvSpPr>
          <p:cNvPr id="469" name="Google Shape;469;p3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FFFF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3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75" name="Google Shape;475;p33"/>
          <p:cNvSpPr txBox="1">
            <a:spLocks noGrp="1"/>
          </p:cNvSpPr>
          <p:nvPr>
            <p:ph type="body" idx="1"/>
          </p:nvPr>
        </p:nvSpPr>
        <p:spPr>
          <a:xfrm>
            <a:off x="581192" y="1715956"/>
            <a:ext cx="8431632" cy="765915"/>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sz="1800">
                <a:latin typeface="Cambria"/>
                <a:ea typeface="Cambria"/>
                <a:cs typeface="Cambria"/>
                <a:sym typeface="Cambria"/>
              </a:rPr>
              <a:t>3.</a:t>
            </a:r>
            <a:r>
              <a:rPr lang="es-ES">
                <a:latin typeface="Cambria"/>
                <a:ea typeface="Cambria"/>
                <a:cs typeface="Cambria"/>
                <a:sym typeface="Cambria"/>
              </a:rPr>
              <a:t> Crear una nueva clase en la carpeta Model, esta clase se llama CreditGrantRequest y se estructura de </a:t>
            </a:r>
            <a:r>
              <a:rPr lang="es-ES" sz="1800">
                <a:latin typeface="Cambria"/>
                <a:ea typeface="Cambria"/>
                <a:cs typeface="Cambria"/>
                <a:sym typeface="Cambria"/>
              </a:rPr>
              <a:t>la </a:t>
            </a:r>
            <a:r>
              <a:rPr lang="es-ES">
                <a:latin typeface="Cambria"/>
                <a:ea typeface="Cambria"/>
                <a:cs typeface="Cambria"/>
                <a:sym typeface="Cambria"/>
              </a:rPr>
              <a:t>siguiente manera</a:t>
            </a:r>
            <a:r>
              <a:rPr lang="es-ES" sz="1800">
                <a:latin typeface="Cambria"/>
                <a:ea typeface="Cambria"/>
                <a:cs typeface="Cambria"/>
                <a:sym typeface="Cambria"/>
              </a:rPr>
              <a:t>.</a:t>
            </a:r>
            <a:endParaRPr>
              <a:latin typeface="Cambria"/>
              <a:ea typeface="Cambria"/>
              <a:cs typeface="Cambria"/>
              <a:sym typeface="Cambria"/>
            </a:endParaRPr>
          </a:p>
        </p:txBody>
      </p:sp>
      <p:sp>
        <p:nvSpPr>
          <p:cNvPr id="476" name="Google Shape;476;p33"/>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477" name="Google Shape;477;p33"/>
          <p:cNvPicPr preferRelativeResize="0"/>
          <p:nvPr/>
        </p:nvPicPr>
        <p:blipFill rotWithShape="1">
          <a:blip r:embed="rId3">
            <a:alphaModFix/>
          </a:blip>
          <a:srcRect/>
          <a:stretch/>
        </p:blipFill>
        <p:spPr>
          <a:xfrm>
            <a:off x="1813925" y="2988902"/>
            <a:ext cx="5966175" cy="3140875"/>
          </a:xfrm>
          <a:prstGeom prst="rect">
            <a:avLst/>
          </a:prstGeom>
          <a:noFill/>
          <a:ln>
            <a:noFill/>
          </a:ln>
        </p:spPr>
      </p:pic>
      <p:sp>
        <p:nvSpPr>
          <p:cNvPr id="478" name="Google Shape;478;p3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FFFF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34"/>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84" name="Google Shape;484;p34"/>
          <p:cNvSpPr txBox="1">
            <a:spLocks noGrp="1"/>
          </p:cNvSpPr>
          <p:nvPr>
            <p:ph type="body" idx="1"/>
          </p:nvPr>
        </p:nvSpPr>
        <p:spPr>
          <a:xfrm>
            <a:off x="581192" y="1715956"/>
            <a:ext cx="8431632" cy="765915"/>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sz="1800">
                <a:latin typeface="Cambria"/>
                <a:ea typeface="Cambria"/>
                <a:cs typeface="Cambria"/>
                <a:sym typeface="Cambria"/>
              </a:rPr>
              <a:t>3.</a:t>
            </a:r>
            <a:r>
              <a:rPr lang="es-ES">
                <a:latin typeface="Cambria"/>
                <a:ea typeface="Cambria"/>
                <a:cs typeface="Cambria"/>
                <a:sym typeface="Cambria"/>
              </a:rPr>
              <a:t> Crear una nueva clase en la carpeta Model, esta clase se llama AmortizacionItemDto y se estructura de </a:t>
            </a:r>
            <a:r>
              <a:rPr lang="es-ES" sz="1800">
                <a:latin typeface="Cambria"/>
                <a:ea typeface="Cambria"/>
                <a:cs typeface="Cambria"/>
                <a:sym typeface="Cambria"/>
              </a:rPr>
              <a:t>la </a:t>
            </a:r>
            <a:r>
              <a:rPr lang="es-ES">
                <a:latin typeface="Cambria"/>
                <a:ea typeface="Cambria"/>
                <a:cs typeface="Cambria"/>
                <a:sym typeface="Cambria"/>
              </a:rPr>
              <a:t>siguiente manera</a:t>
            </a:r>
            <a:r>
              <a:rPr lang="es-ES" sz="1800">
                <a:latin typeface="Cambria"/>
                <a:ea typeface="Cambria"/>
                <a:cs typeface="Cambria"/>
                <a:sym typeface="Cambria"/>
              </a:rPr>
              <a:t>.</a:t>
            </a:r>
            <a:endParaRPr>
              <a:latin typeface="Cambria"/>
              <a:ea typeface="Cambria"/>
              <a:cs typeface="Cambria"/>
              <a:sym typeface="Cambria"/>
            </a:endParaRPr>
          </a:p>
        </p:txBody>
      </p:sp>
      <p:sp>
        <p:nvSpPr>
          <p:cNvPr id="485" name="Google Shape;485;p34"/>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486" name="Google Shape;486;p34"/>
          <p:cNvPicPr preferRelativeResize="0"/>
          <p:nvPr/>
        </p:nvPicPr>
        <p:blipFill rotWithShape="1">
          <a:blip r:embed="rId3">
            <a:alphaModFix/>
          </a:blip>
          <a:srcRect/>
          <a:stretch/>
        </p:blipFill>
        <p:spPr>
          <a:xfrm>
            <a:off x="2312863" y="3140876"/>
            <a:ext cx="4968300" cy="3056450"/>
          </a:xfrm>
          <a:prstGeom prst="rect">
            <a:avLst/>
          </a:prstGeom>
          <a:noFill/>
          <a:ln>
            <a:noFill/>
          </a:ln>
        </p:spPr>
      </p:pic>
      <p:sp>
        <p:nvSpPr>
          <p:cNvPr id="487" name="Google Shape;487;p3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FFFF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3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493" name="Google Shape;493;p35"/>
          <p:cNvSpPr txBox="1">
            <a:spLocks noGrp="1"/>
          </p:cNvSpPr>
          <p:nvPr>
            <p:ph type="body" idx="1"/>
          </p:nvPr>
        </p:nvSpPr>
        <p:spPr>
          <a:xfrm>
            <a:off x="581192" y="1783502"/>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Escritorio: Login</a:t>
            </a:r>
            <a:endParaRPr/>
          </a:p>
        </p:txBody>
      </p:sp>
      <p:sp>
        <p:nvSpPr>
          <p:cNvPr id="494" name="Google Shape;494;p35"/>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495" name="Google Shape;495;p35"/>
          <p:cNvPicPr preferRelativeResize="0"/>
          <p:nvPr/>
        </p:nvPicPr>
        <p:blipFill rotWithShape="1">
          <a:blip r:embed="rId3">
            <a:alphaModFix/>
          </a:blip>
          <a:srcRect t="6217"/>
          <a:stretch/>
        </p:blipFill>
        <p:spPr>
          <a:xfrm>
            <a:off x="1037525" y="2616950"/>
            <a:ext cx="7518852" cy="3754900"/>
          </a:xfrm>
          <a:prstGeom prst="rect">
            <a:avLst/>
          </a:prstGeom>
          <a:noFill/>
          <a:ln>
            <a:noFill/>
          </a:ln>
        </p:spPr>
      </p:pic>
      <p:sp>
        <p:nvSpPr>
          <p:cNvPr id="496" name="Google Shape;496;p3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FFFF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g3a5b9630aa3_8_29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02" name="Google Shape;502;g3a5b9630aa3_8_297"/>
          <p:cNvSpPr txBox="1">
            <a:spLocks noGrp="1"/>
          </p:cNvSpPr>
          <p:nvPr>
            <p:ph type="body" idx="1"/>
          </p:nvPr>
        </p:nvSpPr>
        <p:spPr>
          <a:xfrm>
            <a:off x="581192" y="1783502"/>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Escritorio: Consulta de factura por número</a:t>
            </a:r>
            <a:endParaRPr/>
          </a:p>
        </p:txBody>
      </p:sp>
      <p:sp>
        <p:nvSpPr>
          <p:cNvPr id="503" name="Google Shape;503;g3a5b9630aa3_8_29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504" name="Google Shape;504;g3a5b9630aa3_8_297"/>
          <p:cNvPicPr preferRelativeResize="0"/>
          <p:nvPr/>
        </p:nvPicPr>
        <p:blipFill rotWithShape="1">
          <a:blip r:embed="rId3">
            <a:alphaModFix/>
          </a:blip>
          <a:srcRect t="4213" r="1660"/>
          <a:stretch/>
        </p:blipFill>
        <p:spPr>
          <a:xfrm>
            <a:off x="1102587" y="2685350"/>
            <a:ext cx="7388850" cy="38665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g3a5b9630aa3_8_15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10" name="Google Shape;510;g3a5b9630aa3_8_150"/>
          <p:cNvSpPr txBox="1">
            <a:spLocks noGrp="1"/>
          </p:cNvSpPr>
          <p:nvPr>
            <p:ph type="body" idx="1"/>
          </p:nvPr>
        </p:nvSpPr>
        <p:spPr>
          <a:xfrm>
            <a:off x="581192" y="1783502"/>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Escritorio: Tabla de amortización del crédito</a:t>
            </a:r>
            <a:endParaRPr/>
          </a:p>
        </p:txBody>
      </p:sp>
      <p:sp>
        <p:nvSpPr>
          <p:cNvPr id="511" name="Google Shape;511;g3a5b9630aa3_8_15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512" name="Google Shape;512;g3a5b9630aa3_8_150"/>
          <p:cNvPicPr preferRelativeResize="0"/>
          <p:nvPr/>
        </p:nvPicPr>
        <p:blipFill rotWithShape="1">
          <a:blip r:embed="rId3">
            <a:alphaModFix/>
          </a:blip>
          <a:srcRect t="4861" r="1834"/>
          <a:stretch/>
        </p:blipFill>
        <p:spPr>
          <a:xfrm>
            <a:off x="1082763" y="2762750"/>
            <a:ext cx="7428375" cy="3867550"/>
          </a:xfrm>
          <a:prstGeom prst="rect">
            <a:avLst/>
          </a:prstGeom>
          <a:noFill/>
          <a:ln>
            <a:noFill/>
          </a:ln>
        </p:spPr>
      </p:pic>
      <p:sp>
        <p:nvSpPr>
          <p:cNvPr id="513" name="Google Shape;513;g3a5b9630aa3_8_15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FFFF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g3a5b9630aa3_8_15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19" name="Google Shape;519;g3a5b9630aa3_8_159"/>
          <p:cNvSpPr txBox="1">
            <a:spLocks noGrp="1"/>
          </p:cNvSpPr>
          <p:nvPr>
            <p:ph type="body" idx="1"/>
          </p:nvPr>
        </p:nvSpPr>
        <p:spPr>
          <a:xfrm>
            <a:off x="581192" y="1783502"/>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Escritorio: Gestión de productos</a:t>
            </a:r>
            <a:endParaRPr/>
          </a:p>
        </p:txBody>
      </p:sp>
      <p:sp>
        <p:nvSpPr>
          <p:cNvPr id="520" name="Google Shape;520;g3a5b9630aa3_8_15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521" name="Google Shape;521;g3a5b9630aa3_8_159"/>
          <p:cNvPicPr preferRelativeResize="0"/>
          <p:nvPr/>
        </p:nvPicPr>
        <p:blipFill rotWithShape="1">
          <a:blip r:embed="rId3">
            <a:alphaModFix/>
          </a:blip>
          <a:srcRect t="5419" r="1660"/>
          <a:stretch/>
        </p:blipFill>
        <p:spPr>
          <a:xfrm>
            <a:off x="1191425" y="2762750"/>
            <a:ext cx="7211026" cy="3721825"/>
          </a:xfrm>
          <a:prstGeom prst="rect">
            <a:avLst/>
          </a:prstGeom>
          <a:noFill/>
          <a:ln>
            <a:noFill/>
          </a:ln>
        </p:spPr>
      </p:pic>
      <p:sp>
        <p:nvSpPr>
          <p:cNvPr id="522" name="Google Shape;522;g3a5b9630aa3_8_15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FFFF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g3a5b9630aa3_8_16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28" name="Google Shape;528;g3a5b9630aa3_8_168"/>
          <p:cNvSpPr txBox="1">
            <a:spLocks noGrp="1"/>
          </p:cNvSpPr>
          <p:nvPr>
            <p:ph type="body" idx="1"/>
          </p:nvPr>
        </p:nvSpPr>
        <p:spPr>
          <a:xfrm>
            <a:off x="581192" y="1880649"/>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Escritorio: Confirmación de venta completada</a:t>
            </a:r>
            <a:endParaRPr/>
          </a:p>
        </p:txBody>
      </p:sp>
      <p:sp>
        <p:nvSpPr>
          <p:cNvPr id="529" name="Google Shape;529;g3a5b9630aa3_8_16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530" name="Google Shape;530;g3a5b9630aa3_8_168"/>
          <p:cNvPicPr preferRelativeResize="0"/>
          <p:nvPr/>
        </p:nvPicPr>
        <p:blipFill rotWithShape="1">
          <a:blip r:embed="rId3">
            <a:alphaModFix/>
          </a:blip>
          <a:srcRect t="5294" r="2008"/>
          <a:stretch/>
        </p:blipFill>
        <p:spPr>
          <a:xfrm>
            <a:off x="1345738" y="2872525"/>
            <a:ext cx="6902424" cy="3587775"/>
          </a:xfrm>
          <a:prstGeom prst="rect">
            <a:avLst/>
          </a:prstGeom>
          <a:noFill/>
          <a:ln>
            <a:noFill/>
          </a:ln>
        </p:spPr>
      </p:pic>
      <p:sp>
        <p:nvSpPr>
          <p:cNvPr id="531" name="Google Shape;531;g3a5b9630aa3_8_16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FFFF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g3a5b9630aa3_8_17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37" name="Google Shape;537;g3a5b9630aa3_8_177"/>
          <p:cNvSpPr txBox="1">
            <a:spLocks noGrp="1"/>
          </p:cNvSpPr>
          <p:nvPr>
            <p:ph type="body" idx="1"/>
          </p:nvPr>
        </p:nvSpPr>
        <p:spPr>
          <a:xfrm>
            <a:off x="581192" y="1880649"/>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Escritorio: Página principal del sistema</a:t>
            </a:r>
            <a:endParaRPr/>
          </a:p>
        </p:txBody>
      </p:sp>
      <p:sp>
        <p:nvSpPr>
          <p:cNvPr id="538" name="Google Shape;538;g3a5b9630aa3_8_17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539" name="Google Shape;539;g3a5b9630aa3_8_177"/>
          <p:cNvPicPr preferRelativeResize="0"/>
          <p:nvPr/>
        </p:nvPicPr>
        <p:blipFill rotWithShape="1">
          <a:blip r:embed="rId3">
            <a:alphaModFix/>
          </a:blip>
          <a:srcRect t="5338" r="1660"/>
          <a:stretch/>
        </p:blipFill>
        <p:spPr>
          <a:xfrm>
            <a:off x="1240825" y="2811350"/>
            <a:ext cx="7112250" cy="3721825"/>
          </a:xfrm>
          <a:prstGeom prst="rect">
            <a:avLst/>
          </a:prstGeom>
          <a:noFill/>
          <a:ln>
            <a:noFill/>
          </a:ln>
        </p:spPr>
      </p:pic>
      <p:sp>
        <p:nvSpPr>
          <p:cNvPr id="540" name="Google Shape;540;g3a5b9630aa3_8_17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FFFF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g3a5b9630aa3_8_18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46" name="Google Shape;546;g3a5b9630aa3_8_186"/>
          <p:cNvSpPr txBox="1">
            <a:spLocks noGrp="1"/>
          </p:cNvSpPr>
          <p:nvPr>
            <p:ph type="body" idx="1"/>
          </p:nvPr>
        </p:nvSpPr>
        <p:spPr>
          <a:xfrm>
            <a:off x="581192" y="1880649"/>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Escritorio: Consulta de facturas por cliente</a:t>
            </a:r>
            <a:endParaRPr/>
          </a:p>
        </p:txBody>
      </p:sp>
      <p:sp>
        <p:nvSpPr>
          <p:cNvPr id="547" name="Google Shape;547;g3a5b9630aa3_8_18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548" name="Google Shape;548;g3a5b9630aa3_8_186"/>
          <p:cNvPicPr preferRelativeResize="0"/>
          <p:nvPr/>
        </p:nvPicPr>
        <p:blipFill rotWithShape="1">
          <a:blip r:embed="rId3">
            <a:alphaModFix/>
          </a:blip>
          <a:srcRect t="4571" r="1476"/>
          <a:stretch/>
        </p:blipFill>
        <p:spPr>
          <a:xfrm>
            <a:off x="1110575" y="2646550"/>
            <a:ext cx="7372750" cy="3838050"/>
          </a:xfrm>
          <a:prstGeom prst="rect">
            <a:avLst/>
          </a:prstGeom>
          <a:noFill/>
          <a:ln>
            <a:noFill/>
          </a:ln>
        </p:spPr>
      </p:pic>
      <p:sp>
        <p:nvSpPr>
          <p:cNvPr id="549" name="Google Shape;549;g3a5b9630aa3_8_18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FFFF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g3a5b9630aa3_8_19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55" name="Google Shape;555;g3a5b9630aa3_8_195"/>
          <p:cNvSpPr txBox="1">
            <a:spLocks noGrp="1"/>
          </p:cNvSpPr>
          <p:nvPr>
            <p:ph type="body" idx="1"/>
          </p:nvPr>
        </p:nvSpPr>
        <p:spPr>
          <a:xfrm>
            <a:off x="581192" y="1880649"/>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de Escritorio: Formulario de Nueva venta a crédito</a:t>
            </a:r>
            <a:endParaRPr/>
          </a:p>
        </p:txBody>
      </p:sp>
      <p:sp>
        <p:nvSpPr>
          <p:cNvPr id="556" name="Google Shape;556;g3a5b9630aa3_8_19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ESCRITORIO</a:t>
            </a:r>
            <a:endParaRPr sz="1400" b="0" i="0" u="none" strike="noStrike" cap="none">
              <a:solidFill>
                <a:srgbClr val="FFFF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557" name="Google Shape;557;g3a5b9630aa3_8_195"/>
          <p:cNvPicPr preferRelativeResize="0"/>
          <p:nvPr/>
        </p:nvPicPr>
        <p:blipFill rotWithShape="1">
          <a:blip r:embed="rId3">
            <a:alphaModFix/>
          </a:blip>
          <a:srcRect t="5141" r="1834"/>
          <a:stretch/>
        </p:blipFill>
        <p:spPr>
          <a:xfrm>
            <a:off x="1200888" y="2811350"/>
            <a:ext cx="7192125" cy="37703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46"/>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3" name="Google Shape;563;p46"/>
          <p:cNvSpPr txBox="1">
            <a:spLocks noGrp="1"/>
          </p:cNvSpPr>
          <p:nvPr>
            <p:ph type="body" idx="1"/>
          </p:nvPr>
        </p:nvSpPr>
        <p:spPr>
          <a:xfrm>
            <a:off x="484209" y="1715956"/>
            <a:ext cx="8576663" cy="144278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840"/>
              <a:buFont typeface="Noto Sans Symbols"/>
              <a:buChar char="∙"/>
            </a:pPr>
            <a:r>
              <a:rPr lang="es-ES" sz="2000">
                <a:latin typeface="Cambria"/>
                <a:ea typeface="Cambria"/>
                <a:cs typeface="Cambria"/>
                <a:sym typeface="Cambria"/>
              </a:rPr>
              <a:t>Proyecto web </a:t>
            </a:r>
            <a:endParaRPr>
              <a:latin typeface="Cambria"/>
              <a:ea typeface="Cambria"/>
              <a:cs typeface="Cambria"/>
              <a:sym typeface="Cambria"/>
            </a:endParaRPr>
          </a:p>
          <a:p>
            <a:pPr marL="342900" lvl="0" indent="-342900" algn="just" rtl="0">
              <a:lnSpc>
                <a:spcPct val="107000"/>
              </a:lnSpc>
              <a:spcBef>
                <a:spcPts val="0"/>
              </a:spcBef>
              <a:spcAft>
                <a:spcPts val="0"/>
              </a:spcAft>
              <a:buSzPts val="1840"/>
              <a:buFont typeface="Noto Sans Symbols"/>
              <a:buChar char="∙"/>
            </a:pPr>
            <a:r>
              <a:rPr lang="es-ES" sz="2000">
                <a:latin typeface="Cambria"/>
                <a:ea typeface="Cambria"/>
                <a:cs typeface="Cambria"/>
                <a:sym typeface="Cambria"/>
              </a:rPr>
              <a:t>Crear un proyecto de tipo web y seleccionar el tipo de plantilla del proyecto.</a:t>
            </a:r>
            <a:endParaRPr>
              <a:latin typeface="Cambria"/>
              <a:ea typeface="Cambria"/>
              <a:cs typeface="Cambria"/>
              <a:sym typeface="Cambria"/>
            </a:endParaRPr>
          </a:p>
        </p:txBody>
      </p:sp>
      <p:pic>
        <p:nvPicPr>
          <p:cNvPr id="564" name="Google Shape;564;p46"/>
          <p:cNvPicPr preferRelativeResize="0"/>
          <p:nvPr/>
        </p:nvPicPr>
        <p:blipFill rotWithShape="1">
          <a:blip r:embed="rId3">
            <a:alphaModFix/>
          </a:blip>
          <a:srcRect/>
          <a:stretch/>
        </p:blipFill>
        <p:spPr>
          <a:xfrm>
            <a:off x="1776463" y="2971099"/>
            <a:ext cx="5992151" cy="3688475"/>
          </a:xfrm>
          <a:prstGeom prst="rect">
            <a:avLst/>
          </a:prstGeom>
          <a:noFill/>
          <a:ln>
            <a:noFill/>
          </a:ln>
        </p:spPr>
      </p:pic>
      <p:sp>
        <p:nvSpPr>
          <p:cNvPr id="565" name="Google Shape;565;p4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4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71" name="Google Shape;571;p47"/>
          <p:cNvSpPr txBox="1">
            <a:spLocks noGrp="1"/>
          </p:cNvSpPr>
          <p:nvPr>
            <p:ph type="body" idx="1"/>
          </p:nvPr>
        </p:nvSpPr>
        <p:spPr>
          <a:xfrm>
            <a:off x="556095" y="1986220"/>
            <a:ext cx="8504777" cy="551384"/>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840"/>
              <a:buFont typeface="Noto Sans Symbols"/>
              <a:buChar char="∙"/>
            </a:pPr>
            <a:r>
              <a:rPr lang="es-ES" sz="2000">
                <a:latin typeface="Cambria"/>
                <a:ea typeface="Cambria"/>
                <a:cs typeface="Cambria"/>
                <a:sym typeface="Cambria"/>
              </a:rPr>
              <a:t>1.	Estructura cliente WEB. </a:t>
            </a:r>
            <a:endParaRPr/>
          </a:p>
        </p:txBody>
      </p:sp>
      <p:pic>
        <p:nvPicPr>
          <p:cNvPr id="572" name="Google Shape;572;p47"/>
          <p:cNvPicPr preferRelativeResize="0"/>
          <p:nvPr/>
        </p:nvPicPr>
        <p:blipFill rotWithShape="1">
          <a:blip r:embed="rId3">
            <a:alphaModFix/>
          </a:blip>
          <a:srcRect/>
          <a:stretch/>
        </p:blipFill>
        <p:spPr>
          <a:xfrm>
            <a:off x="5131200" y="1986224"/>
            <a:ext cx="3126325" cy="4750675"/>
          </a:xfrm>
          <a:prstGeom prst="rect">
            <a:avLst/>
          </a:prstGeom>
          <a:noFill/>
          <a:ln>
            <a:noFill/>
          </a:ln>
        </p:spPr>
      </p:pic>
      <p:sp>
        <p:nvSpPr>
          <p:cNvPr id="573" name="Google Shape;573;p4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79" name="Google Shape;579;p49"/>
          <p:cNvSpPr txBox="1">
            <a:spLocks noGrp="1"/>
          </p:cNvSpPr>
          <p:nvPr>
            <p:ph type="body" idx="1"/>
          </p:nvPr>
        </p:nvSpPr>
        <p:spPr>
          <a:xfrm>
            <a:off x="581192" y="1728072"/>
            <a:ext cx="8667274" cy="708266"/>
          </a:xfrm>
          <a:prstGeom prst="rect">
            <a:avLst/>
          </a:prstGeom>
          <a:noFill/>
          <a:ln>
            <a:noFill/>
          </a:ln>
        </p:spPr>
        <p:txBody>
          <a:bodyPr spcFirstLastPara="1" wrap="square" lIns="91425" tIns="45700" rIns="91425" bIns="45700" anchor="ctr" anchorCtr="0">
            <a:normAutofit lnSpcReduction="10000"/>
          </a:bodyPr>
          <a:lstStyle/>
          <a:p>
            <a:pPr marL="342900" lvl="0" indent="-342900" algn="just" rtl="0">
              <a:lnSpc>
                <a:spcPct val="107000"/>
              </a:lnSpc>
              <a:spcBef>
                <a:spcPts val="0"/>
              </a:spcBef>
              <a:spcAft>
                <a:spcPts val="0"/>
              </a:spcAft>
              <a:buSzPts val="1840"/>
              <a:buFont typeface="Noto Sans Symbols"/>
              <a:buChar char="∙"/>
            </a:pPr>
            <a:r>
              <a:rPr lang="es-ES" sz="2000">
                <a:latin typeface="Cambria"/>
                <a:ea typeface="Cambria"/>
                <a:cs typeface="Cambria"/>
                <a:sym typeface="Cambria"/>
              </a:rPr>
              <a:t>2. Se deberá crear una nueva clase en la carpeta Models con el nombre CreateProduct y se codifica.</a:t>
            </a:r>
            <a:endParaRPr sz="2000">
              <a:latin typeface="Cambria"/>
              <a:ea typeface="Cambria"/>
              <a:cs typeface="Cambria"/>
              <a:sym typeface="Cambria"/>
            </a:endParaRPr>
          </a:p>
        </p:txBody>
      </p:sp>
      <p:pic>
        <p:nvPicPr>
          <p:cNvPr id="580" name="Google Shape;580;p49"/>
          <p:cNvPicPr preferRelativeResize="0"/>
          <p:nvPr/>
        </p:nvPicPr>
        <p:blipFill rotWithShape="1">
          <a:blip r:embed="rId3">
            <a:alphaModFix/>
          </a:blip>
          <a:srcRect/>
          <a:stretch/>
        </p:blipFill>
        <p:spPr>
          <a:xfrm>
            <a:off x="3011425" y="2651146"/>
            <a:ext cx="3571187" cy="4071329"/>
          </a:xfrm>
          <a:prstGeom prst="rect">
            <a:avLst/>
          </a:prstGeom>
          <a:noFill/>
          <a:ln>
            <a:noFill/>
          </a:ln>
        </p:spPr>
      </p:pic>
      <p:sp>
        <p:nvSpPr>
          <p:cNvPr id="581" name="Google Shape;581;p4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g3a5b9630aa3_8_20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87" name="Google Shape;587;g3a5b9630aa3_8_207"/>
          <p:cNvSpPr txBox="1">
            <a:spLocks noGrp="1"/>
          </p:cNvSpPr>
          <p:nvPr>
            <p:ph type="body" idx="1"/>
          </p:nvPr>
        </p:nvSpPr>
        <p:spPr>
          <a:xfrm>
            <a:off x="581192" y="1715956"/>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sz="1800">
                <a:latin typeface="Cambria"/>
                <a:ea typeface="Cambria"/>
                <a:cs typeface="Cambria"/>
                <a:sym typeface="Cambria"/>
              </a:rPr>
              <a:t>3.</a:t>
            </a:r>
            <a:r>
              <a:rPr lang="es-ES">
                <a:latin typeface="Cambria"/>
                <a:ea typeface="Cambria"/>
                <a:cs typeface="Cambria"/>
                <a:sym typeface="Cambria"/>
              </a:rPr>
              <a:t> Crear una nueva clase en la carpeta Model, esta clase se llama ProductoDTO y se estructura de </a:t>
            </a:r>
            <a:r>
              <a:rPr lang="es-ES" sz="1800">
                <a:latin typeface="Cambria"/>
                <a:ea typeface="Cambria"/>
                <a:cs typeface="Cambria"/>
                <a:sym typeface="Cambria"/>
              </a:rPr>
              <a:t>la </a:t>
            </a:r>
            <a:r>
              <a:rPr lang="es-ES">
                <a:latin typeface="Cambria"/>
                <a:ea typeface="Cambria"/>
                <a:cs typeface="Cambria"/>
                <a:sym typeface="Cambria"/>
              </a:rPr>
              <a:t>siguiente manera</a:t>
            </a:r>
            <a:r>
              <a:rPr lang="es-ES" sz="1800">
                <a:latin typeface="Cambria"/>
                <a:ea typeface="Cambria"/>
                <a:cs typeface="Cambria"/>
                <a:sym typeface="Cambria"/>
              </a:rPr>
              <a:t>.</a:t>
            </a:r>
            <a:endParaRPr>
              <a:latin typeface="Cambria"/>
              <a:ea typeface="Cambria"/>
              <a:cs typeface="Cambria"/>
              <a:sym typeface="Cambria"/>
            </a:endParaRPr>
          </a:p>
        </p:txBody>
      </p:sp>
      <p:pic>
        <p:nvPicPr>
          <p:cNvPr id="588" name="Google Shape;588;g3a5b9630aa3_8_207"/>
          <p:cNvPicPr preferRelativeResize="0"/>
          <p:nvPr/>
        </p:nvPicPr>
        <p:blipFill rotWithShape="1">
          <a:blip r:embed="rId3">
            <a:alphaModFix/>
          </a:blip>
          <a:srcRect/>
          <a:stretch/>
        </p:blipFill>
        <p:spPr>
          <a:xfrm>
            <a:off x="2937438" y="2701821"/>
            <a:ext cx="3719139" cy="4071330"/>
          </a:xfrm>
          <a:prstGeom prst="rect">
            <a:avLst/>
          </a:prstGeom>
          <a:noFill/>
          <a:ln>
            <a:noFill/>
          </a:ln>
        </p:spPr>
      </p:pic>
      <p:sp>
        <p:nvSpPr>
          <p:cNvPr id="589" name="Google Shape;589;g3a5b9630aa3_8_20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g3a5b9630aa3_8_21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95" name="Google Shape;595;g3a5b9630aa3_8_214"/>
          <p:cNvSpPr txBox="1">
            <a:spLocks noGrp="1"/>
          </p:cNvSpPr>
          <p:nvPr>
            <p:ph type="body" idx="1"/>
          </p:nvPr>
        </p:nvSpPr>
        <p:spPr>
          <a:xfrm>
            <a:off x="581192" y="1715956"/>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sz="1800">
                <a:latin typeface="Cambria"/>
                <a:ea typeface="Cambria"/>
                <a:cs typeface="Cambria"/>
                <a:sym typeface="Cambria"/>
              </a:rPr>
              <a:t>3.	</a:t>
            </a:r>
            <a:r>
              <a:rPr lang="es-ES">
                <a:latin typeface="Cambria"/>
                <a:ea typeface="Cambria"/>
                <a:cs typeface="Cambria"/>
                <a:sym typeface="Cambria"/>
              </a:rPr>
              <a:t>Crear una nueva clase en la carpeta Model, esta clase se llama CreditGrantRequest y se estructura de </a:t>
            </a:r>
            <a:r>
              <a:rPr lang="es-ES" sz="1800">
                <a:latin typeface="Cambria"/>
                <a:ea typeface="Cambria"/>
                <a:cs typeface="Cambria"/>
                <a:sym typeface="Cambria"/>
              </a:rPr>
              <a:t>la </a:t>
            </a:r>
            <a:r>
              <a:rPr lang="es-ES">
                <a:latin typeface="Cambria"/>
                <a:ea typeface="Cambria"/>
                <a:cs typeface="Cambria"/>
                <a:sym typeface="Cambria"/>
              </a:rPr>
              <a:t>siguiente manera</a:t>
            </a:r>
            <a:r>
              <a:rPr lang="es-ES" sz="1800">
                <a:latin typeface="Cambria"/>
                <a:ea typeface="Cambria"/>
                <a:cs typeface="Cambria"/>
                <a:sym typeface="Cambria"/>
              </a:rPr>
              <a:t>.</a:t>
            </a:r>
            <a:endParaRPr>
              <a:latin typeface="Cambria"/>
              <a:ea typeface="Cambria"/>
              <a:cs typeface="Cambria"/>
              <a:sym typeface="Cambria"/>
            </a:endParaRPr>
          </a:p>
        </p:txBody>
      </p:sp>
      <p:pic>
        <p:nvPicPr>
          <p:cNvPr id="596" name="Google Shape;596;g3a5b9630aa3_8_214"/>
          <p:cNvPicPr preferRelativeResize="0"/>
          <p:nvPr/>
        </p:nvPicPr>
        <p:blipFill rotWithShape="1">
          <a:blip r:embed="rId3">
            <a:alphaModFix/>
          </a:blip>
          <a:srcRect/>
          <a:stretch/>
        </p:blipFill>
        <p:spPr>
          <a:xfrm>
            <a:off x="1813925" y="2988902"/>
            <a:ext cx="5966175" cy="3140875"/>
          </a:xfrm>
          <a:prstGeom prst="rect">
            <a:avLst/>
          </a:prstGeom>
          <a:noFill/>
          <a:ln>
            <a:noFill/>
          </a:ln>
        </p:spPr>
      </p:pic>
      <p:sp>
        <p:nvSpPr>
          <p:cNvPr id="597" name="Google Shape;597;g3a5b9630aa3_8_21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g3a5b9630aa3_8_22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03" name="Google Shape;603;g3a5b9630aa3_8_221"/>
          <p:cNvSpPr txBox="1">
            <a:spLocks noGrp="1"/>
          </p:cNvSpPr>
          <p:nvPr>
            <p:ph type="body" idx="1"/>
          </p:nvPr>
        </p:nvSpPr>
        <p:spPr>
          <a:xfrm>
            <a:off x="581192" y="1715956"/>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sz="1800">
                <a:latin typeface="Cambria"/>
                <a:ea typeface="Cambria"/>
                <a:cs typeface="Cambria"/>
                <a:sym typeface="Cambria"/>
              </a:rPr>
              <a:t>3.	</a:t>
            </a:r>
            <a:r>
              <a:rPr lang="es-ES">
                <a:latin typeface="Cambria"/>
                <a:ea typeface="Cambria"/>
                <a:cs typeface="Cambria"/>
                <a:sym typeface="Cambria"/>
              </a:rPr>
              <a:t>Crear una nueva clase en la carpeta Model, esta clase se llama AmortizacionItemDto y se estructura de </a:t>
            </a:r>
            <a:r>
              <a:rPr lang="es-ES" sz="1800">
                <a:latin typeface="Cambria"/>
                <a:ea typeface="Cambria"/>
                <a:cs typeface="Cambria"/>
                <a:sym typeface="Cambria"/>
              </a:rPr>
              <a:t>la </a:t>
            </a:r>
            <a:r>
              <a:rPr lang="es-ES">
                <a:latin typeface="Cambria"/>
                <a:ea typeface="Cambria"/>
                <a:cs typeface="Cambria"/>
                <a:sym typeface="Cambria"/>
              </a:rPr>
              <a:t>siguiente manera</a:t>
            </a:r>
            <a:r>
              <a:rPr lang="es-ES" sz="1800">
                <a:latin typeface="Cambria"/>
                <a:ea typeface="Cambria"/>
                <a:cs typeface="Cambria"/>
                <a:sym typeface="Cambria"/>
              </a:rPr>
              <a:t>.</a:t>
            </a:r>
            <a:endParaRPr>
              <a:latin typeface="Cambria"/>
              <a:ea typeface="Cambria"/>
              <a:cs typeface="Cambria"/>
              <a:sym typeface="Cambria"/>
            </a:endParaRPr>
          </a:p>
        </p:txBody>
      </p:sp>
      <p:pic>
        <p:nvPicPr>
          <p:cNvPr id="604" name="Google Shape;604;g3a5b9630aa3_8_221"/>
          <p:cNvPicPr preferRelativeResize="0"/>
          <p:nvPr/>
        </p:nvPicPr>
        <p:blipFill rotWithShape="1">
          <a:blip r:embed="rId3">
            <a:alphaModFix/>
          </a:blip>
          <a:srcRect/>
          <a:stretch/>
        </p:blipFill>
        <p:spPr>
          <a:xfrm>
            <a:off x="2312863" y="3140876"/>
            <a:ext cx="4968300" cy="3056450"/>
          </a:xfrm>
          <a:prstGeom prst="rect">
            <a:avLst/>
          </a:prstGeom>
          <a:noFill/>
          <a:ln>
            <a:noFill/>
          </a:ln>
        </p:spPr>
      </p:pic>
      <p:sp>
        <p:nvSpPr>
          <p:cNvPr id="605" name="Google Shape;605;g3a5b9630aa3_8_22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g3a5b9630aa3_8_22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1" name="Google Shape;611;g3a5b9630aa3_8_228"/>
          <p:cNvSpPr txBox="1">
            <a:spLocks noGrp="1"/>
          </p:cNvSpPr>
          <p:nvPr>
            <p:ph type="body" idx="1"/>
          </p:nvPr>
        </p:nvSpPr>
        <p:spPr>
          <a:xfrm>
            <a:off x="581192" y="1783502"/>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Web: Login</a:t>
            </a:r>
            <a:endParaRPr/>
          </a:p>
        </p:txBody>
      </p:sp>
      <p:sp>
        <p:nvSpPr>
          <p:cNvPr id="612" name="Google Shape;612;g3a5b9630aa3_8_22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613" name="Google Shape;613;g3a5b9630aa3_8_228"/>
          <p:cNvPicPr preferRelativeResize="0"/>
          <p:nvPr/>
        </p:nvPicPr>
        <p:blipFill rotWithShape="1">
          <a:blip r:embed="rId3">
            <a:alphaModFix/>
          </a:blip>
          <a:srcRect/>
          <a:stretch/>
        </p:blipFill>
        <p:spPr>
          <a:xfrm>
            <a:off x="1037513" y="2617052"/>
            <a:ext cx="7518872" cy="400379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g3a5b9630aa3_8_28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9" name="Google Shape;619;g3a5b9630aa3_8_289"/>
          <p:cNvSpPr txBox="1">
            <a:spLocks noGrp="1"/>
          </p:cNvSpPr>
          <p:nvPr>
            <p:ph type="body" idx="1"/>
          </p:nvPr>
        </p:nvSpPr>
        <p:spPr>
          <a:xfrm>
            <a:off x="581192" y="1783502"/>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Web: Consulta de factura por número</a:t>
            </a:r>
            <a:endParaRPr/>
          </a:p>
        </p:txBody>
      </p:sp>
      <p:pic>
        <p:nvPicPr>
          <p:cNvPr id="620" name="Google Shape;620;g3a5b9630aa3_8_289"/>
          <p:cNvPicPr preferRelativeResize="0"/>
          <p:nvPr/>
        </p:nvPicPr>
        <p:blipFill rotWithShape="1">
          <a:blip r:embed="rId3">
            <a:alphaModFix/>
          </a:blip>
          <a:srcRect t="4213" r="1660"/>
          <a:stretch/>
        </p:blipFill>
        <p:spPr>
          <a:xfrm>
            <a:off x="1102587" y="2685350"/>
            <a:ext cx="7388850" cy="3866575"/>
          </a:xfrm>
          <a:prstGeom prst="rect">
            <a:avLst/>
          </a:prstGeom>
          <a:noFill/>
          <a:ln>
            <a:noFill/>
          </a:ln>
        </p:spPr>
      </p:pic>
      <p:sp>
        <p:nvSpPr>
          <p:cNvPr id="621" name="Google Shape;621;g3a5b9630aa3_8_28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g3a5b9630aa3_8_2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27" name="Google Shape;627;g3a5b9630aa3_8_235"/>
          <p:cNvSpPr txBox="1">
            <a:spLocks noGrp="1"/>
          </p:cNvSpPr>
          <p:nvPr>
            <p:ph type="body" idx="1"/>
          </p:nvPr>
        </p:nvSpPr>
        <p:spPr>
          <a:xfrm>
            <a:off x="581192" y="1783502"/>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Web: Tabla de amortización del crédito</a:t>
            </a:r>
            <a:endParaRPr/>
          </a:p>
        </p:txBody>
      </p:sp>
      <p:pic>
        <p:nvPicPr>
          <p:cNvPr id="628" name="Google Shape;628;g3a5b9630aa3_8_235"/>
          <p:cNvPicPr preferRelativeResize="0"/>
          <p:nvPr/>
        </p:nvPicPr>
        <p:blipFill rotWithShape="1">
          <a:blip r:embed="rId3">
            <a:alphaModFix/>
          </a:blip>
          <a:srcRect t="4861" r="1834"/>
          <a:stretch/>
        </p:blipFill>
        <p:spPr>
          <a:xfrm>
            <a:off x="1082763" y="2762750"/>
            <a:ext cx="7428375" cy="3867550"/>
          </a:xfrm>
          <a:prstGeom prst="rect">
            <a:avLst/>
          </a:prstGeom>
          <a:noFill/>
          <a:ln>
            <a:noFill/>
          </a:ln>
        </p:spPr>
      </p:pic>
      <p:sp>
        <p:nvSpPr>
          <p:cNvPr id="629" name="Google Shape;629;g3a5b9630aa3_8_23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g3a5b9630aa3_8_24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35" name="Google Shape;635;g3a5b9630aa3_8_242"/>
          <p:cNvSpPr txBox="1">
            <a:spLocks noGrp="1"/>
          </p:cNvSpPr>
          <p:nvPr>
            <p:ph type="body" idx="1"/>
          </p:nvPr>
        </p:nvSpPr>
        <p:spPr>
          <a:xfrm>
            <a:off x="581192" y="1783502"/>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Web: Gestión de productos</a:t>
            </a:r>
            <a:endParaRPr/>
          </a:p>
        </p:txBody>
      </p:sp>
      <p:pic>
        <p:nvPicPr>
          <p:cNvPr id="636" name="Google Shape;636;g3a5b9630aa3_8_242"/>
          <p:cNvPicPr preferRelativeResize="0"/>
          <p:nvPr/>
        </p:nvPicPr>
        <p:blipFill rotWithShape="1">
          <a:blip r:embed="rId3">
            <a:alphaModFix/>
          </a:blip>
          <a:srcRect t="5419" r="1660"/>
          <a:stretch/>
        </p:blipFill>
        <p:spPr>
          <a:xfrm>
            <a:off x="1191425" y="2762750"/>
            <a:ext cx="7211026" cy="3721825"/>
          </a:xfrm>
          <a:prstGeom prst="rect">
            <a:avLst/>
          </a:prstGeom>
          <a:noFill/>
          <a:ln>
            <a:noFill/>
          </a:ln>
        </p:spPr>
      </p:pic>
      <p:sp>
        <p:nvSpPr>
          <p:cNvPr id="637" name="Google Shape;637;g3a5b9630aa3_8_24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g3a5b9630aa3_8_24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43" name="Google Shape;643;g3a5b9630aa3_8_249"/>
          <p:cNvSpPr txBox="1">
            <a:spLocks noGrp="1"/>
          </p:cNvSpPr>
          <p:nvPr>
            <p:ph type="body" idx="1"/>
          </p:nvPr>
        </p:nvSpPr>
        <p:spPr>
          <a:xfrm>
            <a:off x="581192" y="1880649"/>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Web: Confirmación de venta completada</a:t>
            </a:r>
            <a:endParaRPr/>
          </a:p>
        </p:txBody>
      </p:sp>
      <p:pic>
        <p:nvPicPr>
          <p:cNvPr id="644" name="Google Shape;644;g3a5b9630aa3_8_249"/>
          <p:cNvPicPr preferRelativeResize="0"/>
          <p:nvPr/>
        </p:nvPicPr>
        <p:blipFill rotWithShape="1">
          <a:blip r:embed="rId3">
            <a:alphaModFix/>
          </a:blip>
          <a:srcRect t="5294" r="2008"/>
          <a:stretch/>
        </p:blipFill>
        <p:spPr>
          <a:xfrm>
            <a:off x="1345738" y="2872525"/>
            <a:ext cx="6902424" cy="3587775"/>
          </a:xfrm>
          <a:prstGeom prst="rect">
            <a:avLst/>
          </a:prstGeom>
          <a:noFill/>
          <a:ln>
            <a:noFill/>
          </a:ln>
        </p:spPr>
      </p:pic>
      <p:sp>
        <p:nvSpPr>
          <p:cNvPr id="645" name="Google Shape;645;g3a5b9630aa3_8_24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g3a5b9630aa3_8_25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51" name="Google Shape;651;g3a5b9630aa3_8_256"/>
          <p:cNvSpPr txBox="1">
            <a:spLocks noGrp="1"/>
          </p:cNvSpPr>
          <p:nvPr>
            <p:ph type="body" idx="1"/>
          </p:nvPr>
        </p:nvSpPr>
        <p:spPr>
          <a:xfrm>
            <a:off x="581192" y="1880649"/>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Web: Página principal del sistema</a:t>
            </a:r>
            <a:endParaRPr/>
          </a:p>
        </p:txBody>
      </p:sp>
      <p:pic>
        <p:nvPicPr>
          <p:cNvPr id="652" name="Google Shape;652;g3a5b9630aa3_8_256"/>
          <p:cNvPicPr preferRelativeResize="0"/>
          <p:nvPr/>
        </p:nvPicPr>
        <p:blipFill rotWithShape="1">
          <a:blip r:embed="rId3">
            <a:alphaModFix/>
          </a:blip>
          <a:srcRect t="5338" r="1660"/>
          <a:stretch/>
        </p:blipFill>
        <p:spPr>
          <a:xfrm>
            <a:off x="1240825" y="2811350"/>
            <a:ext cx="7112250" cy="3721825"/>
          </a:xfrm>
          <a:prstGeom prst="rect">
            <a:avLst/>
          </a:prstGeom>
          <a:noFill/>
          <a:ln>
            <a:noFill/>
          </a:ln>
        </p:spPr>
      </p:pic>
      <p:sp>
        <p:nvSpPr>
          <p:cNvPr id="653" name="Google Shape;653;g3a5b9630aa3_8_25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g3a5b9630aa3_8_26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59" name="Google Shape;659;g3a5b9630aa3_8_263"/>
          <p:cNvSpPr txBox="1">
            <a:spLocks noGrp="1"/>
          </p:cNvSpPr>
          <p:nvPr>
            <p:ph type="body" idx="1"/>
          </p:nvPr>
        </p:nvSpPr>
        <p:spPr>
          <a:xfrm>
            <a:off x="581192" y="1880649"/>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Web: Consulta de facturas por cliente</a:t>
            </a:r>
            <a:endParaRPr/>
          </a:p>
        </p:txBody>
      </p:sp>
      <p:pic>
        <p:nvPicPr>
          <p:cNvPr id="660" name="Google Shape;660;g3a5b9630aa3_8_263"/>
          <p:cNvPicPr preferRelativeResize="0"/>
          <p:nvPr/>
        </p:nvPicPr>
        <p:blipFill rotWithShape="1">
          <a:blip r:embed="rId3">
            <a:alphaModFix/>
          </a:blip>
          <a:srcRect t="4571" r="1476"/>
          <a:stretch/>
        </p:blipFill>
        <p:spPr>
          <a:xfrm>
            <a:off x="1110575" y="2646550"/>
            <a:ext cx="7372750" cy="3838050"/>
          </a:xfrm>
          <a:prstGeom prst="rect">
            <a:avLst/>
          </a:prstGeom>
          <a:noFill/>
          <a:ln>
            <a:noFill/>
          </a:ln>
        </p:spPr>
      </p:pic>
      <p:sp>
        <p:nvSpPr>
          <p:cNvPr id="661" name="Google Shape;661;g3a5b9630aa3_8_26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g3a5b9630aa3_8_27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7" name="Google Shape;667;g3a5b9630aa3_8_270"/>
          <p:cNvSpPr txBox="1">
            <a:spLocks noGrp="1"/>
          </p:cNvSpPr>
          <p:nvPr>
            <p:ph type="body" idx="1"/>
          </p:nvPr>
        </p:nvSpPr>
        <p:spPr>
          <a:xfrm>
            <a:off x="581192" y="1880649"/>
            <a:ext cx="8431500" cy="7659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Capturas del Sistema Web: Formulario de Nueva venta a crédito</a:t>
            </a:r>
            <a:endParaRPr/>
          </a:p>
        </p:txBody>
      </p:sp>
      <p:sp>
        <p:nvSpPr>
          <p:cNvPr id="668" name="Google Shape;668;g3a5b9630aa3_8_27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chemeClr val="lt1"/>
              </a:solidFill>
              <a:latin typeface="Arial"/>
              <a:ea typeface="Arial"/>
              <a:cs typeface="Arial"/>
              <a:sym typeface="Arial"/>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WEB</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669" name="Google Shape;669;g3a5b9630aa3_8_270"/>
          <p:cNvPicPr preferRelativeResize="0"/>
          <p:nvPr/>
        </p:nvPicPr>
        <p:blipFill rotWithShape="1">
          <a:blip r:embed="rId3">
            <a:alphaModFix/>
          </a:blip>
          <a:srcRect t="5141" r="1834"/>
          <a:stretch/>
        </p:blipFill>
        <p:spPr>
          <a:xfrm>
            <a:off x="1200888" y="2811350"/>
            <a:ext cx="7192125" cy="37703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6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75" name="Google Shape;675;p62"/>
          <p:cNvSpPr txBox="1">
            <a:spLocks noGrp="1"/>
          </p:cNvSpPr>
          <p:nvPr>
            <p:ph type="body" idx="1"/>
          </p:nvPr>
        </p:nvSpPr>
        <p:spPr>
          <a:xfrm>
            <a:off x="477435" y="2128872"/>
            <a:ext cx="8451900" cy="4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840"/>
              <a:buFont typeface="Noto Sans Symbols"/>
              <a:buChar char="∙"/>
            </a:pPr>
            <a:r>
              <a:rPr lang="es-ES" sz="2000">
                <a:latin typeface="Cambria"/>
                <a:ea typeface="Cambria"/>
                <a:cs typeface="Cambria"/>
                <a:sym typeface="Cambria"/>
              </a:rPr>
              <a:t>1.	Creación proyecto cliente móvil. </a:t>
            </a:r>
            <a:endParaRPr/>
          </a:p>
        </p:txBody>
      </p:sp>
      <p:pic>
        <p:nvPicPr>
          <p:cNvPr id="676" name="Google Shape;676;p62"/>
          <p:cNvPicPr preferRelativeResize="0"/>
          <p:nvPr/>
        </p:nvPicPr>
        <p:blipFill rotWithShape="1">
          <a:blip r:embed="rId3">
            <a:alphaModFix/>
          </a:blip>
          <a:srcRect/>
          <a:stretch/>
        </p:blipFill>
        <p:spPr>
          <a:xfrm>
            <a:off x="477402" y="2975302"/>
            <a:ext cx="8451976" cy="907405"/>
          </a:xfrm>
          <a:prstGeom prst="rect">
            <a:avLst/>
          </a:prstGeom>
          <a:noFill/>
          <a:ln>
            <a:noFill/>
          </a:ln>
        </p:spPr>
      </p:pic>
      <p:pic>
        <p:nvPicPr>
          <p:cNvPr id="677" name="Google Shape;677;p62" descr="Interfaz de usuario gráfica, Aplicación&#10;&#10;Descripción generada automáticamente"/>
          <p:cNvPicPr preferRelativeResize="0"/>
          <p:nvPr/>
        </p:nvPicPr>
        <p:blipFill rotWithShape="1">
          <a:blip r:embed="rId4">
            <a:alphaModFix/>
          </a:blip>
          <a:srcRect/>
          <a:stretch/>
        </p:blipFill>
        <p:spPr>
          <a:xfrm>
            <a:off x="477400" y="3995375"/>
            <a:ext cx="8451975" cy="2389244"/>
          </a:xfrm>
          <a:prstGeom prst="rect">
            <a:avLst/>
          </a:prstGeom>
          <a:noFill/>
          <a:ln>
            <a:noFill/>
          </a:ln>
        </p:spPr>
      </p:pic>
      <p:sp>
        <p:nvSpPr>
          <p:cNvPr id="678" name="Google Shape;678;p6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6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84" name="Google Shape;684;p63"/>
          <p:cNvSpPr txBox="1">
            <a:spLocks noGrp="1"/>
          </p:cNvSpPr>
          <p:nvPr>
            <p:ph type="body" idx="1"/>
          </p:nvPr>
        </p:nvSpPr>
        <p:spPr>
          <a:xfrm>
            <a:off x="581192" y="1911212"/>
            <a:ext cx="8451972" cy="10138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840"/>
              <a:buFont typeface="Noto Sans Symbols"/>
              <a:buChar char="∙"/>
            </a:pPr>
            <a:r>
              <a:rPr lang="es-ES" sz="2000">
                <a:latin typeface="Cambria"/>
                <a:ea typeface="Cambria"/>
                <a:cs typeface="Cambria"/>
                <a:sym typeface="Cambria"/>
              </a:rPr>
              <a:t>2.	Clases en diferentes paquetes</a:t>
            </a:r>
            <a:endParaRPr/>
          </a:p>
        </p:txBody>
      </p:sp>
      <p:pic>
        <p:nvPicPr>
          <p:cNvPr id="685" name="Google Shape;685;p63" descr="Interfaz de usuario gráfica, Texto, Aplicación, Chat o mensaje de texto&#10;&#10;Descripción generada automáticamente"/>
          <p:cNvPicPr preferRelativeResize="0"/>
          <p:nvPr/>
        </p:nvPicPr>
        <p:blipFill rotWithShape="1">
          <a:blip r:embed="rId3">
            <a:alphaModFix/>
          </a:blip>
          <a:srcRect/>
          <a:stretch/>
        </p:blipFill>
        <p:spPr>
          <a:xfrm>
            <a:off x="1702502" y="2924998"/>
            <a:ext cx="6209375" cy="3389575"/>
          </a:xfrm>
          <a:prstGeom prst="rect">
            <a:avLst/>
          </a:prstGeom>
          <a:noFill/>
          <a:ln>
            <a:noFill/>
          </a:ln>
        </p:spPr>
      </p:pic>
      <p:sp>
        <p:nvSpPr>
          <p:cNvPr id="686" name="Google Shape;686;p6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64"/>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92" name="Google Shape;692;p64"/>
          <p:cNvSpPr txBox="1">
            <a:spLocks noGrp="1"/>
          </p:cNvSpPr>
          <p:nvPr>
            <p:ph type="body" idx="1"/>
          </p:nvPr>
        </p:nvSpPr>
        <p:spPr>
          <a:xfrm>
            <a:off x="581192" y="1911212"/>
            <a:ext cx="8451972" cy="496216"/>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840"/>
              <a:buFont typeface="Noto Sans Symbols"/>
              <a:buChar char="∙"/>
            </a:pPr>
            <a:r>
              <a:rPr lang="es-ES" sz="2000">
                <a:latin typeface="Cambria"/>
                <a:ea typeface="Cambria"/>
                <a:cs typeface="Cambria"/>
                <a:sym typeface="Cambria"/>
              </a:rPr>
              <a:t>3.  Codificación de modelo</a:t>
            </a:r>
            <a:endParaRPr>
              <a:latin typeface="Cambria"/>
              <a:ea typeface="Cambria"/>
              <a:cs typeface="Cambria"/>
              <a:sym typeface="Cambria"/>
            </a:endParaRPr>
          </a:p>
        </p:txBody>
      </p:sp>
      <p:sp>
        <p:nvSpPr>
          <p:cNvPr id="693" name="Google Shape;693;p64"/>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694" name="Google Shape;694;p64"/>
          <p:cNvPicPr preferRelativeResize="0"/>
          <p:nvPr/>
        </p:nvPicPr>
        <p:blipFill rotWithShape="1">
          <a:blip r:embed="rId3">
            <a:alphaModFix/>
          </a:blip>
          <a:srcRect/>
          <a:stretch/>
        </p:blipFill>
        <p:spPr>
          <a:xfrm>
            <a:off x="2170013" y="3069849"/>
            <a:ext cx="5274350" cy="324472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65"/>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00" name="Google Shape;700;p65"/>
          <p:cNvSpPr txBox="1">
            <a:spLocks noGrp="1"/>
          </p:cNvSpPr>
          <p:nvPr>
            <p:ph type="body" idx="1"/>
          </p:nvPr>
        </p:nvSpPr>
        <p:spPr>
          <a:xfrm>
            <a:off x="581192" y="1911212"/>
            <a:ext cx="8451972" cy="496216"/>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840"/>
              <a:buFont typeface="Noto Sans Symbols"/>
              <a:buChar char="∙"/>
            </a:pPr>
            <a:r>
              <a:rPr lang="es-ES" sz="2000">
                <a:latin typeface="Cambria"/>
                <a:ea typeface="Cambria"/>
                <a:cs typeface="Cambria"/>
                <a:sym typeface="Cambria"/>
              </a:rPr>
              <a:t>4.	Configuración adicional para desarrollo en android</a:t>
            </a:r>
            <a:endParaRPr sz="2000">
              <a:latin typeface="Cambria"/>
              <a:ea typeface="Cambria"/>
              <a:cs typeface="Cambria"/>
              <a:sym typeface="Cambria"/>
            </a:endParaRPr>
          </a:p>
        </p:txBody>
      </p:sp>
      <p:sp>
        <p:nvSpPr>
          <p:cNvPr id="701" name="Google Shape;701;p65"/>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702" name="Google Shape;702;p65"/>
          <p:cNvPicPr preferRelativeResize="0"/>
          <p:nvPr/>
        </p:nvPicPr>
        <p:blipFill rotWithShape="1">
          <a:blip r:embed="rId3">
            <a:alphaModFix/>
          </a:blip>
          <a:srcRect/>
          <a:stretch/>
        </p:blipFill>
        <p:spPr>
          <a:xfrm>
            <a:off x="3001775" y="2407428"/>
            <a:ext cx="3610834" cy="414577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66"/>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08" name="Google Shape;708;p66"/>
          <p:cNvSpPr txBox="1">
            <a:spLocks noGrp="1"/>
          </p:cNvSpPr>
          <p:nvPr>
            <p:ph type="body" idx="1"/>
          </p:nvPr>
        </p:nvSpPr>
        <p:spPr>
          <a:xfrm>
            <a:off x="581192" y="1911212"/>
            <a:ext cx="8451972" cy="510593"/>
          </a:xfrm>
          <a:prstGeom prst="rect">
            <a:avLst/>
          </a:prstGeom>
          <a:noFill/>
          <a:ln>
            <a:noFill/>
          </a:ln>
        </p:spPr>
        <p:txBody>
          <a:bodyPr spcFirstLastPara="1" wrap="square" lIns="91425" tIns="45700" rIns="91425" bIns="45700" anchor="ctr" anchorCtr="0">
            <a:normAutofit/>
          </a:bodyPr>
          <a:lstStyle/>
          <a:p>
            <a:pPr marL="306000" lvl="0" indent="-306000" algn="just" rtl="0">
              <a:lnSpc>
                <a:spcPct val="107000"/>
              </a:lnSpc>
              <a:spcBef>
                <a:spcPts val="0"/>
              </a:spcBef>
              <a:spcAft>
                <a:spcPts val="0"/>
              </a:spcAft>
              <a:buSzPts val="1840"/>
              <a:buChar char="∙"/>
            </a:pPr>
            <a:r>
              <a:rPr lang="es-ES">
                <a:latin typeface="Cambria"/>
                <a:ea typeface="Cambria"/>
                <a:cs typeface="Cambria"/>
                <a:sym typeface="Cambria"/>
              </a:rPr>
              <a:t>Capturas del Sistema Móvil: Login</a:t>
            </a:r>
            <a:endParaRPr sz="2000">
              <a:latin typeface="Cambria"/>
              <a:ea typeface="Cambria"/>
              <a:cs typeface="Cambria"/>
              <a:sym typeface="Cambria"/>
            </a:endParaRPr>
          </a:p>
        </p:txBody>
      </p:sp>
      <p:sp>
        <p:nvSpPr>
          <p:cNvPr id="709" name="Google Shape;709;p66"/>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710" name="Google Shape;710;p66"/>
          <p:cNvPicPr preferRelativeResize="0"/>
          <p:nvPr/>
        </p:nvPicPr>
        <p:blipFill rotWithShape="1">
          <a:blip r:embed="rId3">
            <a:alphaModFix/>
          </a:blip>
          <a:srcRect b="8491"/>
          <a:stretch/>
        </p:blipFill>
        <p:spPr>
          <a:xfrm>
            <a:off x="4843325" y="1911200"/>
            <a:ext cx="2443875" cy="4842052"/>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g3a5b9630aa3_8_31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16" name="Google Shape;716;g3a5b9630aa3_8_317"/>
          <p:cNvSpPr txBox="1">
            <a:spLocks noGrp="1"/>
          </p:cNvSpPr>
          <p:nvPr>
            <p:ph type="body" idx="1"/>
          </p:nvPr>
        </p:nvSpPr>
        <p:spPr>
          <a:xfrm>
            <a:off x="581192" y="1911212"/>
            <a:ext cx="8451900" cy="510600"/>
          </a:xfrm>
          <a:prstGeom prst="rect">
            <a:avLst/>
          </a:prstGeom>
          <a:noFill/>
          <a:ln>
            <a:noFill/>
          </a:ln>
        </p:spPr>
        <p:txBody>
          <a:bodyPr spcFirstLastPara="1" wrap="square" lIns="91425" tIns="45700" rIns="91425" bIns="45700" anchor="ctr" anchorCtr="0">
            <a:normAutofit/>
          </a:bodyPr>
          <a:lstStyle/>
          <a:p>
            <a:pPr marL="306000" lvl="0" indent="-306000" algn="just" rtl="0">
              <a:lnSpc>
                <a:spcPct val="107000"/>
              </a:lnSpc>
              <a:spcBef>
                <a:spcPts val="0"/>
              </a:spcBef>
              <a:spcAft>
                <a:spcPts val="0"/>
              </a:spcAft>
              <a:buSzPts val="1840"/>
              <a:buChar char="∙"/>
            </a:pPr>
            <a:r>
              <a:rPr lang="es-ES">
                <a:latin typeface="Cambria"/>
                <a:ea typeface="Cambria"/>
                <a:cs typeface="Cambria"/>
                <a:sym typeface="Cambria"/>
              </a:rPr>
              <a:t>Capturas del Sistema Móvil: Pantalla Principal y Configuración</a:t>
            </a:r>
            <a:endParaRPr sz="2000">
              <a:latin typeface="Cambria"/>
              <a:ea typeface="Cambria"/>
              <a:cs typeface="Cambria"/>
              <a:sym typeface="Cambria"/>
            </a:endParaRPr>
          </a:p>
        </p:txBody>
      </p:sp>
      <p:sp>
        <p:nvSpPr>
          <p:cNvPr id="717" name="Google Shape;717;g3a5b9630aa3_8_31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718" name="Google Shape;718;g3a5b9630aa3_8_317"/>
          <p:cNvPicPr preferRelativeResize="0"/>
          <p:nvPr/>
        </p:nvPicPr>
        <p:blipFill rotWithShape="1">
          <a:blip r:embed="rId3">
            <a:alphaModFix/>
          </a:blip>
          <a:srcRect/>
          <a:stretch/>
        </p:blipFill>
        <p:spPr>
          <a:xfrm>
            <a:off x="3800188" y="2421800"/>
            <a:ext cx="2013925" cy="43566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g3a5b9630aa3_8_32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24" name="Google Shape;724;g3a5b9630aa3_8_327"/>
          <p:cNvSpPr txBox="1">
            <a:spLocks noGrp="1"/>
          </p:cNvSpPr>
          <p:nvPr>
            <p:ph type="body" idx="1"/>
          </p:nvPr>
        </p:nvSpPr>
        <p:spPr>
          <a:xfrm>
            <a:off x="581192" y="1911212"/>
            <a:ext cx="8451900" cy="510600"/>
          </a:xfrm>
          <a:prstGeom prst="rect">
            <a:avLst/>
          </a:prstGeom>
          <a:noFill/>
          <a:ln>
            <a:noFill/>
          </a:ln>
        </p:spPr>
        <p:txBody>
          <a:bodyPr spcFirstLastPara="1" wrap="square" lIns="91425" tIns="45700" rIns="91425" bIns="45700" anchor="ctr" anchorCtr="0">
            <a:normAutofit/>
          </a:bodyPr>
          <a:lstStyle/>
          <a:p>
            <a:pPr marL="306000" lvl="0" indent="-306000" algn="just" rtl="0">
              <a:lnSpc>
                <a:spcPct val="107000"/>
              </a:lnSpc>
              <a:spcBef>
                <a:spcPts val="0"/>
              </a:spcBef>
              <a:spcAft>
                <a:spcPts val="0"/>
              </a:spcAft>
              <a:buSzPts val="1840"/>
              <a:buChar char="∙"/>
            </a:pPr>
            <a:r>
              <a:rPr lang="es-ES">
                <a:latin typeface="Cambria"/>
                <a:ea typeface="Cambria"/>
                <a:cs typeface="Cambria"/>
                <a:sym typeface="Cambria"/>
              </a:rPr>
              <a:t>Capturas del Sistema Móvil: Nueva Venta - Paso 1: Cliente Validado</a:t>
            </a:r>
            <a:endParaRPr sz="2000">
              <a:latin typeface="Cambria"/>
              <a:ea typeface="Cambria"/>
              <a:cs typeface="Cambria"/>
              <a:sym typeface="Cambria"/>
            </a:endParaRPr>
          </a:p>
        </p:txBody>
      </p:sp>
      <p:sp>
        <p:nvSpPr>
          <p:cNvPr id="725" name="Google Shape;725;g3a5b9630aa3_8_32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726" name="Google Shape;726;g3a5b9630aa3_8_327"/>
          <p:cNvPicPr preferRelativeResize="0"/>
          <p:nvPr/>
        </p:nvPicPr>
        <p:blipFill rotWithShape="1">
          <a:blip r:embed="rId3">
            <a:alphaModFix/>
          </a:blip>
          <a:srcRect/>
          <a:stretch/>
        </p:blipFill>
        <p:spPr>
          <a:xfrm>
            <a:off x="3795625" y="2421800"/>
            <a:ext cx="2023050" cy="439022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g3a5b9630aa3_8_33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32" name="Google Shape;732;g3a5b9630aa3_8_337"/>
          <p:cNvSpPr txBox="1">
            <a:spLocks noGrp="1"/>
          </p:cNvSpPr>
          <p:nvPr>
            <p:ph type="body" idx="1"/>
          </p:nvPr>
        </p:nvSpPr>
        <p:spPr>
          <a:xfrm>
            <a:off x="581192" y="1911212"/>
            <a:ext cx="8451900" cy="510600"/>
          </a:xfrm>
          <a:prstGeom prst="rect">
            <a:avLst/>
          </a:prstGeom>
          <a:noFill/>
          <a:ln>
            <a:noFill/>
          </a:ln>
        </p:spPr>
        <p:txBody>
          <a:bodyPr spcFirstLastPara="1" wrap="square" lIns="91425" tIns="45700" rIns="91425" bIns="45700" anchor="ctr" anchorCtr="0">
            <a:normAutofit/>
          </a:bodyPr>
          <a:lstStyle/>
          <a:p>
            <a:pPr marL="306000" lvl="0" indent="-306000" algn="just" rtl="0">
              <a:lnSpc>
                <a:spcPct val="107000"/>
              </a:lnSpc>
              <a:spcBef>
                <a:spcPts val="0"/>
              </a:spcBef>
              <a:spcAft>
                <a:spcPts val="0"/>
              </a:spcAft>
              <a:buSzPts val="1840"/>
              <a:buChar char="∙"/>
            </a:pPr>
            <a:r>
              <a:rPr lang="es-ES">
                <a:latin typeface="Cambria"/>
                <a:ea typeface="Cambria"/>
                <a:cs typeface="Cambria"/>
                <a:sym typeface="Cambria"/>
              </a:rPr>
              <a:t>Capturas del Sistema Móvil: Nueva Venta - Paso 2: Carrito Confirmado</a:t>
            </a:r>
            <a:endParaRPr sz="2000">
              <a:latin typeface="Cambria"/>
              <a:ea typeface="Cambria"/>
              <a:cs typeface="Cambria"/>
              <a:sym typeface="Cambria"/>
            </a:endParaRPr>
          </a:p>
        </p:txBody>
      </p:sp>
      <p:sp>
        <p:nvSpPr>
          <p:cNvPr id="733" name="Google Shape;733;g3a5b9630aa3_8_33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734" name="Google Shape;734;g3a5b9630aa3_8_337"/>
          <p:cNvPicPr preferRelativeResize="0"/>
          <p:nvPr/>
        </p:nvPicPr>
        <p:blipFill rotWithShape="1">
          <a:blip r:embed="rId3">
            <a:alphaModFix/>
          </a:blip>
          <a:srcRect/>
          <a:stretch/>
        </p:blipFill>
        <p:spPr>
          <a:xfrm>
            <a:off x="3805825" y="2421800"/>
            <a:ext cx="2002650" cy="43239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g3a5b9630aa3_8_34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40" name="Google Shape;740;g3a5b9630aa3_8_347"/>
          <p:cNvSpPr txBox="1">
            <a:spLocks noGrp="1"/>
          </p:cNvSpPr>
          <p:nvPr>
            <p:ph type="body" idx="1"/>
          </p:nvPr>
        </p:nvSpPr>
        <p:spPr>
          <a:xfrm>
            <a:off x="581192" y="1911212"/>
            <a:ext cx="8451900" cy="510600"/>
          </a:xfrm>
          <a:prstGeom prst="rect">
            <a:avLst/>
          </a:prstGeom>
          <a:noFill/>
          <a:ln>
            <a:noFill/>
          </a:ln>
        </p:spPr>
        <p:txBody>
          <a:bodyPr spcFirstLastPara="1" wrap="square" lIns="91425" tIns="45700" rIns="91425" bIns="45700" anchor="ctr" anchorCtr="0">
            <a:normAutofit/>
          </a:bodyPr>
          <a:lstStyle/>
          <a:p>
            <a:pPr marL="306000" lvl="0" indent="-306000" algn="just" rtl="0">
              <a:lnSpc>
                <a:spcPct val="107000"/>
              </a:lnSpc>
              <a:spcBef>
                <a:spcPts val="0"/>
              </a:spcBef>
              <a:spcAft>
                <a:spcPts val="0"/>
              </a:spcAft>
              <a:buSzPts val="1840"/>
              <a:buChar char="∙"/>
            </a:pPr>
            <a:r>
              <a:rPr lang="es-ES">
                <a:latin typeface="Cambria"/>
                <a:ea typeface="Cambria"/>
                <a:cs typeface="Cambria"/>
                <a:sym typeface="Cambria"/>
              </a:rPr>
              <a:t>Capturas del Sistema Móvil: Consultas Generales - Factura por Número</a:t>
            </a:r>
            <a:endParaRPr sz="2000">
              <a:latin typeface="Cambria"/>
              <a:ea typeface="Cambria"/>
              <a:cs typeface="Cambria"/>
              <a:sym typeface="Cambria"/>
            </a:endParaRPr>
          </a:p>
        </p:txBody>
      </p:sp>
      <p:sp>
        <p:nvSpPr>
          <p:cNvPr id="741" name="Google Shape;741;g3a5b9630aa3_8_34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742" name="Google Shape;742;g3a5b9630aa3_8_347"/>
          <p:cNvPicPr preferRelativeResize="0"/>
          <p:nvPr/>
        </p:nvPicPr>
        <p:blipFill rotWithShape="1">
          <a:blip r:embed="rId3">
            <a:alphaModFix/>
          </a:blip>
          <a:srcRect/>
          <a:stretch/>
        </p:blipFill>
        <p:spPr>
          <a:xfrm>
            <a:off x="3773688" y="2381250"/>
            <a:ext cx="2066925" cy="44767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g3a5b9630aa3_8_35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48" name="Google Shape;748;g3a5b9630aa3_8_357"/>
          <p:cNvSpPr txBox="1">
            <a:spLocks noGrp="1"/>
          </p:cNvSpPr>
          <p:nvPr>
            <p:ph type="body" idx="1"/>
          </p:nvPr>
        </p:nvSpPr>
        <p:spPr>
          <a:xfrm>
            <a:off x="581192" y="1911212"/>
            <a:ext cx="8451900" cy="510600"/>
          </a:xfrm>
          <a:prstGeom prst="rect">
            <a:avLst/>
          </a:prstGeom>
          <a:noFill/>
          <a:ln>
            <a:noFill/>
          </a:ln>
        </p:spPr>
        <p:txBody>
          <a:bodyPr spcFirstLastPara="1" wrap="square" lIns="91425" tIns="45700" rIns="91425" bIns="45700" anchor="ctr" anchorCtr="0">
            <a:normAutofit/>
          </a:bodyPr>
          <a:lstStyle/>
          <a:p>
            <a:pPr marL="306000" lvl="0" indent="-306000" algn="just" rtl="0">
              <a:lnSpc>
                <a:spcPct val="107000"/>
              </a:lnSpc>
              <a:spcBef>
                <a:spcPts val="0"/>
              </a:spcBef>
              <a:spcAft>
                <a:spcPts val="0"/>
              </a:spcAft>
              <a:buSzPts val="1840"/>
              <a:buChar char="∙"/>
            </a:pPr>
            <a:r>
              <a:rPr lang="es-ES">
                <a:latin typeface="Cambria"/>
                <a:ea typeface="Cambria"/>
                <a:cs typeface="Cambria"/>
                <a:sym typeface="Cambria"/>
              </a:rPr>
              <a:t>Capturas del Sistema Móvil: Gestión de Productos Móvil</a:t>
            </a:r>
            <a:endParaRPr sz="2000">
              <a:latin typeface="Cambria"/>
              <a:ea typeface="Cambria"/>
              <a:cs typeface="Cambria"/>
              <a:sym typeface="Cambria"/>
            </a:endParaRPr>
          </a:p>
        </p:txBody>
      </p:sp>
      <p:sp>
        <p:nvSpPr>
          <p:cNvPr id="749" name="Google Shape;749;g3a5b9630aa3_8_35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750" name="Google Shape;750;g3a5b9630aa3_8_357"/>
          <p:cNvPicPr preferRelativeResize="0"/>
          <p:nvPr/>
        </p:nvPicPr>
        <p:blipFill rotWithShape="1">
          <a:blip r:embed="rId3">
            <a:alphaModFix/>
          </a:blip>
          <a:srcRect/>
          <a:stretch/>
        </p:blipFill>
        <p:spPr>
          <a:xfrm>
            <a:off x="3800100" y="2421800"/>
            <a:ext cx="2014100" cy="436387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3a5b9630aa3_8_36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56" name="Google Shape;756;g3a5b9630aa3_8_367"/>
          <p:cNvSpPr txBox="1">
            <a:spLocks noGrp="1"/>
          </p:cNvSpPr>
          <p:nvPr>
            <p:ph type="body" idx="1"/>
          </p:nvPr>
        </p:nvSpPr>
        <p:spPr>
          <a:xfrm>
            <a:off x="581192" y="1911212"/>
            <a:ext cx="8451900" cy="510600"/>
          </a:xfrm>
          <a:prstGeom prst="rect">
            <a:avLst/>
          </a:prstGeom>
          <a:noFill/>
          <a:ln>
            <a:noFill/>
          </a:ln>
        </p:spPr>
        <p:txBody>
          <a:bodyPr spcFirstLastPara="1" wrap="square" lIns="91425" tIns="45700" rIns="91425" bIns="45700" anchor="ctr" anchorCtr="0">
            <a:normAutofit/>
          </a:bodyPr>
          <a:lstStyle/>
          <a:p>
            <a:pPr marL="306000" lvl="0" indent="-306000" algn="just" rtl="0">
              <a:lnSpc>
                <a:spcPct val="107000"/>
              </a:lnSpc>
              <a:spcBef>
                <a:spcPts val="0"/>
              </a:spcBef>
              <a:spcAft>
                <a:spcPts val="0"/>
              </a:spcAft>
              <a:buSzPts val="1840"/>
              <a:buChar char="∙"/>
            </a:pPr>
            <a:r>
              <a:rPr lang="es-ES">
                <a:latin typeface="Cambria"/>
                <a:ea typeface="Cambria"/>
                <a:cs typeface="Cambria"/>
                <a:sym typeface="Cambria"/>
              </a:rPr>
              <a:t>Capturas del Sistema Móvil: Lista de Productos en Tarjetas</a:t>
            </a:r>
            <a:endParaRPr sz="2000">
              <a:latin typeface="Cambria"/>
              <a:ea typeface="Cambria"/>
              <a:cs typeface="Cambria"/>
              <a:sym typeface="Cambria"/>
            </a:endParaRPr>
          </a:p>
        </p:txBody>
      </p:sp>
      <p:sp>
        <p:nvSpPr>
          <p:cNvPr id="757" name="Google Shape;757;g3a5b9630aa3_8_36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758" name="Google Shape;758;g3a5b9630aa3_8_367"/>
          <p:cNvPicPr preferRelativeResize="0"/>
          <p:nvPr/>
        </p:nvPicPr>
        <p:blipFill rotWithShape="1">
          <a:blip r:embed="rId3">
            <a:alphaModFix/>
          </a:blip>
          <a:srcRect/>
          <a:stretch/>
        </p:blipFill>
        <p:spPr>
          <a:xfrm>
            <a:off x="3804463" y="2421800"/>
            <a:ext cx="2005375" cy="43449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g3a5b9630aa3_8_37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64" name="Google Shape;764;g3a5b9630aa3_8_377"/>
          <p:cNvSpPr txBox="1">
            <a:spLocks noGrp="1"/>
          </p:cNvSpPr>
          <p:nvPr>
            <p:ph type="body" idx="1"/>
          </p:nvPr>
        </p:nvSpPr>
        <p:spPr>
          <a:xfrm>
            <a:off x="581192" y="1911212"/>
            <a:ext cx="8451900" cy="510600"/>
          </a:xfrm>
          <a:prstGeom prst="rect">
            <a:avLst/>
          </a:prstGeom>
          <a:noFill/>
          <a:ln>
            <a:noFill/>
          </a:ln>
        </p:spPr>
        <p:txBody>
          <a:bodyPr spcFirstLastPara="1" wrap="square" lIns="91425" tIns="45700" rIns="91425" bIns="45700" anchor="ctr" anchorCtr="0">
            <a:normAutofit/>
          </a:bodyPr>
          <a:lstStyle/>
          <a:p>
            <a:pPr marL="306000" lvl="0" indent="-306000" algn="just" rtl="0">
              <a:lnSpc>
                <a:spcPct val="107000"/>
              </a:lnSpc>
              <a:spcBef>
                <a:spcPts val="0"/>
              </a:spcBef>
              <a:spcAft>
                <a:spcPts val="0"/>
              </a:spcAft>
              <a:buSzPts val="1840"/>
              <a:buChar char="∙"/>
            </a:pPr>
            <a:r>
              <a:rPr lang="es-ES">
                <a:latin typeface="Cambria"/>
                <a:ea typeface="Cambria"/>
                <a:cs typeface="Cambria"/>
                <a:sym typeface="Cambria"/>
              </a:rPr>
              <a:t>Capturas del Sistema Móvil: Consultas - Facturas por Cliente</a:t>
            </a:r>
            <a:endParaRPr sz="2000">
              <a:latin typeface="Cambria"/>
              <a:ea typeface="Cambria"/>
              <a:cs typeface="Cambria"/>
              <a:sym typeface="Cambria"/>
            </a:endParaRPr>
          </a:p>
        </p:txBody>
      </p:sp>
      <p:sp>
        <p:nvSpPr>
          <p:cNvPr id="765" name="Google Shape;765;g3a5b9630aa3_8_37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766" name="Google Shape;766;g3a5b9630aa3_8_377"/>
          <p:cNvPicPr preferRelativeResize="0"/>
          <p:nvPr/>
        </p:nvPicPr>
        <p:blipFill rotWithShape="1">
          <a:blip r:embed="rId3">
            <a:alphaModFix/>
          </a:blip>
          <a:srcRect/>
          <a:stretch/>
        </p:blipFill>
        <p:spPr>
          <a:xfrm>
            <a:off x="3797513" y="2421800"/>
            <a:ext cx="2019275" cy="436680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g3a5b9630aa3_8_38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72" name="Google Shape;772;g3a5b9630aa3_8_387"/>
          <p:cNvSpPr txBox="1">
            <a:spLocks noGrp="1"/>
          </p:cNvSpPr>
          <p:nvPr>
            <p:ph type="body" idx="1"/>
          </p:nvPr>
        </p:nvSpPr>
        <p:spPr>
          <a:xfrm>
            <a:off x="581192" y="1911212"/>
            <a:ext cx="8451900" cy="510600"/>
          </a:xfrm>
          <a:prstGeom prst="rect">
            <a:avLst/>
          </a:prstGeom>
          <a:noFill/>
          <a:ln>
            <a:noFill/>
          </a:ln>
        </p:spPr>
        <p:txBody>
          <a:bodyPr spcFirstLastPara="1" wrap="square" lIns="91425" tIns="45700" rIns="91425" bIns="45700" anchor="ctr" anchorCtr="0">
            <a:normAutofit/>
          </a:bodyPr>
          <a:lstStyle/>
          <a:p>
            <a:pPr marL="306000" lvl="0" indent="-306000" algn="just" rtl="0">
              <a:lnSpc>
                <a:spcPct val="107000"/>
              </a:lnSpc>
              <a:spcBef>
                <a:spcPts val="0"/>
              </a:spcBef>
              <a:spcAft>
                <a:spcPts val="0"/>
              </a:spcAft>
              <a:buSzPts val="1840"/>
              <a:buChar char="∙"/>
            </a:pPr>
            <a:r>
              <a:rPr lang="es-ES">
                <a:latin typeface="Cambria"/>
                <a:ea typeface="Cambria"/>
                <a:cs typeface="Cambria"/>
                <a:sym typeface="Cambria"/>
              </a:rPr>
              <a:t>Capturas del Sistema Móvil: Nueva Venta - Paso 3: Venta Completada con Crédito</a:t>
            </a:r>
            <a:endParaRPr sz="2000">
              <a:latin typeface="Cambria"/>
              <a:ea typeface="Cambria"/>
              <a:cs typeface="Cambria"/>
              <a:sym typeface="Cambria"/>
            </a:endParaRPr>
          </a:p>
        </p:txBody>
      </p:sp>
      <p:sp>
        <p:nvSpPr>
          <p:cNvPr id="773" name="Google Shape;773;g3a5b9630aa3_8_38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774" name="Google Shape;774;g3a5b9630aa3_8_387"/>
          <p:cNvPicPr preferRelativeResize="0"/>
          <p:nvPr/>
        </p:nvPicPr>
        <p:blipFill rotWithShape="1">
          <a:blip r:embed="rId3">
            <a:alphaModFix/>
          </a:blip>
          <a:srcRect/>
          <a:stretch/>
        </p:blipFill>
        <p:spPr>
          <a:xfrm>
            <a:off x="3814738" y="2421800"/>
            <a:ext cx="1984825" cy="42935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3a5b9630aa3_8_39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80" name="Google Shape;780;g3a5b9630aa3_8_397"/>
          <p:cNvSpPr txBox="1">
            <a:spLocks noGrp="1"/>
          </p:cNvSpPr>
          <p:nvPr>
            <p:ph type="body" idx="1"/>
          </p:nvPr>
        </p:nvSpPr>
        <p:spPr>
          <a:xfrm>
            <a:off x="581192" y="1911212"/>
            <a:ext cx="8451900" cy="510600"/>
          </a:xfrm>
          <a:prstGeom prst="rect">
            <a:avLst/>
          </a:prstGeom>
          <a:noFill/>
          <a:ln>
            <a:noFill/>
          </a:ln>
        </p:spPr>
        <p:txBody>
          <a:bodyPr spcFirstLastPara="1" wrap="square" lIns="91425" tIns="45700" rIns="91425" bIns="45700" anchor="ctr" anchorCtr="0">
            <a:normAutofit/>
          </a:bodyPr>
          <a:lstStyle/>
          <a:p>
            <a:pPr marL="306000" lvl="0" indent="-306000" algn="just" rtl="0">
              <a:lnSpc>
                <a:spcPct val="107000"/>
              </a:lnSpc>
              <a:spcBef>
                <a:spcPts val="0"/>
              </a:spcBef>
              <a:spcAft>
                <a:spcPts val="0"/>
              </a:spcAft>
              <a:buSzPts val="1840"/>
              <a:buChar char="∙"/>
            </a:pPr>
            <a:r>
              <a:rPr lang="es-ES">
                <a:latin typeface="Cambria"/>
                <a:ea typeface="Cambria"/>
                <a:cs typeface="Cambria"/>
                <a:sym typeface="Cambria"/>
              </a:rPr>
              <a:t>Capturas del Sistema Móvil: Detalles de Compra y Totales</a:t>
            </a:r>
            <a:endParaRPr sz="2000">
              <a:latin typeface="Cambria"/>
              <a:ea typeface="Cambria"/>
              <a:cs typeface="Cambria"/>
              <a:sym typeface="Cambria"/>
            </a:endParaRPr>
          </a:p>
        </p:txBody>
      </p:sp>
      <p:sp>
        <p:nvSpPr>
          <p:cNvPr id="781" name="Google Shape;781;g3a5b9630aa3_8_39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782" name="Google Shape;782;g3a5b9630aa3_8_397"/>
          <p:cNvPicPr preferRelativeResize="0"/>
          <p:nvPr/>
        </p:nvPicPr>
        <p:blipFill rotWithShape="1">
          <a:blip r:embed="rId3">
            <a:alphaModFix/>
          </a:blip>
          <a:srcRect/>
          <a:stretch/>
        </p:blipFill>
        <p:spPr>
          <a:xfrm>
            <a:off x="3821300" y="2421800"/>
            <a:ext cx="1971675" cy="427672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g3a5b9630aa3_8_40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88" name="Google Shape;788;g3a5b9630aa3_8_407"/>
          <p:cNvSpPr txBox="1">
            <a:spLocks noGrp="1"/>
          </p:cNvSpPr>
          <p:nvPr>
            <p:ph type="body" idx="1"/>
          </p:nvPr>
        </p:nvSpPr>
        <p:spPr>
          <a:xfrm>
            <a:off x="581192" y="1911212"/>
            <a:ext cx="8451900" cy="510600"/>
          </a:xfrm>
          <a:prstGeom prst="rect">
            <a:avLst/>
          </a:prstGeom>
          <a:noFill/>
          <a:ln>
            <a:noFill/>
          </a:ln>
        </p:spPr>
        <p:txBody>
          <a:bodyPr spcFirstLastPara="1" wrap="square" lIns="91425" tIns="45700" rIns="91425" bIns="45700" anchor="ctr" anchorCtr="0">
            <a:normAutofit/>
          </a:bodyPr>
          <a:lstStyle/>
          <a:p>
            <a:pPr marL="306000" lvl="0" indent="-306000" algn="just" rtl="0">
              <a:lnSpc>
                <a:spcPct val="107000"/>
              </a:lnSpc>
              <a:spcBef>
                <a:spcPts val="0"/>
              </a:spcBef>
              <a:spcAft>
                <a:spcPts val="0"/>
              </a:spcAft>
              <a:buSzPts val="1840"/>
              <a:buChar char="∙"/>
            </a:pPr>
            <a:r>
              <a:rPr lang="es-ES">
                <a:latin typeface="Cambria"/>
                <a:ea typeface="Cambria"/>
                <a:cs typeface="Cambria"/>
                <a:sym typeface="Cambria"/>
              </a:rPr>
              <a:t>Capturas del Sistema Móvil: Consulta de Tabla de Amortización Móvil</a:t>
            </a:r>
            <a:endParaRPr sz="2000">
              <a:latin typeface="Cambria"/>
              <a:ea typeface="Cambria"/>
              <a:cs typeface="Cambria"/>
              <a:sym typeface="Cambria"/>
            </a:endParaRPr>
          </a:p>
        </p:txBody>
      </p:sp>
      <p:sp>
        <p:nvSpPr>
          <p:cNvPr id="789" name="Google Shape;789;g3a5b9630aa3_8_40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MÓVIL</a:t>
            </a:r>
            <a:endParaRPr sz="1200" b="1" i="0" u="none" strike="noStrike" cap="none">
              <a:solidFill>
                <a:srgbClr val="FFFF00"/>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790" name="Google Shape;790;g3a5b9630aa3_8_407"/>
          <p:cNvPicPr preferRelativeResize="0"/>
          <p:nvPr/>
        </p:nvPicPr>
        <p:blipFill rotWithShape="1">
          <a:blip r:embed="rId3">
            <a:alphaModFix/>
          </a:blip>
          <a:srcRect/>
          <a:stretch/>
        </p:blipFill>
        <p:spPr>
          <a:xfrm>
            <a:off x="3783138" y="2375125"/>
            <a:ext cx="2048025" cy="443580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6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796" name="Google Shape;796;p68"/>
          <p:cNvSpPr txBox="1">
            <a:spLocks noGrp="1"/>
          </p:cNvSpPr>
          <p:nvPr>
            <p:ph type="body" idx="1"/>
          </p:nvPr>
        </p:nvSpPr>
        <p:spPr>
          <a:xfrm>
            <a:off x="581192" y="1911212"/>
            <a:ext cx="8451972" cy="510593"/>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840"/>
              <a:buFont typeface="Cambria"/>
              <a:buChar char="∙"/>
            </a:pPr>
            <a:r>
              <a:rPr lang="es-ES" sz="2000">
                <a:latin typeface="Cambria"/>
                <a:ea typeface="Cambria"/>
                <a:cs typeface="Cambria"/>
                <a:sym typeface="Cambria"/>
              </a:rPr>
              <a:t>Diagrama Arquitectura de Software</a:t>
            </a:r>
            <a:endParaRPr sz="2000">
              <a:latin typeface="Cambria"/>
              <a:ea typeface="Cambria"/>
              <a:cs typeface="Cambria"/>
              <a:sym typeface="Cambria"/>
            </a:endParaRPr>
          </a:p>
        </p:txBody>
      </p:sp>
      <p:sp>
        <p:nvSpPr>
          <p:cNvPr id="797" name="Google Shape;797;p6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DESARROLLO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DIAGRAMAS</a:t>
            </a:r>
            <a:endParaRPr sz="1400" b="0" i="0" u="none" strike="noStrike" cap="none">
              <a:solidFill>
                <a:srgbClr val="FFFF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798" name="Google Shape;798;p68"/>
          <p:cNvPicPr preferRelativeResize="0"/>
          <p:nvPr/>
        </p:nvPicPr>
        <p:blipFill>
          <a:blip r:embed="rId3">
            <a:alphaModFix/>
          </a:blip>
          <a:stretch>
            <a:fillRect/>
          </a:stretch>
        </p:blipFill>
        <p:spPr>
          <a:xfrm>
            <a:off x="1395600" y="2617050"/>
            <a:ext cx="6823175" cy="393505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69"/>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804" name="Google Shape;804;p69"/>
          <p:cNvSpPr txBox="1">
            <a:spLocks noGrp="1"/>
          </p:cNvSpPr>
          <p:nvPr>
            <p:ph type="body" idx="1"/>
          </p:nvPr>
        </p:nvSpPr>
        <p:spPr>
          <a:xfrm>
            <a:off x="581192" y="1911212"/>
            <a:ext cx="8451972" cy="510593"/>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840"/>
              <a:buFont typeface="Cambria"/>
              <a:buChar char="∙"/>
            </a:pPr>
            <a:r>
              <a:rPr lang="es-ES" sz="2000">
                <a:latin typeface="Cambria"/>
                <a:ea typeface="Cambria"/>
                <a:cs typeface="Cambria"/>
                <a:sym typeface="Cambria"/>
              </a:rPr>
              <a:t>Diagrama de Casos de Uso</a:t>
            </a:r>
            <a:endParaRPr sz="2000">
              <a:latin typeface="Cambria"/>
              <a:ea typeface="Cambria"/>
              <a:cs typeface="Cambria"/>
              <a:sym typeface="Cambria"/>
            </a:endParaRPr>
          </a:p>
        </p:txBody>
      </p:sp>
      <p:pic>
        <p:nvPicPr>
          <p:cNvPr id="805" name="Google Shape;805;p69"/>
          <p:cNvPicPr preferRelativeResize="0"/>
          <p:nvPr/>
        </p:nvPicPr>
        <p:blipFill rotWithShape="1">
          <a:blip r:embed="rId3">
            <a:alphaModFix/>
          </a:blip>
          <a:srcRect t="6407" b="6884"/>
          <a:stretch/>
        </p:blipFill>
        <p:spPr>
          <a:xfrm>
            <a:off x="871225" y="2421800"/>
            <a:ext cx="7871925" cy="4371649"/>
          </a:xfrm>
          <a:prstGeom prst="rect">
            <a:avLst/>
          </a:prstGeom>
          <a:noFill/>
          <a:ln>
            <a:noFill/>
          </a:ln>
        </p:spPr>
      </p:pic>
      <p:sp>
        <p:nvSpPr>
          <p:cNvPr id="806" name="Google Shape;806;p6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DESARROLLO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DIAGRAMAS</a:t>
            </a:r>
            <a:endParaRPr sz="1400" b="0" i="0" u="none" strike="noStrike" cap="none">
              <a:solidFill>
                <a:srgbClr val="FFFF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3a5b9630aa3_8_47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812" name="Google Shape;812;g3a5b9630aa3_8_476"/>
          <p:cNvSpPr txBox="1">
            <a:spLocks noGrp="1"/>
          </p:cNvSpPr>
          <p:nvPr>
            <p:ph type="body" idx="1"/>
          </p:nvPr>
        </p:nvSpPr>
        <p:spPr>
          <a:xfrm>
            <a:off x="581192" y="1911212"/>
            <a:ext cx="8451900" cy="510600"/>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840"/>
              <a:buFont typeface="Cambria"/>
              <a:buChar char="∙"/>
            </a:pPr>
            <a:r>
              <a:rPr lang="es-ES" sz="2000">
                <a:latin typeface="Cambria"/>
                <a:ea typeface="Cambria"/>
                <a:cs typeface="Cambria"/>
                <a:sym typeface="Cambria"/>
              </a:rPr>
              <a:t>Diagrama de Casos de Uso</a:t>
            </a:r>
            <a:endParaRPr sz="2000">
              <a:latin typeface="Cambria"/>
              <a:ea typeface="Cambria"/>
              <a:cs typeface="Cambria"/>
              <a:sym typeface="Cambria"/>
            </a:endParaRPr>
          </a:p>
        </p:txBody>
      </p:sp>
      <p:pic>
        <p:nvPicPr>
          <p:cNvPr id="813" name="Google Shape;813;g3a5b9630aa3_8_476"/>
          <p:cNvPicPr preferRelativeResize="0"/>
          <p:nvPr/>
        </p:nvPicPr>
        <p:blipFill rotWithShape="1">
          <a:blip r:embed="rId3">
            <a:alphaModFix/>
          </a:blip>
          <a:srcRect/>
          <a:stretch/>
        </p:blipFill>
        <p:spPr>
          <a:xfrm>
            <a:off x="2310513" y="2421799"/>
            <a:ext cx="4993275" cy="4370250"/>
          </a:xfrm>
          <a:prstGeom prst="rect">
            <a:avLst/>
          </a:prstGeom>
          <a:noFill/>
          <a:ln>
            <a:noFill/>
          </a:ln>
        </p:spPr>
      </p:pic>
      <p:sp>
        <p:nvSpPr>
          <p:cNvPr id="814" name="Google Shape;814;g3a5b9630aa3_8_47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DESARROLLO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DIAGRAMAS</a:t>
            </a:r>
            <a:endParaRPr sz="1400" b="0" i="0" u="none" strike="noStrike" cap="none">
              <a:solidFill>
                <a:srgbClr val="FFFF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70"/>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820" name="Google Shape;820;p70"/>
          <p:cNvSpPr txBox="1">
            <a:spLocks noGrp="1"/>
          </p:cNvSpPr>
          <p:nvPr>
            <p:ph type="body" idx="1"/>
          </p:nvPr>
        </p:nvSpPr>
        <p:spPr>
          <a:xfrm>
            <a:off x="581192" y="1911212"/>
            <a:ext cx="8451972" cy="510593"/>
          </a:xfrm>
          <a:prstGeom prst="rect">
            <a:avLst/>
          </a:prstGeom>
          <a:noFill/>
          <a:ln>
            <a:noFill/>
          </a:ln>
        </p:spPr>
        <p:txBody>
          <a:bodyPr spcFirstLastPara="1" wrap="square" lIns="91425" tIns="45700" rIns="91425" bIns="45700" anchor="ctr" anchorCtr="0">
            <a:normAutofit/>
          </a:bodyPr>
          <a:lstStyle/>
          <a:p>
            <a:pPr marL="342900" lvl="0" indent="-342900" algn="just" rtl="0">
              <a:lnSpc>
                <a:spcPct val="107000"/>
              </a:lnSpc>
              <a:spcBef>
                <a:spcPts val="0"/>
              </a:spcBef>
              <a:spcAft>
                <a:spcPts val="0"/>
              </a:spcAft>
              <a:buSzPts val="1840"/>
              <a:buFont typeface="Cambria"/>
              <a:buChar char="∙"/>
            </a:pPr>
            <a:r>
              <a:rPr lang="es-ES" sz="2000">
                <a:latin typeface="Cambria"/>
                <a:ea typeface="Cambria"/>
                <a:cs typeface="Cambria"/>
                <a:sym typeface="Cambria"/>
              </a:rPr>
              <a:t>Diagrama de Diagrama Comercializadora</a:t>
            </a:r>
            <a:endParaRPr sz="2000">
              <a:latin typeface="Cambria"/>
              <a:ea typeface="Cambria"/>
              <a:cs typeface="Cambria"/>
              <a:sym typeface="Cambria"/>
            </a:endParaRPr>
          </a:p>
        </p:txBody>
      </p:sp>
      <p:sp>
        <p:nvSpPr>
          <p:cNvPr id="821" name="Google Shape;821;p70"/>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DESARROLLO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DIAGRAMAS</a:t>
            </a:r>
            <a:endParaRPr sz="1400" b="0" i="0" u="none" strike="noStrike" cap="none">
              <a:solidFill>
                <a:srgbClr val="FFFF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pic>
        <p:nvPicPr>
          <p:cNvPr id="822" name="Google Shape;822;p70"/>
          <p:cNvPicPr preferRelativeResize="0"/>
          <p:nvPr/>
        </p:nvPicPr>
        <p:blipFill rotWithShape="1">
          <a:blip r:embed="rId3">
            <a:alphaModFix/>
          </a:blip>
          <a:srcRect/>
          <a:stretch/>
        </p:blipFill>
        <p:spPr>
          <a:xfrm>
            <a:off x="124400" y="2854124"/>
            <a:ext cx="9078898" cy="3183812"/>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7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CONCLUSIONES</a:t>
            </a:r>
            <a:endParaRPr/>
          </a:p>
        </p:txBody>
      </p:sp>
      <p:sp>
        <p:nvSpPr>
          <p:cNvPr id="828" name="Google Shape;828;p71"/>
          <p:cNvSpPr txBox="1">
            <a:spLocks noGrp="1"/>
          </p:cNvSpPr>
          <p:nvPr>
            <p:ph type="body" idx="1"/>
          </p:nvPr>
        </p:nvSpPr>
        <p:spPr>
          <a:xfrm>
            <a:off x="581192" y="2180496"/>
            <a:ext cx="8589441" cy="3678303"/>
          </a:xfrm>
          <a:prstGeom prst="rect">
            <a:avLst/>
          </a:prstGeom>
          <a:noFill/>
          <a:ln>
            <a:noFill/>
          </a:ln>
        </p:spPr>
        <p:txBody>
          <a:bodyPr spcFirstLastPara="1" wrap="square" lIns="91425" tIns="45700" rIns="91425" bIns="45700" anchor="ctr" anchorCtr="0">
            <a:normAutofit/>
          </a:bodyPr>
          <a:lstStyle/>
          <a:p>
            <a:pPr marL="306000" lvl="0" indent="-306000" algn="just" rtl="0">
              <a:lnSpc>
                <a:spcPct val="107000"/>
              </a:lnSpc>
              <a:spcBef>
                <a:spcPts val="600"/>
              </a:spcBef>
              <a:spcAft>
                <a:spcPts val="0"/>
              </a:spcAft>
              <a:buSzPts val="1656"/>
              <a:buFont typeface="Cambria"/>
              <a:buChar char="∙"/>
            </a:pPr>
            <a:r>
              <a:rPr lang="es-ES">
                <a:latin typeface="Cambria"/>
                <a:ea typeface="Cambria"/>
                <a:cs typeface="Cambria"/>
                <a:sym typeface="Cambria"/>
              </a:rPr>
              <a:t>La implementación de una arquitectura SOAP con servicios SOAP en Java permitió integrar exitosamente el sistema de comercialización de electrodomésticos con el módulo de créditos de BanQuito, automatizando el proceso de financiamiento de créditos con validaciones más claras.</a:t>
            </a:r>
            <a:endParaRPr>
              <a:latin typeface="Cambria"/>
              <a:ea typeface="Cambria"/>
              <a:cs typeface="Cambria"/>
              <a:sym typeface="Cambria"/>
            </a:endParaRPr>
          </a:p>
          <a:p>
            <a:pPr marL="306000" lvl="0" indent="0" algn="just" rtl="0">
              <a:lnSpc>
                <a:spcPct val="107000"/>
              </a:lnSpc>
              <a:spcBef>
                <a:spcPts val="600"/>
              </a:spcBef>
              <a:spcAft>
                <a:spcPts val="0"/>
              </a:spcAft>
              <a:buSzPts val="1656"/>
              <a:buNone/>
            </a:pPr>
            <a:endParaRPr>
              <a:latin typeface="Cambria"/>
              <a:ea typeface="Cambria"/>
              <a:cs typeface="Cambria"/>
              <a:sym typeface="Cambria"/>
            </a:endParaRPr>
          </a:p>
          <a:p>
            <a:pPr marL="306000" lvl="0" indent="-306000" algn="just" rtl="0">
              <a:lnSpc>
                <a:spcPct val="107000"/>
              </a:lnSpc>
              <a:spcBef>
                <a:spcPts val="600"/>
              </a:spcBef>
              <a:spcAft>
                <a:spcPts val="0"/>
              </a:spcAft>
              <a:buSzPts val="1656"/>
              <a:buFont typeface="Cambria"/>
              <a:buChar char="∙"/>
            </a:pPr>
            <a:r>
              <a:rPr lang="es-ES">
                <a:latin typeface="Cambria"/>
                <a:ea typeface="Cambria"/>
                <a:cs typeface="Cambria"/>
                <a:sym typeface="Cambria"/>
              </a:rPr>
              <a:t>El desarrollo de múltiples clientes (consola, escritorio, web y móvil) demostró la versatilidad de los servicios SOAP, permitiendo que diferentes plataformas accedan a la misma lógica de negocio de manera consistente y segura, facilitando la gestión de productos y ventas a crédito.</a:t>
            </a:r>
            <a:endParaRPr>
              <a:latin typeface="Cambria"/>
              <a:ea typeface="Cambria"/>
              <a:cs typeface="Cambria"/>
              <a:sym typeface="Cambria"/>
            </a:endParaRPr>
          </a:p>
        </p:txBody>
      </p:sp>
      <p:sp>
        <p:nvSpPr>
          <p:cNvPr id="829" name="Google Shape;829;p71"/>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DESARROLLO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CONCLUSIONES</a:t>
            </a:r>
            <a:endParaRPr sz="1200" b="1" i="0" u="none" strike="noStrike" cap="none">
              <a:solidFill>
                <a:srgbClr val="FFFF00"/>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72"/>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RECOMENDACIONES</a:t>
            </a:r>
            <a:endParaRPr/>
          </a:p>
        </p:txBody>
      </p:sp>
      <p:sp>
        <p:nvSpPr>
          <p:cNvPr id="835" name="Google Shape;835;p72"/>
          <p:cNvSpPr txBox="1">
            <a:spLocks noGrp="1"/>
          </p:cNvSpPr>
          <p:nvPr>
            <p:ph type="body" idx="1"/>
          </p:nvPr>
        </p:nvSpPr>
        <p:spPr>
          <a:xfrm>
            <a:off x="581206" y="2440053"/>
            <a:ext cx="8500800" cy="2429700"/>
          </a:xfrm>
          <a:prstGeom prst="rect">
            <a:avLst/>
          </a:prstGeom>
          <a:noFill/>
          <a:ln>
            <a:noFill/>
          </a:ln>
        </p:spPr>
        <p:txBody>
          <a:bodyPr spcFirstLastPara="1" wrap="square" lIns="91425" tIns="45700" rIns="91425" bIns="45700" anchor="ctr" anchorCtr="0">
            <a:normAutofit/>
          </a:bodyPr>
          <a:lstStyle/>
          <a:p>
            <a:pPr marL="306000" lvl="0" indent="-306000" algn="just" rtl="0">
              <a:lnSpc>
                <a:spcPct val="107000"/>
              </a:lnSpc>
              <a:spcBef>
                <a:spcPts val="600"/>
              </a:spcBef>
              <a:spcAft>
                <a:spcPts val="0"/>
              </a:spcAft>
              <a:buSzPts val="1656"/>
              <a:buFont typeface="Cambria"/>
              <a:buChar char="∙"/>
            </a:pPr>
            <a:r>
              <a:rPr lang="es-ES">
                <a:latin typeface="Cambria"/>
                <a:ea typeface="Cambria"/>
                <a:cs typeface="Cambria"/>
                <a:sym typeface="Cambria"/>
              </a:rPr>
              <a:t>Implementar medidas de seguridad adicionales como autenticación de dos factores y encriptación de datos sensibles para proteger la información financiera de los clientes y garantizar transacciones seguras en el sistema de créditos.</a:t>
            </a:r>
            <a:endParaRPr>
              <a:latin typeface="Cambria"/>
              <a:ea typeface="Cambria"/>
              <a:cs typeface="Cambria"/>
              <a:sym typeface="Cambria"/>
            </a:endParaRPr>
          </a:p>
          <a:p>
            <a:pPr marL="306000" lvl="0" indent="0" algn="just" rtl="0">
              <a:lnSpc>
                <a:spcPct val="107000"/>
              </a:lnSpc>
              <a:spcBef>
                <a:spcPts val="600"/>
              </a:spcBef>
              <a:spcAft>
                <a:spcPts val="0"/>
              </a:spcAft>
              <a:buSzPts val="1656"/>
              <a:buNone/>
            </a:pPr>
            <a:endParaRPr>
              <a:latin typeface="Cambria"/>
              <a:ea typeface="Cambria"/>
              <a:cs typeface="Cambria"/>
              <a:sym typeface="Cambria"/>
            </a:endParaRPr>
          </a:p>
          <a:p>
            <a:pPr marL="306000" lvl="0" indent="-306000" algn="just" rtl="0">
              <a:lnSpc>
                <a:spcPct val="107000"/>
              </a:lnSpc>
              <a:spcBef>
                <a:spcPts val="600"/>
              </a:spcBef>
              <a:spcAft>
                <a:spcPts val="0"/>
              </a:spcAft>
              <a:buSzPts val="1656"/>
              <a:buFont typeface="Cambria"/>
              <a:buChar char="∙"/>
            </a:pPr>
            <a:r>
              <a:rPr lang="es-ES">
                <a:latin typeface="Cambria"/>
                <a:ea typeface="Cambria"/>
                <a:cs typeface="Cambria"/>
                <a:sym typeface="Cambria"/>
              </a:rPr>
              <a:t>Desarrollar un sistema de notificaciones y seguimiento de pedidos que mantenga informados a los clientes sobre el estado de sus compras y créditos, mejorando la transparencia y confianza en el proceso de adquisición de electrodomésticos.</a:t>
            </a:r>
            <a:endParaRPr>
              <a:latin typeface="Cambria"/>
              <a:ea typeface="Cambria"/>
              <a:cs typeface="Cambria"/>
              <a:sym typeface="Cambria"/>
            </a:endParaRPr>
          </a:p>
        </p:txBody>
      </p:sp>
      <p:sp>
        <p:nvSpPr>
          <p:cNvPr id="836" name="Google Shape;836;p72"/>
          <p:cNvSpPr/>
          <p:nvPr/>
        </p:nvSpPr>
        <p:spPr>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DESARROLLO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RECOMENDACIONES</a:t>
            </a:r>
            <a:endParaRPr sz="1200" b="1" i="0" u="none" strike="noStrike" cap="none">
              <a:solidFill>
                <a:srgbClr val="FFFF00"/>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BIBLIOGRAFÍA</a:t>
            </a:r>
            <a:endParaRPr sz="1200" b="1" i="0" u="none" strike="noStrike" cap="none">
              <a:solidFill>
                <a:schemeClr val="lt1"/>
              </a:solidFill>
              <a:latin typeface="Gill Sans"/>
              <a:ea typeface="Gill Sans"/>
              <a:cs typeface="Gill Sans"/>
              <a:sym typeface="Gill San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7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BIBLIOGRAFÍA</a:t>
            </a:r>
            <a:endParaRPr/>
          </a:p>
        </p:txBody>
      </p:sp>
      <p:sp>
        <p:nvSpPr>
          <p:cNvPr id="842" name="Google Shape;842;p73"/>
          <p:cNvSpPr txBox="1">
            <a:spLocks noGrp="1"/>
          </p:cNvSpPr>
          <p:nvPr>
            <p:ph type="body" idx="1"/>
          </p:nvPr>
        </p:nvSpPr>
        <p:spPr>
          <a:xfrm>
            <a:off x="581200" y="2180501"/>
            <a:ext cx="8571600" cy="4377000"/>
          </a:xfrm>
          <a:prstGeom prst="rect">
            <a:avLst/>
          </a:prstGeom>
          <a:noFill/>
          <a:ln>
            <a:noFill/>
          </a:ln>
        </p:spPr>
        <p:txBody>
          <a:bodyPr spcFirstLastPara="1" wrap="square" lIns="91425" tIns="45700" rIns="91425" bIns="45700" anchor="ctr" anchorCtr="0">
            <a:normAutofit fontScale="92500" lnSpcReduction="20000"/>
          </a:bodyPr>
          <a:lstStyle/>
          <a:p>
            <a:pPr marL="0" marR="0" lvl="0" indent="0" algn="just" rtl="0">
              <a:lnSpc>
                <a:spcPct val="107000"/>
              </a:lnSpc>
              <a:spcBef>
                <a:spcPts val="0"/>
              </a:spcBef>
              <a:spcAft>
                <a:spcPts val="0"/>
              </a:spcAft>
              <a:buSzPct val="99459"/>
              <a:buNone/>
            </a:pPr>
            <a:r>
              <a:rPr lang="es-ES" sz="1800">
                <a:latin typeface="Cambria"/>
                <a:ea typeface="Cambria"/>
                <a:cs typeface="Cambria"/>
                <a:sym typeface="Cambria"/>
              </a:rPr>
              <a:t>[1]</a:t>
            </a:r>
            <a:r>
              <a:rPr lang="es-ES">
                <a:latin typeface="Cambria"/>
                <a:ea typeface="Cambria"/>
                <a:cs typeface="Cambria"/>
                <a:sym typeface="Cambria"/>
              </a:rPr>
              <a:t> Microsoft Java Framework Documentation. https://docs.microsoft.com/en-us/dotnet/framework/ Documentación oficial de Java Framework 4.8</a:t>
            </a:r>
            <a:endParaRPr sz="1800">
              <a:latin typeface="Cambria"/>
              <a:ea typeface="Cambria"/>
              <a:cs typeface="Cambria"/>
              <a:sym typeface="Cambria"/>
            </a:endParaRPr>
          </a:p>
          <a:p>
            <a:pPr marL="0" marR="0" lvl="0" indent="0" algn="just" rtl="0">
              <a:lnSpc>
                <a:spcPct val="107000"/>
              </a:lnSpc>
              <a:spcBef>
                <a:spcPts val="0"/>
              </a:spcBef>
              <a:spcAft>
                <a:spcPts val="0"/>
              </a:spcAft>
              <a:buSzPct val="99459"/>
              <a:buNone/>
            </a:pPr>
            <a:endParaRPr>
              <a:latin typeface="Cambria"/>
              <a:ea typeface="Cambria"/>
              <a:cs typeface="Cambria"/>
              <a:sym typeface="Cambria"/>
            </a:endParaRPr>
          </a:p>
          <a:p>
            <a:pPr marL="0" marR="0" lvl="0" indent="0" algn="just" rtl="0">
              <a:lnSpc>
                <a:spcPct val="107000"/>
              </a:lnSpc>
              <a:spcBef>
                <a:spcPts val="0"/>
              </a:spcBef>
              <a:spcAft>
                <a:spcPts val="0"/>
              </a:spcAft>
              <a:buSzPct val="99459"/>
              <a:buNone/>
            </a:pPr>
            <a:r>
              <a:rPr lang="es-ES" sz="1800">
                <a:latin typeface="Cambria"/>
                <a:ea typeface="Cambria"/>
                <a:cs typeface="Cambria"/>
                <a:sym typeface="Cambria"/>
              </a:rPr>
              <a:t>[2]</a:t>
            </a:r>
            <a:r>
              <a:rPr lang="es-ES">
                <a:latin typeface="Cambria"/>
                <a:ea typeface="Cambria"/>
                <a:cs typeface="Cambria"/>
                <a:sym typeface="Cambria"/>
              </a:rPr>
              <a:t> Windows Communication Foundation (WCF) Documentation. https://docs.microsoft.com/en-us/dotnet/framework/wcf/ Especificación y guías de WCF para servicios SOAP</a:t>
            </a:r>
            <a:endParaRPr>
              <a:latin typeface="Cambria"/>
              <a:ea typeface="Cambria"/>
              <a:cs typeface="Cambria"/>
              <a:sym typeface="Cambria"/>
            </a:endParaRPr>
          </a:p>
          <a:p>
            <a:pPr marL="0" marR="0" lvl="0" indent="0" algn="just" rtl="0">
              <a:lnSpc>
                <a:spcPct val="107000"/>
              </a:lnSpc>
              <a:spcBef>
                <a:spcPts val="0"/>
              </a:spcBef>
              <a:spcAft>
                <a:spcPts val="0"/>
              </a:spcAft>
              <a:buSzPct val="99459"/>
              <a:buNone/>
            </a:pPr>
            <a:endParaRPr>
              <a:latin typeface="Cambria"/>
              <a:ea typeface="Cambria"/>
              <a:cs typeface="Cambria"/>
              <a:sym typeface="Cambria"/>
            </a:endParaRPr>
          </a:p>
          <a:p>
            <a:pPr marL="0" marR="0" lvl="0" indent="0" algn="just" rtl="0">
              <a:lnSpc>
                <a:spcPct val="107000"/>
              </a:lnSpc>
              <a:spcBef>
                <a:spcPts val="0"/>
              </a:spcBef>
              <a:spcAft>
                <a:spcPts val="0"/>
              </a:spcAft>
              <a:buSzPct val="99459"/>
              <a:buNone/>
            </a:pPr>
            <a:r>
              <a:rPr lang="es-ES">
                <a:latin typeface="Cambria"/>
                <a:ea typeface="Cambria"/>
                <a:cs typeface="Cambria"/>
                <a:sym typeface="Cambria"/>
              </a:rPr>
              <a:t>[3] ASPJava Web Services Documentation. https://docs.microsoft.com/en-us/aspnet/web-forms/ Documentación de ASPJava Web Forms y servicios web</a:t>
            </a:r>
            <a:endParaRPr>
              <a:latin typeface="Cambria"/>
              <a:ea typeface="Cambria"/>
              <a:cs typeface="Cambria"/>
              <a:sym typeface="Cambria"/>
            </a:endParaRPr>
          </a:p>
          <a:p>
            <a:pPr marL="0" marR="0" lvl="0" indent="0" algn="just" rtl="0">
              <a:lnSpc>
                <a:spcPct val="107000"/>
              </a:lnSpc>
              <a:spcBef>
                <a:spcPts val="0"/>
              </a:spcBef>
              <a:spcAft>
                <a:spcPts val="0"/>
              </a:spcAft>
              <a:buSzPct val="99459"/>
              <a:buNone/>
            </a:pPr>
            <a:endParaRPr>
              <a:latin typeface="Cambria"/>
              <a:ea typeface="Cambria"/>
              <a:cs typeface="Cambria"/>
              <a:sym typeface="Cambria"/>
            </a:endParaRPr>
          </a:p>
          <a:p>
            <a:pPr marL="0" marR="0" lvl="0" indent="0" algn="just" rtl="0">
              <a:lnSpc>
                <a:spcPct val="107000"/>
              </a:lnSpc>
              <a:spcBef>
                <a:spcPts val="0"/>
              </a:spcBef>
              <a:spcAft>
                <a:spcPts val="0"/>
              </a:spcAft>
              <a:buSzPct val="99459"/>
              <a:buNone/>
            </a:pPr>
            <a:r>
              <a:rPr lang="es-ES">
                <a:latin typeface="Cambria"/>
                <a:ea typeface="Cambria"/>
                <a:cs typeface="Cambria"/>
                <a:sym typeface="Cambria"/>
              </a:rPr>
              <a:t>[4] Entity Framework Documentation. https://docs.microsoft.com/en-us/ef/ Documentación oficial de Entity Framework para acceso a datos</a:t>
            </a:r>
            <a:endParaRPr>
              <a:latin typeface="Cambria"/>
              <a:ea typeface="Cambria"/>
              <a:cs typeface="Cambria"/>
              <a:sym typeface="Cambria"/>
            </a:endParaRPr>
          </a:p>
          <a:p>
            <a:pPr marL="0" marR="0" lvl="0" indent="0" algn="just" rtl="0">
              <a:lnSpc>
                <a:spcPct val="107000"/>
              </a:lnSpc>
              <a:spcBef>
                <a:spcPts val="0"/>
              </a:spcBef>
              <a:spcAft>
                <a:spcPts val="0"/>
              </a:spcAft>
              <a:buSzPct val="99459"/>
              <a:buNone/>
            </a:pPr>
            <a:endParaRPr>
              <a:latin typeface="Cambria"/>
              <a:ea typeface="Cambria"/>
              <a:cs typeface="Cambria"/>
              <a:sym typeface="Cambria"/>
            </a:endParaRPr>
          </a:p>
          <a:p>
            <a:pPr marL="0" marR="0" lvl="0" indent="0" algn="just" rtl="0">
              <a:lnSpc>
                <a:spcPct val="107000"/>
              </a:lnSpc>
              <a:spcBef>
                <a:spcPts val="0"/>
              </a:spcBef>
              <a:spcAft>
                <a:spcPts val="0"/>
              </a:spcAft>
              <a:buSzPct val="99459"/>
              <a:buNone/>
            </a:pPr>
            <a:r>
              <a:rPr lang="es-ES">
                <a:latin typeface="Cambria"/>
                <a:ea typeface="Cambria"/>
                <a:cs typeface="Cambria"/>
                <a:sym typeface="Cambria"/>
              </a:rPr>
              <a:t>[5] SQL Server LocalDB Documentation. https://docs.microsoft.com/en-us/sql/database-engine/configure-windows/sql-server-express-localdb Documentación de SQL Server Express LocalDB</a:t>
            </a:r>
            <a:endParaRPr>
              <a:latin typeface="Cambria"/>
              <a:ea typeface="Cambria"/>
              <a:cs typeface="Cambria"/>
              <a:sym typeface="Cambria"/>
            </a:endParaRPr>
          </a:p>
        </p:txBody>
      </p:sp>
      <p:sp>
        <p:nvSpPr>
          <p:cNvPr id="843" name="Google Shape;843;p73"/>
          <p:cNvSpPr/>
          <p:nvPr/>
        </p:nvSpPr>
        <p:spPr>
          <a:xfrm>
            <a:off x="9377946" y="-5751"/>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5435" marR="0" lvl="0" indent="-305435" algn="l" rtl="0">
              <a:lnSpc>
                <a:spcPct val="100000"/>
              </a:lnSpc>
              <a:spcBef>
                <a:spcPts val="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MARCO TEÓRICO</a:t>
            </a:r>
            <a:endParaRPr sz="1800" b="0"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DESARROLLO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MODELO CONCEPTUAL DE LA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CREAR BASE DE DATOS</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MÓVIL</a:t>
            </a:r>
            <a:endParaRPr sz="1200" b="1" i="0" u="none" strike="noStrike" cap="none">
              <a:solidFill>
                <a:schemeClr val="lt1"/>
              </a:solidFill>
              <a:latin typeface="Gill Sans"/>
              <a:ea typeface="Gill Sans"/>
              <a:cs typeface="Gill Sans"/>
              <a:sym typeface="Gill Sans"/>
            </a:endParaRPr>
          </a:p>
          <a:p>
            <a:pPr marL="762635" marR="0" lvl="1"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DIAGRAMAS</a:t>
            </a:r>
            <a:endParaRPr sz="1400" b="0" i="0" u="none" strike="noStrike" cap="none">
              <a:solidFill>
                <a:srgbClr val="000000"/>
              </a:solidFill>
              <a:latin typeface="Arial"/>
              <a:ea typeface="Arial"/>
              <a:cs typeface="Arial"/>
              <a:sym typeface="Arial"/>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200" b="1" i="0" u="none" strike="noStrike" cap="none">
              <a:solidFill>
                <a:schemeClr val="lt1"/>
              </a:solidFill>
              <a:latin typeface="Gill Sans"/>
              <a:ea typeface="Gill Sans"/>
              <a:cs typeface="Gill Sans"/>
              <a:sym typeface="Gill Sans"/>
            </a:endParaRPr>
          </a:p>
          <a:p>
            <a:pPr marL="305435" marR="0" lvl="0" indent="-305435"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BIBLIOGRAFÍA</a:t>
            </a:r>
            <a:endParaRPr sz="1200" b="1" i="0" u="none" strike="noStrike" cap="none">
              <a:solidFill>
                <a:srgbClr val="FFFF00"/>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8050</Words>
  <Application>Microsoft Office PowerPoint</Application>
  <PresentationFormat>Panorámica</PresentationFormat>
  <Paragraphs>2031</Paragraphs>
  <Slides>89</Slides>
  <Notes>89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89</vt:i4>
      </vt:variant>
    </vt:vector>
  </HeadingPairs>
  <TitlesOfParts>
    <vt:vector size="95" baseType="lpstr">
      <vt:lpstr>Roboto</vt:lpstr>
      <vt:lpstr>Noto Sans Symbols</vt:lpstr>
      <vt:lpstr>Arial</vt:lpstr>
      <vt:lpstr>Gill Sans</vt:lpstr>
      <vt:lpstr>Cambria</vt:lpstr>
      <vt:lpstr>Dividendo</vt:lpstr>
      <vt:lpstr>ELECTRODOMÉSTICOS CON RESTFUL JAVA Y BASE DE DATOS EN LA NUBE</vt:lpstr>
      <vt:lpstr>Presentación de PowerPoint</vt:lpstr>
      <vt:lpstr>MARCO TEÓRICO</vt:lpstr>
      <vt:lpstr>MARCO TEÓRICO</vt:lpstr>
      <vt:lpstr>MARCO TEÓRICO</vt:lpstr>
      <vt:lpstr>MARCO TEÓRICO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CONCLUSIONES</vt:lpstr>
      <vt:lpstr>RECOMENDACIONES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Michael Villarruel</dc:creator>
  <cp:lastModifiedBy>Javier Gonzaga</cp:lastModifiedBy>
  <cp:revision>1</cp:revision>
  <dcterms:created xsi:type="dcterms:W3CDTF">2020-08-13T07:15:02Z</dcterms:created>
  <dcterms:modified xsi:type="dcterms:W3CDTF">2025-12-18T04:33:37Z</dcterms:modified>
</cp:coreProperties>
</file>