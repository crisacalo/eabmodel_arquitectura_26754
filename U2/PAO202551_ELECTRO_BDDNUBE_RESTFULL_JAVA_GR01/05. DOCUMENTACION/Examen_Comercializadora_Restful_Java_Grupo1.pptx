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</p:sldIdLst>
  <p:sldSz cy="6858000" cx="12192000"/>
  <p:notesSz cx="6858000" cy="9144000"/>
  <p:embeddedFontLst>
    <p:embeddedFont>
      <p:font typeface="Gill Sans"/>
      <p:regular r:id="rId94"/>
      <p:bold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6" roundtripDataSignature="AMtx7mgpaz3qgw2JwU0j2uNxBpNdtQ5P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84" Type="http://schemas.openxmlformats.org/officeDocument/2006/relationships/slide" Target="slides/slide80.xml"/><Relationship Id="rId83" Type="http://schemas.openxmlformats.org/officeDocument/2006/relationships/slide" Target="slides/slide79.xml"/><Relationship Id="rId42" Type="http://schemas.openxmlformats.org/officeDocument/2006/relationships/slide" Target="slides/slide38.xml"/><Relationship Id="rId86" Type="http://schemas.openxmlformats.org/officeDocument/2006/relationships/slide" Target="slides/slide82.xml"/><Relationship Id="rId41" Type="http://schemas.openxmlformats.org/officeDocument/2006/relationships/slide" Target="slides/slide37.xml"/><Relationship Id="rId85" Type="http://schemas.openxmlformats.org/officeDocument/2006/relationships/slide" Target="slides/slide81.xml"/><Relationship Id="rId44" Type="http://schemas.openxmlformats.org/officeDocument/2006/relationships/slide" Target="slides/slide40.xml"/><Relationship Id="rId88" Type="http://schemas.openxmlformats.org/officeDocument/2006/relationships/slide" Target="slides/slide84.xml"/><Relationship Id="rId43" Type="http://schemas.openxmlformats.org/officeDocument/2006/relationships/slide" Target="slides/slide39.xml"/><Relationship Id="rId87" Type="http://schemas.openxmlformats.org/officeDocument/2006/relationships/slide" Target="slides/slide8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89" Type="http://schemas.openxmlformats.org/officeDocument/2006/relationships/slide" Target="slides/slide85.xml"/><Relationship Id="rId80" Type="http://schemas.openxmlformats.org/officeDocument/2006/relationships/slide" Target="slides/slide76.xml"/><Relationship Id="rId82" Type="http://schemas.openxmlformats.org/officeDocument/2006/relationships/slide" Target="slides/slide78.xml"/><Relationship Id="rId81" Type="http://schemas.openxmlformats.org/officeDocument/2006/relationships/slide" Target="slides/slide7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9" Type="http://schemas.openxmlformats.org/officeDocument/2006/relationships/slide" Target="slides/slide4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73" Type="http://schemas.openxmlformats.org/officeDocument/2006/relationships/slide" Target="slides/slide69.xml"/><Relationship Id="rId72" Type="http://schemas.openxmlformats.org/officeDocument/2006/relationships/slide" Target="slides/slide68.xml"/><Relationship Id="rId31" Type="http://schemas.openxmlformats.org/officeDocument/2006/relationships/slide" Target="slides/slide27.xml"/><Relationship Id="rId75" Type="http://schemas.openxmlformats.org/officeDocument/2006/relationships/slide" Target="slides/slide71.xml"/><Relationship Id="rId30" Type="http://schemas.openxmlformats.org/officeDocument/2006/relationships/slide" Target="slides/slide26.xml"/><Relationship Id="rId74" Type="http://schemas.openxmlformats.org/officeDocument/2006/relationships/slide" Target="slides/slide70.xml"/><Relationship Id="rId33" Type="http://schemas.openxmlformats.org/officeDocument/2006/relationships/slide" Target="slides/slide29.xml"/><Relationship Id="rId77" Type="http://schemas.openxmlformats.org/officeDocument/2006/relationships/slide" Target="slides/slide73.xml"/><Relationship Id="rId32" Type="http://schemas.openxmlformats.org/officeDocument/2006/relationships/slide" Target="slides/slide28.xml"/><Relationship Id="rId76" Type="http://schemas.openxmlformats.org/officeDocument/2006/relationships/slide" Target="slides/slide72.xml"/><Relationship Id="rId35" Type="http://schemas.openxmlformats.org/officeDocument/2006/relationships/slide" Target="slides/slide31.xml"/><Relationship Id="rId79" Type="http://schemas.openxmlformats.org/officeDocument/2006/relationships/slide" Target="slides/slide75.xml"/><Relationship Id="rId34" Type="http://schemas.openxmlformats.org/officeDocument/2006/relationships/slide" Target="slides/slide30.xml"/><Relationship Id="rId78" Type="http://schemas.openxmlformats.org/officeDocument/2006/relationships/slide" Target="slides/slide74.xml"/><Relationship Id="rId71" Type="http://schemas.openxmlformats.org/officeDocument/2006/relationships/slide" Target="slides/slide67.xml"/><Relationship Id="rId70" Type="http://schemas.openxmlformats.org/officeDocument/2006/relationships/slide" Target="slides/slide66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62" Type="http://schemas.openxmlformats.org/officeDocument/2006/relationships/slide" Target="slides/slide58.xml"/><Relationship Id="rId61" Type="http://schemas.openxmlformats.org/officeDocument/2006/relationships/slide" Target="slides/slide57.xml"/><Relationship Id="rId20" Type="http://schemas.openxmlformats.org/officeDocument/2006/relationships/slide" Target="slides/slide16.xml"/><Relationship Id="rId64" Type="http://schemas.openxmlformats.org/officeDocument/2006/relationships/slide" Target="slides/slide60.xml"/><Relationship Id="rId63" Type="http://schemas.openxmlformats.org/officeDocument/2006/relationships/slide" Target="slides/slide59.xml"/><Relationship Id="rId22" Type="http://schemas.openxmlformats.org/officeDocument/2006/relationships/slide" Target="slides/slide18.xml"/><Relationship Id="rId66" Type="http://schemas.openxmlformats.org/officeDocument/2006/relationships/slide" Target="slides/slide62.xml"/><Relationship Id="rId21" Type="http://schemas.openxmlformats.org/officeDocument/2006/relationships/slide" Target="slides/slide17.xml"/><Relationship Id="rId65" Type="http://schemas.openxmlformats.org/officeDocument/2006/relationships/slide" Target="slides/slide61.xml"/><Relationship Id="rId24" Type="http://schemas.openxmlformats.org/officeDocument/2006/relationships/slide" Target="slides/slide20.xml"/><Relationship Id="rId68" Type="http://schemas.openxmlformats.org/officeDocument/2006/relationships/slide" Target="slides/slide64.xml"/><Relationship Id="rId23" Type="http://schemas.openxmlformats.org/officeDocument/2006/relationships/slide" Target="slides/slide19.xml"/><Relationship Id="rId67" Type="http://schemas.openxmlformats.org/officeDocument/2006/relationships/slide" Target="slides/slide63.xml"/><Relationship Id="rId60" Type="http://schemas.openxmlformats.org/officeDocument/2006/relationships/slide" Target="slides/slide56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69" Type="http://schemas.openxmlformats.org/officeDocument/2006/relationships/slide" Target="slides/slide6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9" Type="http://schemas.openxmlformats.org/officeDocument/2006/relationships/slide" Target="slides/slide25.xml"/><Relationship Id="rId51" Type="http://schemas.openxmlformats.org/officeDocument/2006/relationships/slide" Target="slides/slide47.xml"/><Relationship Id="rId95" Type="http://schemas.openxmlformats.org/officeDocument/2006/relationships/font" Target="fonts/GillSans-bold.fntdata"/><Relationship Id="rId50" Type="http://schemas.openxmlformats.org/officeDocument/2006/relationships/slide" Target="slides/slide46.xml"/><Relationship Id="rId94" Type="http://schemas.openxmlformats.org/officeDocument/2006/relationships/font" Target="fonts/GillSans-regular.fntdata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96" Type="http://customschemas.google.com/relationships/presentationmetadata" Target="metadata"/><Relationship Id="rId11" Type="http://schemas.openxmlformats.org/officeDocument/2006/relationships/slide" Target="slides/slide7.xml"/><Relationship Id="rId55" Type="http://schemas.openxmlformats.org/officeDocument/2006/relationships/slide" Target="slides/slide51.xml"/><Relationship Id="rId10" Type="http://schemas.openxmlformats.org/officeDocument/2006/relationships/slide" Target="slides/slide6.xml"/><Relationship Id="rId54" Type="http://schemas.openxmlformats.org/officeDocument/2006/relationships/slide" Target="slides/slide50.xml"/><Relationship Id="rId13" Type="http://schemas.openxmlformats.org/officeDocument/2006/relationships/slide" Target="slides/slide9.xml"/><Relationship Id="rId57" Type="http://schemas.openxmlformats.org/officeDocument/2006/relationships/slide" Target="slides/slide53.xml"/><Relationship Id="rId12" Type="http://schemas.openxmlformats.org/officeDocument/2006/relationships/slide" Target="slides/slide8.xml"/><Relationship Id="rId56" Type="http://schemas.openxmlformats.org/officeDocument/2006/relationships/slide" Target="slides/slide52.xml"/><Relationship Id="rId91" Type="http://schemas.openxmlformats.org/officeDocument/2006/relationships/slide" Target="slides/slide87.xml"/><Relationship Id="rId90" Type="http://schemas.openxmlformats.org/officeDocument/2006/relationships/slide" Target="slides/slide86.xml"/><Relationship Id="rId93" Type="http://schemas.openxmlformats.org/officeDocument/2006/relationships/slide" Target="slides/slide89.xml"/><Relationship Id="rId92" Type="http://schemas.openxmlformats.org/officeDocument/2006/relationships/slide" Target="slides/slide88.xml"/><Relationship Id="rId15" Type="http://schemas.openxmlformats.org/officeDocument/2006/relationships/slide" Target="slides/slide11.xml"/><Relationship Id="rId59" Type="http://schemas.openxmlformats.org/officeDocument/2006/relationships/slide" Target="slides/slide55.xml"/><Relationship Id="rId14" Type="http://schemas.openxmlformats.org/officeDocument/2006/relationships/slide" Target="slides/slide10.xml"/><Relationship Id="rId58" Type="http://schemas.openxmlformats.org/officeDocument/2006/relationships/slide" Target="slides/slide5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" name="Google Shape;9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5b9630aa3_8_4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g3a5b9630aa3_8_4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a5b9630aa3_7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g3a5b9630aa3_7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5b9630aa3_7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3a5b9630aa3_7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a5b9630aa3_8_4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0" name="Google Shape;140;g3a5b9630aa3_8_46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2" name="Google Shape;17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2" name="Google Shape;18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0" name="Google Shape;20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8" name="Google Shape;22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7" name="Google Shape;23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5" name="Google Shape;255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4" name="Google Shape;264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5" name="Google Shape;27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4" name="Google Shape;284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3" name="Google Shape;293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2" name="Google Shape;302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1" name="Google Shape;311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0" name="Google Shape;320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a5b9630aa3_8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8" name="Google Shape;338;g3a5b9630aa3_8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5b9630aa3_8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7" name="Google Shape;347;g3a5b9630aa3_8_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a5b9630aa3_8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6" name="Google Shape;356;g3a5b9630aa3_8_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a5b9630aa3_8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5" name="Google Shape;365;g3a5b9630aa3_8_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5b9630aa3_8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4" name="Google Shape;374;g3a5b9630aa3_8_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a5b9630aa3_8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3" name="Google Shape;383;g3a5b9630aa3_8_8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5b9630aa3_8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g3a5b9630aa3_8_9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5b9630aa3_8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1" name="Google Shape;401;g3a5b9630aa3_8_9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a5b9630aa3_8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0" name="Google Shape;410;g3a5b9630aa3_8_1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a5b9630aa3_8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9" name="Google Shape;419;g3a5b9630aa3_8_1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a5b9630aa3_8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8" name="Google Shape;428;g3a5b9630aa3_8_1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a5b9630aa3_8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7" name="Google Shape;437;g3a5b9630aa3_8_1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5" name="Google Shape;445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4" name="Google Shape;454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3" name="Google Shape;463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2" name="Google Shape;472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1" name="Google Shape;481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0" name="Google Shape;490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5b9630aa3_8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9" name="Google Shape;499;g3a5b9630aa3_8_29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a5b9630aa3_8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7" name="Google Shape;507;g3a5b9630aa3_8_15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a5b9630aa3_8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6" name="Google Shape;516;g3a5b9630aa3_8_1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a5b9630aa3_8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5" name="Google Shape;525;g3a5b9630aa3_8_1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a5b9630aa3_8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4" name="Google Shape;534;g3a5b9630aa3_8_1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a5b9630aa3_8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3" name="Google Shape;543;g3a5b9630aa3_8_1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a5b9630aa3_8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2" name="Google Shape;552;g3a5b9630aa3_8_1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0" name="Google Shape;560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8" name="Google Shape;568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6" name="Google Shape;576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5b9630aa3_8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4" name="Google Shape;584;g3a5b9630aa3_8_20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a5b9630aa3_8_2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2" name="Google Shape;592;g3a5b9630aa3_8_2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a5b9630aa3_8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0" name="Google Shape;600;g3a5b9630aa3_8_2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5b9630aa3_8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8" name="Google Shape;608;g3a5b9630aa3_8_2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a5b9630aa3_8_2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16" name="Google Shape;616;g3a5b9630aa3_8_28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a5b9630aa3_8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4" name="Google Shape;624;g3a5b9630aa3_8_2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5b9630aa3_8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32" name="Google Shape;632;g3a5b9630aa3_8_2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3a5b9630aa3_8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40" name="Google Shape;640;g3a5b9630aa3_8_24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3a5b9630aa3_8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48" name="Google Shape;648;g3a5b9630aa3_8_2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5b9630aa3_8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6" name="Google Shape;656;g3a5b9630aa3_8_2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a5b9630aa3_8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64" name="Google Shape;664;g3a5b9630aa3_8_2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2" name="Google Shape;672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1" name="Google Shape;681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9" name="Google Shape;689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7" name="Google Shape;697;p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05" name="Google Shape;705;p6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a5b9630aa3_8_3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13" name="Google Shape;713;g3a5b9630aa3_8_3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3a5b9630aa3_8_3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1" name="Google Shape;721;g3a5b9630aa3_8_3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a5b9630aa3_8_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9" name="Google Shape;729;g3a5b9630aa3_8_3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a5b9630aa3_8_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37" name="Google Shape;737;g3a5b9630aa3_8_3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a5b9630aa3_8_3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45" name="Google Shape;745;g3a5b9630aa3_8_3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a5b9630aa3_8_3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53" name="Google Shape;753;g3a5b9630aa3_8_36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3a5b9630aa3_8_3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61" name="Google Shape;761;g3a5b9630aa3_8_3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3a5b9630aa3_8_3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69" name="Google Shape;769;g3a5b9630aa3_8_3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a5b9630aa3_8_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77" name="Google Shape;777;g3a5b9630aa3_8_39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a5b9630aa3_8_4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5" name="Google Shape;785;g3a5b9630aa3_8_40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93" name="Google Shape;793;p6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1" name="Google Shape;801;p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g3a5b9630aa3_8_4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9" name="Google Shape;809;g3a5b9630aa3_8_47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17" name="Google Shape;817;p7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5" name="Google Shape;825;p7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32" name="Google Shape;832;p7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39" name="Google Shape;839;p7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7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75"/>
          <p:cNvSpPr txBox="1"/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5"/>
          <p:cNvSpPr txBox="1"/>
          <p:nvPr>
            <p:ph idx="1" type="subTitle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75"/>
          <p:cNvSpPr txBox="1"/>
          <p:nvPr>
            <p:ph idx="10" type="dt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5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75"/>
          <p:cNvSpPr txBox="1"/>
          <p:nvPr>
            <p:ph idx="12" type="sldNum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76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76"/>
          <p:cNvSpPr txBox="1"/>
          <p:nvPr>
            <p:ph idx="1" type="body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3756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indent="-333756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indent="-333756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indent="-333756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indent="-333756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indent="-333756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indent="-333756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indent="-333756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indent="-333756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25" name="Google Shape;25;p76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6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76"/>
          <p:cNvSpPr txBox="1"/>
          <p:nvPr>
            <p:ph idx="12" type="sldNum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77"/>
          <p:cNvSpPr txBox="1"/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b="0" sz="360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7"/>
          <p:cNvSpPr txBox="1"/>
          <p:nvPr>
            <p:ph idx="1" type="body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77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77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77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78"/>
          <p:cNvSpPr txBox="1"/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8"/>
          <p:cNvSpPr txBox="1"/>
          <p:nvPr>
            <p:ph idx="1" type="body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3756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indent="-333756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indent="-333756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indent="-333756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indent="-333756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indent="-333756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indent="-333756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indent="-333756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indent="-333756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39" name="Google Shape;39;p78"/>
          <p:cNvSpPr txBox="1"/>
          <p:nvPr>
            <p:ph idx="2" type="body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3756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indent="-333756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indent="-333756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indent="-333756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indent="-333756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indent="-333756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indent="-333756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indent="-333756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indent="-333756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40" name="Google Shape;40;p78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78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8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79"/>
          <p:cNvSpPr txBox="1"/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9"/>
          <p:cNvSpPr txBox="1"/>
          <p:nvPr>
            <p:ph idx="1" type="body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b="0" sz="2200">
                <a:solidFill>
                  <a:schemeClr val="accent2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b="1" sz="1600"/>
            </a:lvl9pPr>
          </a:lstStyle>
          <a:p/>
        </p:txBody>
      </p:sp>
      <p:sp>
        <p:nvSpPr>
          <p:cNvPr id="47" name="Google Shape;47;p79"/>
          <p:cNvSpPr txBox="1"/>
          <p:nvPr>
            <p:ph idx="2" type="body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3756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indent="-333756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indent="-333756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indent="-333756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indent="-333756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indent="-333756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indent="-333756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indent="-333756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indent="-333756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48" name="Google Shape;48;p79"/>
          <p:cNvSpPr txBox="1"/>
          <p:nvPr>
            <p:ph idx="3" type="body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b="0" sz="2200">
                <a:solidFill>
                  <a:schemeClr val="accent2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b="1" sz="1600"/>
            </a:lvl9pPr>
          </a:lstStyle>
          <a:p/>
        </p:txBody>
      </p:sp>
      <p:sp>
        <p:nvSpPr>
          <p:cNvPr id="49" name="Google Shape;49;p79"/>
          <p:cNvSpPr txBox="1"/>
          <p:nvPr>
            <p:ph idx="4" type="body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3756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indent="-333756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indent="-333756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indent="-333756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indent="-333756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indent="-333756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indent="-333756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indent="-333756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indent="-333756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50" name="Google Shape;50;p79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9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9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0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0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0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8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80"/>
          <p:cNvSpPr txBox="1"/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1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1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1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82"/>
          <p:cNvSpPr txBox="1"/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b="0" sz="200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82"/>
          <p:cNvSpPr txBox="1"/>
          <p:nvPr>
            <p:ph idx="1" type="body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544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indent="-333756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indent="-322072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indent="-310388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indent="-310388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indent="-310388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indent="-310388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indent="-310388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indent="-310388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7" name="Google Shape;67;p82"/>
          <p:cNvSpPr txBox="1"/>
          <p:nvPr>
            <p:ph idx="2" type="body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/>
        </p:txBody>
      </p:sp>
      <p:sp>
        <p:nvSpPr>
          <p:cNvPr id="68" name="Google Shape;68;p82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82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82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3"/>
          <p:cNvSpPr txBox="1"/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b="0" sz="2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83"/>
          <p:cNvSpPr/>
          <p:nvPr>
            <p:ph idx="2" type="pic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83"/>
          <p:cNvSpPr txBox="1"/>
          <p:nvPr>
            <p:ph idx="1" type="body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/>
        </p:txBody>
      </p:sp>
      <p:sp>
        <p:nvSpPr>
          <p:cNvPr id="75" name="Google Shape;75;p83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83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83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84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84"/>
          <p:cNvSpPr txBox="1"/>
          <p:nvPr>
            <p:ph idx="1" type="body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3756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indent="-322072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indent="-310388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indent="-298703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indent="-298704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indent="-333756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indent="-333756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indent="-333756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indent="-333756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82" name="Google Shape;82;p84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84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84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8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85"/>
          <p:cNvSpPr txBox="1"/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85"/>
          <p:cNvSpPr txBox="1"/>
          <p:nvPr>
            <p:ph idx="1" type="body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3756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indent="-333756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indent="-333756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indent="-333756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indent="-333756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indent="-333756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indent="-333756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indent="-333756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indent="-333756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89" name="Google Shape;89;p85"/>
          <p:cNvSpPr txBox="1"/>
          <p:nvPr>
            <p:ph idx="10" type="dt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85"/>
          <p:cNvSpPr txBox="1"/>
          <p:nvPr>
            <p:ph idx="11" type="ftr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85"/>
          <p:cNvSpPr txBox="1"/>
          <p:nvPr>
            <p:ph idx="12" type="sldNum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4"/>
          <p:cNvSpPr txBox="1"/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b="0" i="0" sz="2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4"/>
          <p:cNvSpPr txBox="1"/>
          <p:nvPr>
            <p:ph idx="1" type="body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3756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b="0" i="0" sz="18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22072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b="0" i="0" sz="16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10388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b="0" i="0" sz="14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298703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b="0" i="0" sz="12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298704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b="0" i="0" sz="12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298704" lvl="5" marL="2743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b="0" i="0" sz="12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298704" lvl="6" marL="3200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b="0" i="0" sz="12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298703" lvl="7" marL="3657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b="0" i="0" sz="12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298703" lvl="8" marL="41148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b="0" i="0" sz="1200" u="none" cap="none" strike="noStrik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8" name="Google Shape;8;p74"/>
          <p:cNvSpPr txBox="1"/>
          <p:nvPr>
            <p:ph idx="10" type="dt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9" name="Google Shape;9;p74"/>
          <p:cNvSpPr txBox="1"/>
          <p:nvPr>
            <p:ph idx="11" type="ftr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0" name="Google Shape;10;p74"/>
          <p:cNvSpPr txBox="1"/>
          <p:nvPr>
            <p:ph idx="12" type="sldNum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7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7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7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6.png"/><Relationship Id="rId4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image" Target="../media/image1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0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9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9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2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7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7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1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5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4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2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62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7.jp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6.jp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1.jp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61.jp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4.jp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3.jp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70.jp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8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67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41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5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44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2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62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7.jp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6.jp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1.jp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61.jp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4.jp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53.jp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0.jp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1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42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68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78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85.jp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6.jp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6.jp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75.jp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79.jp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77.jp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84.jp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76.jp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82.jp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81.jp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80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73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83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4.png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/>
          <p:nvPr>
            <p:ph type="ctrTitle"/>
          </p:nvPr>
        </p:nvSpPr>
        <p:spPr>
          <a:xfrm>
            <a:off x="552600" y="3192998"/>
            <a:ext cx="10993500" cy="1353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ES">
                <a:solidFill>
                  <a:schemeClr val="lt1"/>
                </a:solidFill>
              </a:rPr>
              <a:t>ELECTRODOMÉSTICOS CON RESTFUL JAVA Y BASE DE DATOS LOCAL</a:t>
            </a:r>
            <a:endParaRPr/>
          </a:p>
        </p:txBody>
      </p:sp>
      <p:sp>
        <p:nvSpPr>
          <p:cNvPr id="97" name="Google Shape;97;p1"/>
          <p:cNvSpPr txBox="1"/>
          <p:nvPr>
            <p:ph idx="1" type="subTitle"/>
          </p:nvPr>
        </p:nvSpPr>
        <p:spPr>
          <a:xfrm>
            <a:off x="1355001" y="4572000"/>
            <a:ext cx="4261500" cy="18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 lang="es-ES">
                <a:solidFill>
                  <a:schemeClr val="lt1"/>
                </a:solidFill>
              </a:rPr>
              <a:t>INTEGRANTES: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/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 lang="es-ES">
                <a:solidFill>
                  <a:schemeClr val="lt1"/>
                </a:solidFill>
              </a:rPr>
              <a:t>Cristian Acalo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 lang="es-ES">
                <a:solidFill>
                  <a:schemeClr val="lt1"/>
                </a:solidFill>
              </a:rPr>
              <a:t>Javier Gonzaga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 lang="es-ES">
                <a:solidFill>
                  <a:schemeClr val="lt1"/>
                </a:solidFill>
              </a:rPr>
              <a:t>Leonardo Obando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Resultado de imagen para espe" id="98" name="Google Shape;9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6909663" y="4572001"/>
            <a:ext cx="4261500" cy="12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t/>
            </a:r>
            <a:endParaRPr b="1" i="0" sz="1600" u="none" cap="none" strike="noStrik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b="1" i="0" lang="es-ES" sz="16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 </a:t>
            </a:r>
            <a:r>
              <a:rPr b="1" lang="es-ES" sz="16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18</a:t>
            </a:r>
            <a:r>
              <a:rPr b="1" i="0" lang="es-ES" sz="16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/1</a:t>
            </a:r>
            <a:r>
              <a:rPr b="1" lang="es-ES" sz="16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r>
              <a:rPr b="1" i="0" lang="es-ES" sz="16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/2025</a:t>
            </a:r>
            <a:endParaRPr b="0" i="0" sz="1600" u="none" cap="none" strike="noStrik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b="1" i="0" lang="es-ES" sz="16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 MAURICIO CAMPAÑA</a:t>
            </a:r>
            <a:endParaRPr b="1" i="0" sz="1600" u="none" cap="none" strike="noStrik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b="0" i="0" lang="es-ES" sz="2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/>
          <p:nvPr>
            <p:ph idx="1" type="body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77500" lnSpcReduction="20000"/>
          </a:bodyPr>
          <a:lstStyle/>
          <a:p>
            <a:pPr indent="-305435" lvl="0" marL="30543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ct val="91999"/>
              <a:buChar char="◼"/>
            </a:pPr>
            <a:r>
              <a:rPr lang="es-ES">
                <a:solidFill>
                  <a:schemeClr val="lt1"/>
                </a:solidFill>
              </a:rPr>
              <a:t>MARCO TEÓRICO</a:t>
            </a:r>
            <a:endParaRPr>
              <a:solidFill>
                <a:schemeClr val="lt1"/>
              </a:solidFill>
            </a:endParaRPr>
          </a:p>
          <a:p>
            <a:pPr indent="-305435" lvl="0" marL="30543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ct val="91999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  <a:endParaRPr>
              <a:solidFill>
                <a:schemeClr val="lt1"/>
              </a:solidFill>
            </a:endParaRPr>
          </a:p>
          <a:p>
            <a:pPr indent="-305435" lvl="1" marL="629920" rtl="0" algn="l">
              <a:lnSpc>
                <a:spcPct val="100000"/>
              </a:lnSpc>
              <a:spcBef>
                <a:spcPts val="848"/>
              </a:spcBef>
              <a:spcAft>
                <a:spcPts val="0"/>
              </a:spcAft>
              <a:buSzPct val="92000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  <a:endParaRPr/>
          </a:p>
          <a:p>
            <a:pPr indent="-305435" lvl="1" marL="629920" rtl="0" algn="l">
              <a:lnSpc>
                <a:spcPct val="100000"/>
              </a:lnSpc>
              <a:spcBef>
                <a:spcPts val="848"/>
              </a:spcBef>
              <a:spcAft>
                <a:spcPts val="0"/>
              </a:spcAft>
              <a:buSzPct val="92000"/>
              <a:buChar char="◼"/>
            </a:pPr>
            <a:r>
              <a:rPr lang="es-ES">
                <a:solidFill>
                  <a:schemeClr val="lt1"/>
                </a:solidFill>
              </a:rPr>
              <a:t>MODELO CONCEPTUAL DE LA BASE DE DATOS</a:t>
            </a:r>
            <a:endParaRPr/>
          </a:p>
          <a:p>
            <a:pPr indent="-305435" lvl="1" marL="629920" rtl="0" algn="l">
              <a:lnSpc>
                <a:spcPct val="100000"/>
              </a:lnSpc>
              <a:spcBef>
                <a:spcPts val="848"/>
              </a:spcBef>
              <a:spcAft>
                <a:spcPts val="0"/>
              </a:spcAft>
              <a:buSzPct val="92000"/>
              <a:buChar char="◼"/>
            </a:pPr>
            <a:r>
              <a:rPr lang="es-ES">
                <a:solidFill>
                  <a:schemeClr val="lt1"/>
                </a:solidFill>
              </a:rPr>
              <a:t>CREAR BASE DE DATOS</a:t>
            </a:r>
            <a:endParaRPr/>
          </a:p>
          <a:p>
            <a:pPr indent="-305435" lvl="1" marL="629920" rtl="0" algn="l">
              <a:lnSpc>
                <a:spcPct val="100000"/>
              </a:lnSpc>
              <a:spcBef>
                <a:spcPts val="848"/>
              </a:spcBef>
              <a:spcAft>
                <a:spcPts val="0"/>
              </a:spcAft>
              <a:buSzPct val="92000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</a:t>
            </a:r>
            <a:endParaRPr/>
          </a:p>
          <a:p>
            <a:pPr indent="-305435" lvl="1" marL="762635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SzPct val="91999"/>
              <a:buChar char="◼"/>
            </a:pPr>
            <a:r>
              <a:rPr lang="es-ES" sz="1800">
                <a:solidFill>
                  <a:schemeClr val="lt1"/>
                </a:solidFill>
              </a:rPr>
              <a:t>CREAR BASE DE DATOS</a:t>
            </a:r>
            <a:endParaRPr/>
          </a:p>
          <a:p>
            <a:pPr indent="-305435" lvl="1" marL="762635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SzPct val="91999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SERVIDOR SOAP</a:t>
            </a:r>
            <a:endParaRPr/>
          </a:p>
          <a:p>
            <a:pPr indent="-305435" lvl="1" marL="762635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SzPct val="91999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indent="-305435" lvl="1" marL="762635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SzPct val="91999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indent="-305435" lvl="1" marL="762635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SzPct val="91999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indent="-305435" lvl="1" marL="762635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SzPct val="91999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indent="-305435" lvl="1" marL="762635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SzPct val="91999"/>
              <a:buChar char="◼"/>
            </a:pPr>
            <a:r>
              <a:rPr lang="es-ES" sz="1800">
                <a:solidFill>
                  <a:schemeClr val="lt1"/>
                </a:solidFill>
              </a:rPr>
              <a:t>DIAGRAMAS</a:t>
            </a:r>
            <a:endParaRPr>
              <a:solidFill>
                <a:schemeClr val="lt1"/>
              </a:solidFill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Clr>
                <a:srgbClr val="4590B8"/>
              </a:buClr>
              <a:buSzPct val="91999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  <a:endParaRPr/>
          </a:p>
          <a:p>
            <a:pPr indent="-305435" lvl="0" marL="305435" marR="0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Clr>
                <a:srgbClr val="4590B8"/>
              </a:buClr>
              <a:buSzPct val="91999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  <a:p>
            <a:pPr indent="-305435" lvl="0" marL="305435" marR="0" rtl="0" algn="l">
              <a:lnSpc>
                <a:spcPct val="100000"/>
              </a:lnSpc>
              <a:spcBef>
                <a:spcPts val="879"/>
              </a:spcBef>
              <a:spcAft>
                <a:spcPts val="0"/>
              </a:spcAft>
              <a:buClr>
                <a:srgbClr val="4590B8"/>
              </a:buClr>
              <a:buSzPct val="91999"/>
              <a:buChar char="◼"/>
            </a:pPr>
            <a:r>
              <a:rPr lang="es-ES">
                <a:solidFill>
                  <a:schemeClr val="lt1"/>
                </a:solidFill>
              </a:rPr>
              <a:t>BIBLIOGRAFÍA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b="0" i="0" lang="es-ES" sz="2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2"/>
          <p:cNvPicPr preferRelativeResize="0"/>
          <p:nvPr/>
        </p:nvPicPr>
        <p:blipFill rotWithShape="1">
          <a:blip r:embed="rId3">
            <a:alphaModFix/>
          </a:blip>
          <a:srcRect b="5437" l="0" r="0" t="0"/>
          <a:stretch/>
        </p:blipFill>
        <p:spPr>
          <a:xfrm>
            <a:off x="4343750" y="1869813"/>
            <a:ext cx="7678700" cy="311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MARCO TEÓRICO</a:t>
            </a:r>
            <a:endParaRPr/>
          </a:p>
        </p:txBody>
      </p:sp>
      <p:sp>
        <p:nvSpPr>
          <p:cNvPr id="115" name="Google Shape;115;p3"/>
          <p:cNvSpPr txBox="1"/>
          <p:nvPr>
            <p:ph idx="1" type="body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1.1 ARQUITECTURA ORIENTADA A SERVICIOS (SOA)</a:t>
            </a:r>
            <a:endParaRPr b="1"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La Arquitectura Orientada a Servicios es un paradigma de diseño que permite crear componentes de software modulares, reutilizables y desacoplados. En este proyecto, SOA facilita la integración entre el sistema de comercialización de electrodomésticos y el módulo de créditos de BanQuito mediante servicios RESTful.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Cambria"/>
              <a:buChar char="●"/>
            </a:pP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Interoperabilidad entre sistemas heterogéneos.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Cambria"/>
              <a:buChar char="●"/>
            </a:pP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Reutilización de servicios.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Cambria"/>
              <a:buChar char="●"/>
            </a:pP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Acoplamiento débil entre componentes.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Cambria"/>
              <a:buChar char="●"/>
            </a:pP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Escalabilidad y mantenibilidad.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t/>
            </a:r>
            <a:endParaRPr sz="165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5b9630aa3_8_470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MARCO TEÓRICO</a:t>
            </a:r>
            <a:endParaRPr/>
          </a:p>
        </p:txBody>
      </p:sp>
      <p:sp>
        <p:nvSpPr>
          <p:cNvPr id="122" name="Google Shape;122;g3a5b9630aa3_8_470"/>
          <p:cNvSpPr txBox="1"/>
          <p:nvPr>
            <p:ph idx="1" type="body"/>
          </p:nvPr>
        </p:nvSpPr>
        <p:spPr>
          <a:xfrm>
            <a:off x="471250" y="2565450"/>
            <a:ext cx="8589300" cy="3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1.2 SERVICIOS WEB RESTful</a:t>
            </a:r>
            <a:endParaRPr b="1"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REST (Representational State Transfer) es un estilo arquitectónico que utiliza los protocolos estándar de la web (principalmente HTTP) para crear servicios web escalables, ligeros y de alto rendimiento. En este proyecto, el uso de servicios RESTful puede optimizar la comunicación para el sistema de comercialización de electrodomésticos, especialmente si se busca mayor simplicidad y una menor sobrecarga en la comunicación.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Características principales de REST:</a:t>
            </a:r>
            <a:endParaRPr b="1"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Roboto"/>
              <a:buChar char="●"/>
            </a:pPr>
            <a:r>
              <a:rPr b="1"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Uso de HTTP Estándar:</a:t>
            </a: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 Utiliza métodos HTTP (GET, POST, PUT, DELETE) para las operaciones de negocio.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Roboto"/>
              <a:buChar char="●"/>
            </a:pPr>
            <a:r>
              <a:rPr b="1"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Comunicación sin estado (Stateless):</a:t>
            </a: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 Cada solicitud contiene toda la información necesaria, facilitando la escalabilidad.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Roboto"/>
              <a:buChar char="●"/>
            </a:pPr>
            <a:r>
              <a:rPr b="1"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Formatos Flexibles:</a:t>
            </a: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 Soporte para diversos formatos de representación de datos, siendo JSON el más común y ligero.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-3333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650"/>
              <a:buFont typeface="Roboto"/>
              <a:buChar char="●"/>
            </a:pPr>
            <a:r>
              <a:rPr b="1"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Acoplamiento Débil:</a:t>
            </a:r>
            <a:r>
              <a:rPr lang="es-ES" sz="1650">
                <a:solidFill>
                  <a:srgbClr val="1F1F1F"/>
                </a:solidFill>
                <a:highlight>
                  <a:srgbClr val="FFFFFF"/>
                </a:highlight>
                <a:latin typeface="Cambria"/>
                <a:ea typeface="Cambria"/>
                <a:cs typeface="Cambria"/>
                <a:sym typeface="Cambria"/>
              </a:rPr>
              <a:t> Promueve la independencia entre el cliente y el servidor.</a:t>
            </a:r>
            <a:endParaRPr sz="1650">
              <a:solidFill>
                <a:srgbClr val="1F1F1F"/>
              </a:solidFill>
              <a:highlight>
                <a:srgbClr val="FFFFFF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t/>
            </a:r>
            <a:endParaRPr sz="1650"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t/>
            </a:r>
            <a:endParaRPr sz="165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3a5b9630aa3_8_47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5b9630aa3_7_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/>
              <a:t>MARCO TEÓRICO</a:t>
            </a:r>
            <a:endParaRPr/>
          </a:p>
        </p:txBody>
      </p:sp>
      <p:sp>
        <p:nvSpPr>
          <p:cNvPr id="129" name="Google Shape;129;g3a5b9630aa3_7_7"/>
          <p:cNvSpPr txBox="1"/>
          <p:nvPr>
            <p:ph idx="1" type="body"/>
          </p:nvPr>
        </p:nvSpPr>
        <p:spPr>
          <a:xfrm>
            <a:off x="581198" y="2180500"/>
            <a:ext cx="8590800" cy="36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1.3 TECNOLOGÍAS UTILIZADAS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proyecto implementa un stack tecnológico robusto basado en el ecosistema Java: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• Lenguaje: C# 12 (C Sharp)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• Framework: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Java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Framework 8.0 y WCF (Windows Communication Foundation)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• Servidor Web: IIS 10.0 / IIS Express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• ORM: Entity Framework 6.5.1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Base de Datos: MySQL en Railway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IDE: IntelliJ IDEA / Eclipse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Build Tool: Maven / Gradle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Estas tecnologías garantizan un desarrollo eficiente, mantenible y escalable del sistema de integración.</a:t>
            </a:r>
            <a:endParaRPr/>
          </a:p>
        </p:txBody>
      </p:sp>
      <p:sp>
        <p:nvSpPr>
          <p:cNvPr id="130" name="Google Shape;130;g3a5b9630aa3_7_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a5b9630aa3_7_14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/>
              <a:t>MARCO TEÓRICO</a:t>
            </a:r>
            <a:endParaRPr/>
          </a:p>
        </p:txBody>
      </p:sp>
      <p:sp>
        <p:nvSpPr>
          <p:cNvPr id="136" name="Google Shape;136;g3a5b9630aa3_7_14"/>
          <p:cNvSpPr txBox="1"/>
          <p:nvPr>
            <p:ph idx="1" type="body"/>
          </p:nvPr>
        </p:nvSpPr>
        <p:spPr>
          <a:xfrm>
            <a:off x="581198" y="2191799"/>
            <a:ext cx="8562900" cy="36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1.4 ARQUITECTURA EN CAPAS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sistema se estructura en tres capas lógicas principales que garantizan la separación de responsabilidades: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• Capa de Presentación: Compuesta por aplicaciones cliente (Consola, Escritorio, Web, Móvil) que interactúan con el usuario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• Capa de Lógica de Negocio: Contiene los servicios web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(Servicio BanQuito y Servicio Comercializadora) que implementan las reglas de negocio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• Capa de Acceso a Datos: Utiliza Entity Framework para la comunicación con las bases de datos banquito_db y comercializadora_db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Esta arquitectura facilita el mantenimiento, testing y escalabilidad del sistema.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ct val="99459"/>
              <a:buNone/>
            </a:pPr>
            <a:r>
              <a:t/>
            </a:r>
            <a:endParaRPr/>
          </a:p>
        </p:txBody>
      </p:sp>
      <p:sp>
        <p:nvSpPr>
          <p:cNvPr id="137" name="Google Shape;137;g3a5b9630aa3_7_1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5b9630aa3_8_462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3" name="Google Shape;143;g3a5b9630aa3_8_462"/>
          <p:cNvSpPr txBox="1"/>
          <p:nvPr>
            <p:ph idx="1" type="body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33375" lvl="0" marL="4572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0"/>
              <a:buChar char="∙"/>
            </a:pPr>
            <a:r>
              <a:rPr lang="es-ES" sz="1650">
                <a:latin typeface="Cambria"/>
                <a:ea typeface="Cambria"/>
                <a:cs typeface="Cambria"/>
                <a:sym typeface="Cambria"/>
              </a:rPr>
              <a:t>2.1 OBJETIVO</a:t>
            </a:r>
            <a:endParaRPr sz="1650">
              <a:latin typeface="Cambria"/>
              <a:ea typeface="Cambria"/>
              <a:cs typeface="Cambria"/>
              <a:sym typeface="Cambria"/>
            </a:endParaRPr>
          </a:p>
          <a:p>
            <a:pPr indent="0" lvl="0" marL="4572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50">
                <a:latin typeface="Cambria"/>
                <a:ea typeface="Cambria"/>
                <a:cs typeface="Cambria"/>
                <a:sym typeface="Cambria"/>
              </a:rPr>
              <a:t>Desarrollar una solución de software integral basada en una Arquitectura Orientada a Servicios (RESTful) que conecte el sistema de ventas de una comercializadora de electrodomésticos con el módulo de créditos del Banco BanQuito, con el fin de automatizar y agilizar el proceso de adquisición de productos financiados.</a:t>
            </a:r>
            <a:endParaRPr sz="1650"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4" name="Google Shape;144;g3a5b9630aa3_8_46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50" name="Google Shape;150;p4"/>
          <p:cNvSpPr txBox="1"/>
          <p:nvPr>
            <p:ph idx="1" type="body"/>
          </p:nvPr>
        </p:nvSpPr>
        <p:spPr>
          <a:xfrm>
            <a:off x="581192" y="2180496"/>
            <a:ext cx="8589441" cy="1380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2.2	MODELO CONCEPTUAL DE LA BASE DE DATOS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1.	A continuación, se presente el modelo conceptual de las bases de datos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“BanQuito” Y “Comercializadora”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52" name="Google Shape;152;p4"/>
          <p:cNvPicPr preferRelativeResize="0"/>
          <p:nvPr/>
        </p:nvPicPr>
        <p:blipFill rotWithShape="1">
          <a:blip r:embed="rId3">
            <a:alphaModFix/>
          </a:blip>
          <a:srcRect b="10548" l="0" r="0" t="-10550"/>
          <a:stretch/>
        </p:blipFill>
        <p:spPr>
          <a:xfrm>
            <a:off x="91725" y="3436653"/>
            <a:ext cx="9078898" cy="3183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58" name="Google Shape;158;p5"/>
          <p:cNvSpPr txBox="1"/>
          <p:nvPr>
            <p:ph idx="1" type="body"/>
          </p:nvPr>
        </p:nvSpPr>
        <p:spPr>
          <a:xfrm>
            <a:off x="595569" y="1849818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2.3	CREAR BASE DE DATOS</a:t>
            </a:r>
            <a:endParaRPr/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Al abrir MySQL Railway se crean las bases de datos banquito_db y comercializadora_db.</a:t>
            </a: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61" name="Google Shape;161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4113" y="3098325"/>
            <a:ext cx="6212350" cy="363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7" name="Google Shape;167;p7"/>
          <p:cNvSpPr txBox="1"/>
          <p:nvPr>
            <p:ph idx="1" type="body"/>
          </p:nvPr>
        </p:nvSpPr>
        <p:spPr>
          <a:xfrm>
            <a:off x="581192" y="1848998"/>
            <a:ext cx="8589441" cy="763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2.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4.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Ahora para insertar datos deberemos usar nuestro script Carga_Datos.sql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, copiamos y PEGAMOS su contenido en la herramienta y verificamos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69" name="Google Shape;16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21975" y="2745225"/>
            <a:ext cx="2808299" cy="4087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75" name="Google Shape;175;p8"/>
          <p:cNvSpPr txBox="1"/>
          <p:nvPr>
            <p:ph idx="1" type="body"/>
          </p:nvPr>
        </p:nvSpPr>
        <p:spPr>
          <a:xfrm>
            <a:off x="450550" y="1919250"/>
            <a:ext cx="87960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10000"/>
          </a:bodyPr>
          <a:lstStyle/>
          <a:p>
            <a:pPr indent="-327126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9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2.4	Creación del Servidor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08235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Para comenzar con la creación del proyecto servidor se procede a crear un nuevo proyecto en Netbeans 21, el proyecto que se deberá seleccionar es del tipo Aplicación Spring Boot RESTful API con Java.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9"/>
              <a:buFont typeface="Noto Sans Symbols"/>
              <a:buNone/>
            </a:pPr>
            <a:r>
              <a:t/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78" name="Google Shape;178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550" y="3398175"/>
            <a:ext cx="3984024" cy="2689950"/>
          </a:xfrm>
          <a:prstGeom prst="rect">
            <a:avLst/>
          </a:prstGeom>
          <a:noFill/>
          <a:ln cap="flat" cmpd="sng" w="889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pic>
      <p:pic>
        <p:nvPicPr>
          <p:cNvPr id="179" name="Google Shape;179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21325" y="3603225"/>
            <a:ext cx="4325225" cy="227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5" name="Google Shape;185;p9"/>
          <p:cNvSpPr txBox="1"/>
          <p:nvPr>
            <p:ph idx="1" type="body"/>
          </p:nvPr>
        </p:nvSpPr>
        <p:spPr>
          <a:xfrm>
            <a:off x="390692" y="1962876"/>
            <a:ext cx="8589441" cy="6096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2.	Luego ajustar las configuraciones del servidor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elegir proyecto vacío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descr="Interfaz de usuario gráfica, Texto, Aplicación, Correo electrónico&#10;&#10;Descripción generada automáticamente" id="188" name="Google Shape;188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3188" y="2819400"/>
            <a:ext cx="5124450" cy="3533775"/>
          </a:xfrm>
          <a:prstGeom prst="rect">
            <a:avLst/>
          </a:prstGeom>
          <a:noFill/>
          <a:ln cap="flat" cmpd="sng" w="889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94" name="Google Shape;194;p10"/>
          <p:cNvSpPr txBox="1"/>
          <p:nvPr>
            <p:ph idx="1" type="body"/>
          </p:nvPr>
        </p:nvSpPr>
        <p:spPr>
          <a:xfrm>
            <a:off x="581191" y="1905093"/>
            <a:ext cx="8589441" cy="5296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3. Ahora se crea la estructura del proyecto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97" name="Google Shape;197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5175" y="2000749"/>
            <a:ext cx="2351950" cy="4720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03" name="Google Shape;203;p11"/>
          <p:cNvSpPr txBox="1"/>
          <p:nvPr>
            <p:ph idx="1" type="body"/>
          </p:nvPr>
        </p:nvSpPr>
        <p:spPr>
          <a:xfrm>
            <a:off x="581192" y="1962603"/>
            <a:ext cx="8589441" cy="565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4. Ahora se crea una clase para hacer Conexión a la BDD y se codifica su lógica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05" name="Google Shape;20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1863" y="2968825"/>
            <a:ext cx="8028100" cy="3127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12" name="Google Shape;212;p13"/>
          <p:cNvSpPr txBox="1"/>
          <p:nvPr>
            <p:ph idx="1" type="body"/>
          </p:nvPr>
        </p:nvSpPr>
        <p:spPr>
          <a:xfrm>
            <a:off x="581192" y="1721974"/>
            <a:ext cx="8589441" cy="845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5. Ahora en la carpeta Servicio creamos la clase CreditoService y CreditoValidatorService para manejar las funciones que se utilizarán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14" name="Google Shape;21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1150" y="2573924"/>
            <a:ext cx="3444400" cy="420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3938" y="2573925"/>
            <a:ext cx="3052981" cy="419962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2" name="Google Shape;222;p14"/>
          <p:cNvSpPr txBox="1"/>
          <p:nvPr>
            <p:ph idx="1" type="body"/>
          </p:nvPr>
        </p:nvSpPr>
        <p:spPr>
          <a:xfrm>
            <a:off x="554721" y="1752107"/>
            <a:ext cx="8558126" cy="5700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6. Ahora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se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crea un nuevo Servidor De la Comercializadora con su estructura.</a:t>
            </a:r>
            <a:endParaRPr/>
          </a:p>
        </p:txBody>
      </p:sp>
      <p:sp>
        <p:nvSpPr>
          <p:cNvPr id="223" name="Google Shape;223;p14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4" name="Google Shape;224;p1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25" name="Google Shape;22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4075" y="2322118"/>
            <a:ext cx="2162094" cy="4231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1" name="Google Shape;231;p15"/>
          <p:cNvSpPr txBox="1"/>
          <p:nvPr>
            <p:ph idx="1" type="body"/>
          </p:nvPr>
        </p:nvSpPr>
        <p:spPr>
          <a:xfrm>
            <a:off x="580915" y="1952011"/>
            <a:ext cx="8531932" cy="60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7. Se procede a codificar la lógica para usar los métodos desarrollados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/>
          </a:p>
        </p:txBody>
      </p:sp>
      <p:sp>
        <p:nvSpPr>
          <p:cNvPr id="232" name="Google Shape;232;p15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33" name="Google Shape;23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5875" y="2469499"/>
            <a:ext cx="3579525" cy="4306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15675" y="2469499"/>
            <a:ext cx="3684803" cy="4306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7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0" name="Google Shape;240;p17"/>
          <p:cNvSpPr txBox="1"/>
          <p:nvPr>
            <p:ph idx="1" type="body"/>
          </p:nvPr>
        </p:nvSpPr>
        <p:spPr>
          <a:xfrm>
            <a:off x="581192" y="1902964"/>
            <a:ext cx="8589441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2.5	PROYECTO – CLIENTE CONSOLA</a:t>
            </a:r>
            <a:endParaRPr/>
          </a:p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Menú principal de navegación del sistema de consola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1" name="Google Shape;241;p17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2" name="Google Shape;2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8888" y="2854250"/>
            <a:ext cx="7514050" cy="37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8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p18"/>
          <p:cNvSpPr txBox="1"/>
          <p:nvPr>
            <p:ph idx="1" type="body"/>
          </p:nvPr>
        </p:nvSpPr>
        <p:spPr>
          <a:xfrm>
            <a:off x="581192" y="1902964"/>
            <a:ext cx="8589441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Se crea un cliente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consola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 Tomar en cuenta que el proyecto servidor debe estar desplegado,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y configurar las rutas del aplicativo.</a:t>
            </a:r>
            <a:endParaRPr/>
          </a:p>
        </p:txBody>
      </p:sp>
      <p:sp>
        <p:nvSpPr>
          <p:cNvPr id="250" name="Google Shape;250;p18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38025" y="2973534"/>
            <a:ext cx="5875769" cy="376669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9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8" name="Google Shape;258;p19"/>
          <p:cNvSpPr txBox="1"/>
          <p:nvPr>
            <p:ph idx="1" type="body"/>
          </p:nvPr>
        </p:nvSpPr>
        <p:spPr>
          <a:xfrm>
            <a:off x="581192" y="1902964"/>
            <a:ext cx="8589441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2. Se crea la estructura del proyecto consola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9" name="Google Shape;259;p19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60" name="Google Shape;26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1300" y="2567399"/>
            <a:ext cx="2448100" cy="408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0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7" name="Google Shape;267;p20"/>
          <p:cNvSpPr txBox="1"/>
          <p:nvPr>
            <p:ph idx="1" type="body"/>
          </p:nvPr>
        </p:nvSpPr>
        <p:spPr>
          <a:xfrm>
            <a:off x="581192" y="1902964"/>
            <a:ext cx="8589441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3. Se procede a implementar los modelos necesario para llevar a cabo las acciones en el paquete Models. 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68" name="Google Shape;268;p20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69" name="Google Shape;26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0325" y="2871359"/>
            <a:ext cx="2316833" cy="3766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93933" y="2871359"/>
            <a:ext cx="2229549" cy="3766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40250" y="2863726"/>
            <a:ext cx="2229550" cy="3781951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2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78" name="Google Shape;278;p22"/>
          <p:cNvSpPr txBox="1"/>
          <p:nvPr>
            <p:ph idx="1" type="body"/>
          </p:nvPr>
        </p:nvSpPr>
        <p:spPr>
          <a:xfrm>
            <a:off x="581192" y="1902964"/>
            <a:ext cx="8589441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4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Se procede a implementar el modelo necesario para llevar a cabo las acciones, esto en una clase Comercializadora en el paquete Models. 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80" name="Google Shape;28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10688" y="2871359"/>
            <a:ext cx="2330438" cy="3766692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87" name="Google Shape;287;p23"/>
          <p:cNvSpPr txBox="1"/>
          <p:nvPr>
            <p:ph idx="1" type="body"/>
          </p:nvPr>
        </p:nvSpPr>
        <p:spPr>
          <a:xfrm>
            <a:off x="581192" y="1902964"/>
            <a:ext cx="8589441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4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Se procede a implementar el modelo necesario para llevar a cabo las acciones, esto en una clase CalculoFactura en el paquete Models. 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88" name="Google Shape;288;p2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89" name="Google Shape;28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04625" y="2871359"/>
            <a:ext cx="2342585" cy="3766691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96" name="Google Shape;296;p24"/>
          <p:cNvSpPr txBox="1"/>
          <p:nvPr>
            <p:ph idx="1" type="body"/>
          </p:nvPr>
        </p:nvSpPr>
        <p:spPr>
          <a:xfrm>
            <a:off x="581192" y="1902964"/>
            <a:ext cx="8589441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4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Se procede a implementar el modelo necesario para llevar a cabo las acciones, esto en una clase SolicitudCalculo en el paquete Models. 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98" name="Google Shape;29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9275" y="3513034"/>
            <a:ext cx="7153275" cy="290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5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5" name="Google Shape;305;p25"/>
          <p:cNvSpPr txBox="1"/>
          <p:nvPr>
            <p:ph idx="1" type="body"/>
          </p:nvPr>
        </p:nvSpPr>
        <p:spPr>
          <a:xfrm>
            <a:off x="330970" y="1785019"/>
            <a:ext cx="8589300" cy="8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5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Ahora en la carpeta Services en la clase CreditoServiceClient creada se codifica la lógica del controlador. 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06" name="Google Shape;306;p25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07" name="Google Shape;3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54975" y="2737626"/>
            <a:ext cx="4666767" cy="396797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6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4" name="Google Shape;314;p26"/>
          <p:cNvSpPr txBox="1"/>
          <p:nvPr>
            <p:ph idx="1" type="body"/>
          </p:nvPr>
        </p:nvSpPr>
        <p:spPr>
          <a:xfrm>
            <a:off x="336716" y="1712320"/>
            <a:ext cx="8654883" cy="88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6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Ahora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se codifica la clase de la vista FacturacionServiceClient la cual debe ser creada dentro de la carpeta respectiva. 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15" name="Google Shape;315;p26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16" name="Google Shape;31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5313" y="2714490"/>
            <a:ext cx="4457688" cy="395733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7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23" name="Google Shape;323;p27"/>
          <p:cNvSpPr txBox="1"/>
          <p:nvPr>
            <p:ph idx="1" type="body"/>
          </p:nvPr>
        </p:nvSpPr>
        <p:spPr>
          <a:xfrm>
            <a:off x="581192" y="1742375"/>
            <a:ext cx="8458604" cy="620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lnSpcReduction="20000"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7.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Ahora en la clase principal se codifica lo necesario para la ejecución del programa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24" name="Google Shape;324;p27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25" name="Google Shape;32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50675" y="2498238"/>
            <a:ext cx="3519642" cy="4190487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8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2" name="Google Shape;332;p28"/>
          <p:cNvSpPr txBox="1"/>
          <p:nvPr>
            <p:ph idx="1" type="body"/>
          </p:nvPr>
        </p:nvSpPr>
        <p:spPr>
          <a:xfrm>
            <a:off x="581192" y="1742375"/>
            <a:ext cx="8458604" cy="620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lnSpcReduction="20000"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Menú principal, gestión de productos, facturación y consultas de clientes.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33" name="Google Shape;333;p28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34" name="Google Shape;334;p28" title="Screenshot 2025-11-18 1336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0825" y="2526830"/>
            <a:ext cx="7863825" cy="39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a5b9630aa3_8_36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1" name="Google Shape;341;g3a5b9630aa3_8_36"/>
          <p:cNvSpPr txBox="1"/>
          <p:nvPr>
            <p:ph idx="1" type="body"/>
          </p:nvPr>
        </p:nvSpPr>
        <p:spPr>
          <a:xfrm>
            <a:off x="581192" y="1742375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Listado completo de productos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42" name="Google Shape;342;g3a5b9630aa3_8_3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43" name="Google Shape;343;g3a5b9630aa3_8_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10113" y="2726800"/>
            <a:ext cx="5400675" cy="3800475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a5b9630aa3_8_3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a5b9630aa3_8_45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50" name="Google Shape;350;g3a5b9630aa3_8_45"/>
          <p:cNvSpPr txBox="1"/>
          <p:nvPr>
            <p:ph idx="1" type="body"/>
          </p:nvPr>
        </p:nvSpPr>
        <p:spPr>
          <a:xfrm>
            <a:off x="581192" y="1742375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Búsqueda de productos por ID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51" name="Google Shape;351;g3a5b9630aa3_8_4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52" name="Google Shape;352;g3a5b9630aa3_8_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10113" y="3042525"/>
            <a:ext cx="5400675" cy="33909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g3a5b9630aa3_8_4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a5b9630aa3_8_54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59" name="Google Shape;359;g3a5b9630aa3_8_54"/>
          <p:cNvSpPr txBox="1"/>
          <p:nvPr>
            <p:ph idx="1" type="body"/>
          </p:nvPr>
        </p:nvSpPr>
        <p:spPr>
          <a:xfrm>
            <a:off x="581192" y="1742375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Búsqueda de productos por categoría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60" name="Google Shape;360;g3a5b9630aa3_8_5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61" name="Google Shape;361;g3a5b9630aa3_8_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938" y="2799650"/>
            <a:ext cx="8049026" cy="37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g3a5b9630aa3_8_5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5b9630aa3_8_63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68" name="Google Shape;368;g3a5b9630aa3_8_63"/>
          <p:cNvSpPr txBox="1"/>
          <p:nvPr>
            <p:ph idx="1" type="body"/>
          </p:nvPr>
        </p:nvSpPr>
        <p:spPr>
          <a:xfrm>
            <a:off x="581192" y="1742375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Creación de nuevo producto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69" name="Google Shape;369;g3a5b9630aa3_8_6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70" name="Google Shape;370;g3a5b9630aa3_8_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02803" y="2702525"/>
            <a:ext cx="6615275" cy="37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3a5b9630aa3_8_6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a5b9630aa3_8_72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a5b9630aa3_8_72"/>
          <p:cNvSpPr txBox="1"/>
          <p:nvPr>
            <p:ph idx="1" type="body"/>
          </p:nvPr>
        </p:nvSpPr>
        <p:spPr>
          <a:xfrm>
            <a:off x="581192" y="1742375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Actualización de producto existente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8" name="Google Shape;378;g3a5b9630aa3_8_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79" name="Google Shape;379;g3a5b9630aa3_8_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85513" y="2848250"/>
            <a:ext cx="6849875" cy="36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g3a5b9630aa3_8_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5b9630aa3_8_81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6" name="Google Shape;386;g3a5b9630aa3_8_81"/>
          <p:cNvSpPr txBox="1"/>
          <p:nvPr>
            <p:ph idx="1" type="body"/>
          </p:nvPr>
        </p:nvSpPr>
        <p:spPr>
          <a:xfrm>
            <a:off x="581192" y="1742375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Menú de facturación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87" name="Google Shape;387;g3a5b9630aa3_8_8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88" name="Google Shape;388;g3a5b9630aa3_8_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200" y="3091100"/>
            <a:ext cx="8458500" cy="2923926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g3a5b9630aa3_8_8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a5b9630aa3_8_90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95" name="Google Shape;395;g3a5b9630aa3_8_90"/>
          <p:cNvSpPr txBox="1"/>
          <p:nvPr>
            <p:ph idx="1" type="body"/>
          </p:nvPr>
        </p:nvSpPr>
        <p:spPr>
          <a:xfrm>
            <a:off x="581192" y="1742375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Proceso de venta en efectivo con descuento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96" name="Google Shape;396;g3a5b9630aa3_8_9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97" name="Google Shape;397;g3a5b9630aa3_8_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66350" y="2362775"/>
            <a:ext cx="3688200" cy="4364676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g3a5b9630aa3_8_9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a5b9630aa3_8_99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4" name="Google Shape;404;g3a5b9630aa3_8_99"/>
          <p:cNvSpPr txBox="1"/>
          <p:nvPr>
            <p:ph idx="1" type="body"/>
          </p:nvPr>
        </p:nvSpPr>
        <p:spPr>
          <a:xfrm>
            <a:off x="581192" y="1936650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lnSpcReduction="20000"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Error en venta a crédito Cliente con crédito activo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5" name="Google Shape;405;g3a5b9630aa3_8_9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06" name="Google Shape;406;g3a5b9630aa3_8_9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5375" y="3188250"/>
            <a:ext cx="8790150" cy="2806027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g3a5b9630aa3_8_9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a5b9630aa3_8_108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3" name="Google Shape;413;g3a5b9630aa3_8_108"/>
          <p:cNvSpPr txBox="1"/>
          <p:nvPr>
            <p:ph idx="1" type="body"/>
          </p:nvPr>
        </p:nvSpPr>
        <p:spPr>
          <a:xfrm>
            <a:off x="581192" y="1936650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Consulta de factura por número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4" name="Google Shape;414;g3a5b9630aa3_8_10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15" name="Google Shape;415;g3a5b9630aa3_8_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2963" y="2557050"/>
            <a:ext cx="4874975" cy="4187151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g3a5b9630aa3_8_10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a5b9630aa3_8_11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2" name="Google Shape;422;g3a5b9630aa3_8_117"/>
          <p:cNvSpPr txBox="1"/>
          <p:nvPr>
            <p:ph idx="1" type="body"/>
          </p:nvPr>
        </p:nvSpPr>
        <p:spPr>
          <a:xfrm>
            <a:off x="581192" y="1936650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Consulta de facturas por cliente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23" name="Google Shape;423;g3a5b9630aa3_8_1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4" name="Google Shape;424;g3a5b9630aa3_8_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6375" y="3020700"/>
            <a:ext cx="8228149" cy="3366725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g3a5b9630aa3_8_1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a5b9630aa3_8_126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1" name="Google Shape;431;g3a5b9630aa3_8_126"/>
          <p:cNvSpPr txBox="1"/>
          <p:nvPr>
            <p:ph idx="1" type="body"/>
          </p:nvPr>
        </p:nvSpPr>
        <p:spPr>
          <a:xfrm>
            <a:off x="581192" y="1936650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Consulta de facturas por rango de precio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32" name="Google Shape;432;g3a5b9630aa3_8_1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33" name="Google Shape;433;g3a5b9630aa3_8_1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06225" y="2656425"/>
            <a:ext cx="4808425" cy="3901025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g3a5b9630aa3_8_1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a5b9630aa3_8_135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0" name="Google Shape;440;g3a5b9630aa3_8_135"/>
          <p:cNvSpPr txBox="1"/>
          <p:nvPr>
            <p:ph idx="1" type="body"/>
          </p:nvPr>
        </p:nvSpPr>
        <p:spPr>
          <a:xfrm>
            <a:off x="581192" y="1936650"/>
            <a:ext cx="84585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Consola: Tabla de amortización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1" name="Google Shape;441;g3a5b9630aa3_8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42" name="Google Shape;442;g3a5b9630aa3_8_1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29150" y="2680700"/>
            <a:ext cx="5362575" cy="398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9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8" name="Google Shape;448;p29"/>
          <p:cNvSpPr txBox="1"/>
          <p:nvPr>
            <p:ph idx="1" type="body"/>
          </p:nvPr>
        </p:nvSpPr>
        <p:spPr>
          <a:xfrm>
            <a:off x="581192" y="1860969"/>
            <a:ext cx="8431632" cy="111428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Creación de Cliente Escritorio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	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Crear nuevo proyecto del tipo Aplicación de Windows Forms  (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Java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Framework).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descr="Captura de pantalla de un celular&#10;&#10;Descripción generada automáticamente" id="449" name="Google Shape;449;p29"/>
          <p:cNvPicPr preferRelativeResize="0"/>
          <p:nvPr/>
        </p:nvPicPr>
        <p:blipFill rotWithShape="1">
          <a:blip r:embed="rId3">
            <a:alphaModFix/>
          </a:blip>
          <a:srcRect b="37305" l="11" r="125" t="22"/>
          <a:stretch/>
        </p:blipFill>
        <p:spPr>
          <a:xfrm>
            <a:off x="326725" y="3168874"/>
            <a:ext cx="8954104" cy="301830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29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51" name="Google Shape;451;p2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1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7" name="Google Shape;457;p31"/>
          <p:cNvSpPr txBox="1"/>
          <p:nvPr>
            <p:ph idx="1" type="body"/>
          </p:nvPr>
        </p:nvSpPr>
        <p:spPr>
          <a:xfrm>
            <a:off x="581192" y="1715956"/>
            <a:ext cx="8431632" cy="7659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2. Crear una nueva clase en la carpeta Model, esta clase se llama CreateProducto y se estructura de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la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siguiente manera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p31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59" name="Google Shape;45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11425" y="2651146"/>
            <a:ext cx="3571187" cy="407132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3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2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66" name="Google Shape;466;p32"/>
          <p:cNvSpPr txBox="1"/>
          <p:nvPr>
            <p:ph idx="1" type="body"/>
          </p:nvPr>
        </p:nvSpPr>
        <p:spPr>
          <a:xfrm>
            <a:off x="581192" y="1715956"/>
            <a:ext cx="8431632" cy="7659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3.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Crear una nueva clase en la carpeta Model, esta clase se llama ProductoDTO y se estructura de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la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siguiente manera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67" name="Google Shape;467;p32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68" name="Google Shape;46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37438" y="2701821"/>
            <a:ext cx="3719139" cy="407133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33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75" name="Google Shape;475;p33"/>
          <p:cNvSpPr txBox="1"/>
          <p:nvPr>
            <p:ph idx="1" type="body"/>
          </p:nvPr>
        </p:nvSpPr>
        <p:spPr>
          <a:xfrm>
            <a:off x="581192" y="1715956"/>
            <a:ext cx="8431632" cy="7659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3.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Crear una nueva clase en la carpeta Model, esta clase se llama CreditGrantRequest y se estructura de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la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siguiente manera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76" name="Google Shape;476;p3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77" name="Google Shape;47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13925" y="2988902"/>
            <a:ext cx="5966175" cy="31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3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4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84" name="Google Shape;484;p34"/>
          <p:cNvSpPr txBox="1"/>
          <p:nvPr>
            <p:ph idx="1" type="body"/>
          </p:nvPr>
        </p:nvSpPr>
        <p:spPr>
          <a:xfrm>
            <a:off x="581192" y="1715956"/>
            <a:ext cx="8431632" cy="7659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3.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Crear una nueva clase en la carpeta Model, esta clase se llama AmortizacionItemDto y se estructura de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la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siguiente manera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5" name="Google Shape;485;p34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86" name="Google Shape;48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2863" y="3140876"/>
            <a:ext cx="4968300" cy="3056450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3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35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3" name="Google Shape;493;p35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Login</a:t>
            </a:r>
            <a:endParaRPr/>
          </a:p>
        </p:txBody>
      </p:sp>
      <p:sp>
        <p:nvSpPr>
          <p:cNvPr id="494" name="Google Shape;494;p35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95" name="Google Shape;495;p35"/>
          <p:cNvPicPr preferRelativeResize="0"/>
          <p:nvPr/>
        </p:nvPicPr>
        <p:blipFill rotWithShape="1">
          <a:blip r:embed="rId3">
            <a:alphaModFix/>
          </a:blip>
          <a:srcRect b="0" l="0" r="0" t="6217"/>
          <a:stretch/>
        </p:blipFill>
        <p:spPr>
          <a:xfrm>
            <a:off x="1037525" y="2616950"/>
            <a:ext cx="7518852" cy="37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a5b9630aa3_8_29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02" name="Google Shape;502;g3a5b9630aa3_8_297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Consulta de factura por número</a:t>
            </a:r>
            <a:endParaRPr/>
          </a:p>
        </p:txBody>
      </p:sp>
      <p:sp>
        <p:nvSpPr>
          <p:cNvPr id="503" name="Google Shape;503;g3a5b9630aa3_8_29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504" name="Google Shape;504;g3a5b9630aa3_8_297"/>
          <p:cNvPicPr preferRelativeResize="0"/>
          <p:nvPr/>
        </p:nvPicPr>
        <p:blipFill rotWithShape="1">
          <a:blip r:embed="rId3">
            <a:alphaModFix/>
          </a:blip>
          <a:srcRect b="0" l="0" r="1660" t="4213"/>
          <a:stretch/>
        </p:blipFill>
        <p:spPr>
          <a:xfrm>
            <a:off x="1102587" y="2685350"/>
            <a:ext cx="7388850" cy="386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a5b9630aa3_8_150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10" name="Google Shape;510;g3a5b9630aa3_8_150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Tabla de amortización del crédito</a:t>
            </a:r>
            <a:endParaRPr/>
          </a:p>
        </p:txBody>
      </p:sp>
      <p:sp>
        <p:nvSpPr>
          <p:cNvPr id="511" name="Google Shape;511;g3a5b9630aa3_8_15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512" name="Google Shape;512;g3a5b9630aa3_8_150"/>
          <p:cNvPicPr preferRelativeResize="0"/>
          <p:nvPr/>
        </p:nvPicPr>
        <p:blipFill rotWithShape="1">
          <a:blip r:embed="rId3">
            <a:alphaModFix/>
          </a:blip>
          <a:srcRect b="0" l="0" r="1834" t="4861"/>
          <a:stretch/>
        </p:blipFill>
        <p:spPr>
          <a:xfrm>
            <a:off x="1082763" y="2762750"/>
            <a:ext cx="7428375" cy="3867550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g3a5b9630aa3_8_15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a5b9630aa3_8_159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19" name="Google Shape;519;g3a5b9630aa3_8_159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Gestión de productos</a:t>
            </a:r>
            <a:endParaRPr/>
          </a:p>
        </p:txBody>
      </p:sp>
      <p:sp>
        <p:nvSpPr>
          <p:cNvPr id="520" name="Google Shape;520;g3a5b9630aa3_8_15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521" name="Google Shape;521;g3a5b9630aa3_8_159"/>
          <p:cNvPicPr preferRelativeResize="0"/>
          <p:nvPr/>
        </p:nvPicPr>
        <p:blipFill rotWithShape="1">
          <a:blip r:embed="rId3">
            <a:alphaModFix/>
          </a:blip>
          <a:srcRect b="0" l="0" r="1660" t="5419"/>
          <a:stretch/>
        </p:blipFill>
        <p:spPr>
          <a:xfrm>
            <a:off x="1191425" y="2762750"/>
            <a:ext cx="7211026" cy="3721825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a5b9630aa3_8_15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a5b9630aa3_8_168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28" name="Google Shape;528;g3a5b9630aa3_8_168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Confirmación de venta completada</a:t>
            </a:r>
            <a:endParaRPr/>
          </a:p>
        </p:txBody>
      </p:sp>
      <p:sp>
        <p:nvSpPr>
          <p:cNvPr id="529" name="Google Shape;529;g3a5b9630aa3_8_16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530" name="Google Shape;530;g3a5b9630aa3_8_168"/>
          <p:cNvPicPr preferRelativeResize="0"/>
          <p:nvPr/>
        </p:nvPicPr>
        <p:blipFill rotWithShape="1">
          <a:blip r:embed="rId3">
            <a:alphaModFix/>
          </a:blip>
          <a:srcRect b="0" l="0" r="2008" t="5294"/>
          <a:stretch/>
        </p:blipFill>
        <p:spPr>
          <a:xfrm>
            <a:off x="1345738" y="2872525"/>
            <a:ext cx="6902424" cy="3587775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g3a5b9630aa3_8_16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a5b9630aa3_8_17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37" name="Google Shape;537;g3a5b9630aa3_8_177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Página principal del sistema</a:t>
            </a:r>
            <a:endParaRPr/>
          </a:p>
        </p:txBody>
      </p:sp>
      <p:sp>
        <p:nvSpPr>
          <p:cNvPr id="538" name="Google Shape;538;g3a5b9630aa3_8_17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539" name="Google Shape;539;g3a5b9630aa3_8_177"/>
          <p:cNvPicPr preferRelativeResize="0"/>
          <p:nvPr/>
        </p:nvPicPr>
        <p:blipFill rotWithShape="1">
          <a:blip r:embed="rId3">
            <a:alphaModFix/>
          </a:blip>
          <a:srcRect b="0" l="0" r="1660" t="5338"/>
          <a:stretch/>
        </p:blipFill>
        <p:spPr>
          <a:xfrm>
            <a:off x="1240825" y="2811350"/>
            <a:ext cx="7112250" cy="3721825"/>
          </a:xfrm>
          <a:prstGeom prst="rect">
            <a:avLst/>
          </a:prstGeom>
          <a:noFill/>
          <a:ln>
            <a:noFill/>
          </a:ln>
        </p:spPr>
      </p:pic>
      <p:sp>
        <p:nvSpPr>
          <p:cNvPr id="540" name="Google Shape;540;g3a5b9630aa3_8_17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3a5b9630aa3_8_186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46" name="Google Shape;546;g3a5b9630aa3_8_186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Consulta de facturas por cliente</a:t>
            </a:r>
            <a:endParaRPr/>
          </a:p>
        </p:txBody>
      </p:sp>
      <p:sp>
        <p:nvSpPr>
          <p:cNvPr id="547" name="Google Shape;547;g3a5b9630aa3_8_1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548" name="Google Shape;548;g3a5b9630aa3_8_186"/>
          <p:cNvPicPr preferRelativeResize="0"/>
          <p:nvPr/>
        </p:nvPicPr>
        <p:blipFill rotWithShape="1">
          <a:blip r:embed="rId3">
            <a:alphaModFix/>
          </a:blip>
          <a:srcRect b="0" l="0" r="1476" t="4571"/>
          <a:stretch/>
        </p:blipFill>
        <p:spPr>
          <a:xfrm>
            <a:off x="1110575" y="2646550"/>
            <a:ext cx="7372750" cy="3838050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a5b9630aa3_8_1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a5b9630aa3_8_195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55" name="Google Shape;555;g3a5b9630aa3_8_195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de Escritorio: Formulario de Nueva venta a crédito</a:t>
            </a:r>
            <a:endParaRPr/>
          </a:p>
        </p:txBody>
      </p:sp>
      <p:sp>
        <p:nvSpPr>
          <p:cNvPr id="556" name="Google Shape;556;g3a5b9630aa3_8_1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557" name="Google Shape;557;g3a5b9630aa3_8_195"/>
          <p:cNvPicPr preferRelativeResize="0"/>
          <p:nvPr/>
        </p:nvPicPr>
        <p:blipFill rotWithShape="1">
          <a:blip r:embed="rId3">
            <a:alphaModFix/>
          </a:blip>
          <a:srcRect b="0" l="0" r="1834" t="5141"/>
          <a:stretch/>
        </p:blipFill>
        <p:spPr>
          <a:xfrm>
            <a:off x="1200888" y="2811350"/>
            <a:ext cx="7192125" cy="377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46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63" name="Google Shape;563;p46"/>
          <p:cNvSpPr txBox="1"/>
          <p:nvPr>
            <p:ph idx="1" type="body"/>
          </p:nvPr>
        </p:nvSpPr>
        <p:spPr>
          <a:xfrm>
            <a:off x="484209" y="1715956"/>
            <a:ext cx="8576663" cy="14427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Proyecto web 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Crear un proyecto de tipo web y seleccionar el tipo de plantilla del proyecto.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64" name="Google Shape;56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76463" y="2971099"/>
            <a:ext cx="5992151" cy="368847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4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47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71" name="Google Shape;571;p47"/>
          <p:cNvSpPr txBox="1"/>
          <p:nvPr>
            <p:ph idx="1" type="body"/>
          </p:nvPr>
        </p:nvSpPr>
        <p:spPr>
          <a:xfrm>
            <a:off x="556095" y="1986220"/>
            <a:ext cx="8504777" cy="551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1.	Estructura cliente WEB. </a:t>
            </a:r>
            <a:endParaRPr/>
          </a:p>
        </p:txBody>
      </p:sp>
      <p:pic>
        <p:nvPicPr>
          <p:cNvPr id="572" name="Google Shape;572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31200" y="1986224"/>
            <a:ext cx="3126325" cy="475067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49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79" name="Google Shape;579;p49"/>
          <p:cNvSpPr txBox="1"/>
          <p:nvPr>
            <p:ph idx="1" type="body"/>
          </p:nvPr>
        </p:nvSpPr>
        <p:spPr>
          <a:xfrm>
            <a:off x="581192" y="1728072"/>
            <a:ext cx="8667274" cy="7082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lnSpcReduction="10000"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2. Se deberá crear una nueva clase en la carpeta Models con el nombre CreateProduct y se codifica.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80" name="Google Shape;58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11425" y="2651146"/>
            <a:ext cx="3571187" cy="4071329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4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a5b9630aa3_8_20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87" name="Google Shape;587;g3a5b9630aa3_8_207"/>
          <p:cNvSpPr txBox="1"/>
          <p:nvPr>
            <p:ph idx="1" type="body"/>
          </p:nvPr>
        </p:nvSpPr>
        <p:spPr>
          <a:xfrm>
            <a:off x="581192" y="1715956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3.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Crear una nueva clase en la carpeta Model, esta clase se llama ProductoDTO y se estructura de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la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siguiente manera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88" name="Google Shape;588;g3a5b9630aa3_8_2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37438" y="2701821"/>
            <a:ext cx="3719139" cy="407133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g3a5b9630aa3_8_20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a5b9630aa3_8_214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95" name="Google Shape;595;g3a5b9630aa3_8_214"/>
          <p:cNvSpPr txBox="1"/>
          <p:nvPr>
            <p:ph idx="1" type="body"/>
          </p:nvPr>
        </p:nvSpPr>
        <p:spPr>
          <a:xfrm>
            <a:off x="581192" y="1715956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3.	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Crear una nueva clase en la carpeta Model, esta clase se llama CreditGrantRequest y se estructura de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la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siguiente manera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96" name="Google Shape;596;g3a5b9630aa3_8_2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13925" y="2988902"/>
            <a:ext cx="5966175" cy="31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a5b9630aa3_8_21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a5b9630aa3_8_221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03" name="Google Shape;603;g3a5b9630aa3_8_221"/>
          <p:cNvSpPr txBox="1"/>
          <p:nvPr>
            <p:ph idx="1" type="body"/>
          </p:nvPr>
        </p:nvSpPr>
        <p:spPr>
          <a:xfrm>
            <a:off x="581192" y="1715956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3.	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Crear una nueva clase en la carpeta Model, esta clase se llama AmortizacionItemDto y se estructura de 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la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siguiente manera</a:t>
            </a: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604" name="Google Shape;604;g3a5b9630aa3_8_2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2863" y="3140876"/>
            <a:ext cx="4968300" cy="3056450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g3a5b9630aa3_8_22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a5b9630aa3_8_228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1" name="Google Shape;611;g3a5b9630aa3_8_228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Login</a:t>
            </a:r>
            <a:endParaRPr/>
          </a:p>
        </p:txBody>
      </p:sp>
      <p:sp>
        <p:nvSpPr>
          <p:cNvPr id="612" name="Google Shape;612;g3a5b9630aa3_8_2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613" name="Google Shape;613;g3a5b9630aa3_8_2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7513" y="2617052"/>
            <a:ext cx="7518872" cy="4003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a5b9630aa3_8_289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9" name="Google Shape;619;g3a5b9630aa3_8_289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Consulta de factura por número</a:t>
            </a:r>
            <a:endParaRPr/>
          </a:p>
        </p:txBody>
      </p:sp>
      <p:pic>
        <p:nvPicPr>
          <p:cNvPr id="620" name="Google Shape;620;g3a5b9630aa3_8_289"/>
          <p:cNvPicPr preferRelativeResize="0"/>
          <p:nvPr/>
        </p:nvPicPr>
        <p:blipFill rotWithShape="1">
          <a:blip r:embed="rId3">
            <a:alphaModFix/>
          </a:blip>
          <a:srcRect b="0" l="0" r="1660" t="4213"/>
          <a:stretch/>
        </p:blipFill>
        <p:spPr>
          <a:xfrm>
            <a:off x="1102587" y="2685350"/>
            <a:ext cx="7388850" cy="3866575"/>
          </a:xfrm>
          <a:prstGeom prst="rect">
            <a:avLst/>
          </a:prstGeom>
          <a:noFill/>
          <a:ln>
            <a:noFill/>
          </a:ln>
        </p:spPr>
      </p:pic>
      <p:sp>
        <p:nvSpPr>
          <p:cNvPr id="621" name="Google Shape;621;g3a5b9630aa3_8_28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a5b9630aa3_8_235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27" name="Google Shape;627;g3a5b9630aa3_8_235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Tabla de amortización del crédito</a:t>
            </a:r>
            <a:endParaRPr/>
          </a:p>
        </p:txBody>
      </p:sp>
      <p:pic>
        <p:nvPicPr>
          <p:cNvPr id="628" name="Google Shape;628;g3a5b9630aa3_8_235"/>
          <p:cNvPicPr preferRelativeResize="0"/>
          <p:nvPr/>
        </p:nvPicPr>
        <p:blipFill rotWithShape="1">
          <a:blip r:embed="rId3">
            <a:alphaModFix/>
          </a:blip>
          <a:srcRect b="0" l="0" r="1834" t="4861"/>
          <a:stretch/>
        </p:blipFill>
        <p:spPr>
          <a:xfrm>
            <a:off x="1082763" y="2762750"/>
            <a:ext cx="7428375" cy="3867550"/>
          </a:xfrm>
          <a:prstGeom prst="rect">
            <a:avLst/>
          </a:prstGeom>
          <a:noFill/>
          <a:ln>
            <a:noFill/>
          </a:ln>
        </p:spPr>
      </p:pic>
      <p:sp>
        <p:nvSpPr>
          <p:cNvPr id="629" name="Google Shape;629;g3a5b9630aa3_8_2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a5b9630aa3_8_242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35" name="Google Shape;635;g3a5b9630aa3_8_242"/>
          <p:cNvSpPr txBox="1"/>
          <p:nvPr>
            <p:ph idx="1" type="body"/>
          </p:nvPr>
        </p:nvSpPr>
        <p:spPr>
          <a:xfrm>
            <a:off x="581192" y="1783502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Gestión de productos</a:t>
            </a:r>
            <a:endParaRPr/>
          </a:p>
        </p:txBody>
      </p:sp>
      <p:pic>
        <p:nvPicPr>
          <p:cNvPr id="636" name="Google Shape;636;g3a5b9630aa3_8_242"/>
          <p:cNvPicPr preferRelativeResize="0"/>
          <p:nvPr/>
        </p:nvPicPr>
        <p:blipFill rotWithShape="1">
          <a:blip r:embed="rId3">
            <a:alphaModFix/>
          </a:blip>
          <a:srcRect b="0" l="0" r="1660" t="5419"/>
          <a:stretch/>
        </p:blipFill>
        <p:spPr>
          <a:xfrm>
            <a:off x="1191425" y="2762750"/>
            <a:ext cx="7211026" cy="3721825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a5b9630aa3_8_2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a5b9630aa3_8_249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43" name="Google Shape;643;g3a5b9630aa3_8_249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Confirmación de venta completada</a:t>
            </a:r>
            <a:endParaRPr/>
          </a:p>
        </p:txBody>
      </p:sp>
      <p:pic>
        <p:nvPicPr>
          <p:cNvPr id="644" name="Google Shape;644;g3a5b9630aa3_8_249"/>
          <p:cNvPicPr preferRelativeResize="0"/>
          <p:nvPr/>
        </p:nvPicPr>
        <p:blipFill rotWithShape="1">
          <a:blip r:embed="rId3">
            <a:alphaModFix/>
          </a:blip>
          <a:srcRect b="0" l="0" r="2008" t="5294"/>
          <a:stretch/>
        </p:blipFill>
        <p:spPr>
          <a:xfrm>
            <a:off x="1345738" y="2872525"/>
            <a:ext cx="6902424" cy="3587775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g3a5b9630aa3_8_24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a5b9630aa3_8_256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51" name="Google Shape;651;g3a5b9630aa3_8_256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Página principal del sistema</a:t>
            </a:r>
            <a:endParaRPr/>
          </a:p>
        </p:txBody>
      </p:sp>
      <p:pic>
        <p:nvPicPr>
          <p:cNvPr id="652" name="Google Shape;652;g3a5b9630aa3_8_256"/>
          <p:cNvPicPr preferRelativeResize="0"/>
          <p:nvPr/>
        </p:nvPicPr>
        <p:blipFill rotWithShape="1">
          <a:blip r:embed="rId3">
            <a:alphaModFix/>
          </a:blip>
          <a:srcRect b="0" l="0" r="1660" t="5338"/>
          <a:stretch/>
        </p:blipFill>
        <p:spPr>
          <a:xfrm>
            <a:off x="1240825" y="2811350"/>
            <a:ext cx="7112250" cy="3721825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g3a5b9630aa3_8_25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a5b9630aa3_8_263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59" name="Google Shape;659;g3a5b9630aa3_8_263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Consulta de facturas por cliente</a:t>
            </a:r>
            <a:endParaRPr/>
          </a:p>
        </p:txBody>
      </p:sp>
      <p:pic>
        <p:nvPicPr>
          <p:cNvPr id="660" name="Google Shape;660;g3a5b9630aa3_8_263"/>
          <p:cNvPicPr preferRelativeResize="0"/>
          <p:nvPr/>
        </p:nvPicPr>
        <p:blipFill rotWithShape="1">
          <a:blip r:embed="rId3">
            <a:alphaModFix/>
          </a:blip>
          <a:srcRect b="0" l="0" r="1476" t="4571"/>
          <a:stretch/>
        </p:blipFill>
        <p:spPr>
          <a:xfrm>
            <a:off x="1110575" y="2646550"/>
            <a:ext cx="7372750" cy="3838050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g3a5b9630aa3_8_26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a5b9630aa3_8_270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7" name="Google Shape;667;g3a5b9630aa3_8_270"/>
          <p:cNvSpPr txBox="1"/>
          <p:nvPr>
            <p:ph idx="1" type="body"/>
          </p:nvPr>
        </p:nvSpPr>
        <p:spPr>
          <a:xfrm>
            <a:off x="581192" y="1880649"/>
            <a:ext cx="8431500" cy="7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Web: Formulario de Nueva venta a crédito</a:t>
            </a:r>
            <a:endParaRPr/>
          </a:p>
        </p:txBody>
      </p:sp>
      <p:sp>
        <p:nvSpPr>
          <p:cNvPr id="668" name="Google Shape;668;g3a5b9630aa3_8_27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669" name="Google Shape;669;g3a5b9630aa3_8_270"/>
          <p:cNvPicPr preferRelativeResize="0"/>
          <p:nvPr/>
        </p:nvPicPr>
        <p:blipFill rotWithShape="1">
          <a:blip r:embed="rId3">
            <a:alphaModFix/>
          </a:blip>
          <a:srcRect b="0" l="0" r="1834" t="5141"/>
          <a:stretch/>
        </p:blipFill>
        <p:spPr>
          <a:xfrm>
            <a:off x="1200888" y="2811350"/>
            <a:ext cx="7192125" cy="377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62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75" name="Google Shape;675;p62"/>
          <p:cNvSpPr txBox="1"/>
          <p:nvPr>
            <p:ph idx="1" type="body"/>
          </p:nvPr>
        </p:nvSpPr>
        <p:spPr>
          <a:xfrm>
            <a:off x="477435" y="2128872"/>
            <a:ext cx="8451900" cy="43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1.	Creación proyecto cliente móvil. </a:t>
            </a:r>
            <a:endParaRPr/>
          </a:p>
        </p:txBody>
      </p:sp>
      <p:pic>
        <p:nvPicPr>
          <p:cNvPr id="676" name="Google Shape;676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402" y="2975302"/>
            <a:ext cx="8451976" cy="9074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terfaz de usuario gráfica, Aplicación&#10;&#10;Descripción generada automáticamente" id="677" name="Google Shape;677;p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7400" y="3995375"/>
            <a:ext cx="8451975" cy="2389244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6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63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84" name="Google Shape;684;p63"/>
          <p:cNvSpPr txBox="1"/>
          <p:nvPr>
            <p:ph idx="1" type="body"/>
          </p:nvPr>
        </p:nvSpPr>
        <p:spPr>
          <a:xfrm>
            <a:off x="581192" y="1911212"/>
            <a:ext cx="8451972" cy="101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2.	Clases en diferentes paquetes</a:t>
            </a:r>
            <a:endParaRPr/>
          </a:p>
        </p:txBody>
      </p:sp>
      <p:pic>
        <p:nvPicPr>
          <p:cNvPr descr="Interfaz de usuario gráfica, Texto, Aplicación, Chat o mensaje de texto&#10;&#10;Descripción generada automáticamente" id="685" name="Google Shape;68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02502" y="2924998"/>
            <a:ext cx="6209375" cy="3389575"/>
          </a:xfrm>
          <a:prstGeom prst="rect">
            <a:avLst/>
          </a:prstGeom>
          <a:noFill/>
          <a:ln>
            <a:noFill/>
          </a:ln>
        </p:spPr>
      </p:pic>
      <p:sp>
        <p:nvSpPr>
          <p:cNvPr id="686" name="Google Shape;686;p6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64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92" name="Google Shape;692;p64"/>
          <p:cNvSpPr txBox="1"/>
          <p:nvPr>
            <p:ph idx="1" type="body"/>
          </p:nvPr>
        </p:nvSpPr>
        <p:spPr>
          <a:xfrm>
            <a:off x="581192" y="1911212"/>
            <a:ext cx="8451972" cy="496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3.  Codificación de modelo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3" name="Google Shape;693;p64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694" name="Google Shape;694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70013" y="3069849"/>
            <a:ext cx="5274350" cy="324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65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00" name="Google Shape;700;p65"/>
          <p:cNvSpPr txBox="1"/>
          <p:nvPr>
            <p:ph idx="1" type="body"/>
          </p:nvPr>
        </p:nvSpPr>
        <p:spPr>
          <a:xfrm>
            <a:off x="581192" y="1911212"/>
            <a:ext cx="8451972" cy="496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Noto Sans Symbols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4.	Configuración adicional para desarrollo en android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1" name="Google Shape;701;p65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02" name="Google Shape;702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01775" y="2407428"/>
            <a:ext cx="3610834" cy="4145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66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08" name="Google Shape;708;p66"/>
          <p:cNvSpPr txBox="1"/>
          <p:nvPr>
            <p:ph idx="1" type="body"/>
          </p:nvPr>
        </p:nvSpPr>
        <p:spPr>
          <a:xfrm>
            <a:off x="581192" y="1911212"/>
            <a:ext cx="8451972" cy="510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Login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9" name="Google Shape;709;p66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10" name="Google Shape;710;p66"/>
          <p:cNvPicPr preferRelativeResize="0"/>
          <p:nvPr/>
        </p:nvPicPr>
        <p:blipFill rotWithShape="1">
          <a:blip r:embed="rId3">
            <a:alphaModFix/>
          </a:blip>
          <a:srcRect b="8491" l="0" r="0" t="0"/>
          <a:stretch/>
        </p:blipFill>
        <p:spPr>
          <a:xfrm>
            <a:off x="4843325" y="1911200"/>
            <a:ext cx="2443875" cy="4842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5b9630aa3_8_31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16" name="Google Shape;716;g3a5b9630aa3_8_31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Pantalla Principal y Configuración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17" name="Google Shape;717;g3a5b9630aa3_8_3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18" name="Google Shape;718;g3a5b9630aa3_8_3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0188" y="2421800"/>
            <a:ext cx="2013925" cy="435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a5b9630aa3_8_32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24" name="Google Shape;724;g3a5b9630aa3_8_32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Nueva Venta - Paso 1: Cliente Validado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25" name="Google Shape;725;g3a5b9630aa3_8_3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26" name="Google Shape;726;g3a5b9630aa3_8_3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25" y="2421800"/>
            <a:ext cx="2023050" cy="439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g3a5b9630aa3_8_33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32" name="Google Shape;732;g3a5b9630aa3_8_33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Nueva Venta - Paso 2: Carrito Confirmado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33" name="Google Shape;733;g3a5b9630aa3_8_3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34" name="Google Shape;734;g3a5b9630aa3_8_3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5825" y="2421800"/>
            <a:ext cx="2002650" cy="432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5b9630aa3_8_34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40" name="Google Shape;740;g3a5b9630aa3_8_34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Consultas Generales - Factura por Número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41" name="Google Shape;741;g3a5b9630aa3_8_34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42" name="Google Shape;742;g3a5b9630aa3_8_3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73688" y="2381250"/>
            <a:ext cx="2066925" cy="447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a5b9630aa3_8_35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48" name="Google Shape;748;g3a5b9630aa3_8_35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Gestión de Productos Móvil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49" name="Google Shape;749;g3a5b9630aa3_8_3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50" name="Google Shape;750;g3a5b9630aa3_8_3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0100" y="2421800"/>
            <a:ext cx="2014100" cy="436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3a5b9630aa3_8_36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56" name="Google Shape;756;g3a5b9630aa3_8_36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Lista de Productos en Tarjetas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57" name="Google Shape;757;g3a5b9630aa3_8_36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58" name="Google Shape;758;g3a5b9630aa3_8_3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4463" y="2421800"/>
            <a:ext cx="2005375" cy="434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5b9630aa3_8_37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64" name="Google Shape;764;g3a5b9630aa3_8_37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Consultas - Facturas por Cliente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65" name="Google Shape;765;g3a5b9630aa3_8_37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66" name="Google Shape;766;g3a5b9630aa3_8_3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7513" y="2421800"/>
            <a:ext cx="2019275" cy="436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a5b9630aa3_8_38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72" name="Google Shape;772;g3a5b9630aa3_8_38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Nueva Venta - Paso 3: Venta Completada con Crédito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73" name="Google Shape;773;g3a5b9630aa3_8_38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74" name="Google Shape;774;g3a5b9630aa3_8_3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4738" y="2421800"/>
            <a:ext cx="1984825" cy="429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3a5b9630aa3_8_39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80" name="Google Shape;780;g3a5b9630aa3_8_39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Detalles de Compra y Totales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81" name="Google Shape;781;g3a5b9630aa3_8_39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82" name="Google Shape;782;g3a5b9630aa3_8_39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21300" y="2421800"/>
            <a:ext cx="1971675" cy="427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a5b9630aa3_8_407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88" name="Google Shape;788;g3a5b9630aa3_8_407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Capturas del Sistema Móvil: Consulta de Tabla de Amortización Móvil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89" name="Google Shape;789;g3a5b9630aa3_8_40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90" name="Google Shape;790;g3a5b9630aa3_8_4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83138" y="2375125"/>
            <a:ext cx="2048025" cy="443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68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796" name="Google Shape;796;p68"/>
          <p:cNvSpPr txBox="1"/>
          <p:nvPr>
            <p:ph idx="1" type="body"/>
          </p:nvPr>
        </p:nvSpPr>
        <p:spPr>
          <a:xfrm>
            <a:off x="581192" y="1911212"/>
            <a:ext cx="8451972" cy="510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Cambria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Diagrama Arquitectura de Software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97" name="Google Shape;797;p6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98" name="Google Shape;798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5600" y="2617050"/>
            <a:ext cx="6823175" cy="393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69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804" name="Google Shape;804;p69"/>
          <p:cNvSpPr txBox="1"/>
          <p:nvPr>
            <p:ph idx="1" type="body"/>
          </p:nvPr>
        </p:nvSpPr>
        <p:spPr>
          <a:xfrm>
            <a:off x="581192" y="1911212"/>
            <a:ext cx="8451972" cy="510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Cambria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Diagrama de Casos de Uso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805" name="Google Shape;805;p69"/>
          <p:cNvPicPr preferRelativeResize="0"/>
          <p:nvPr/>
        </p:nvPicPr>
        <p:blipFill rotWithShape="1">
          <a:blip r:embed="rId3">
            <a:alphaModFix/>
          </a:blip>
          <a:srcRect b="6884" l="0" r="0" t="6407"/>
          <a:stretch/>
        </p:blipFill>
        <p:spPr>
          <a:xfrm>
            <a:off x="871225" y="2421800"/>
            <a:ext cx="7871925" cy="4371649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6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a5b9630aa3_8_476"/>
          <p:cNvSpPr txBox="1"/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812" name="Google Shape;812;g3a5b9630aa3_8_476"/>
          <p:cNvSpPr txBox="1"/>
          <p:nvPr>
            <p:ph idx="1" type="body"/>
          </p:nvPr>
        </p:nvSpPr>
        <p:spPr>
          <a:xfrm>
            <a:off x="581192" y="1911212"/>
            <a:ext cx="84519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Cambria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Diagrama de Casos de Uso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813" name="Google Shape;813;g3a5b9630aa3_8_4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0513" y="2421799"/>
            <a:ext cx="4993275" cy="437025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a5b9630aa3_8_47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70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820" name="Google Shape;820;p70"/>
          <p:cNvSpPr txBox="1"/>
          <p:nvPr>
            <p:ph idx="1" type="body"/>
          </p:nvPr>
        </p:nvSpPr>
        <p:spPr>
          <a:xfrm>
            <a:off x="581192" y="1911212"/>
            <a:ext cx="8451972" cy="510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840"/>
              <a:buFont typeface="Cambria"/>
              <a:buChar char="∙"/>
            </a:pPr>
            <a:r>
              <a:rPr lang="es-ES" sz="2000">
                <a:latin typeface="Cambria"/>
                <a:ea typeface="Cambria"/>
                <a:cs typeface="Cambria"/>
                <a:sym typeface="Cambria"/>
              </a:rPr>
              <a:t>Diagrama de Diagrama Comercializadora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1" name="Google Shape;821;p70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822" name="Google Shape;82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400" y="2854124"/>
            <a:ext cx="9078898" cy="3183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71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828" name="Google Shape;828;p71"/>
          <p:cNvSpPr txBox="1"/>
          <p:nvPr>
            <p:ph idx="1" type="body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 implementación de una arquitectura SOAP con servicios SOAP en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Java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permitió integrar exitosamente el sistema de comercialización de electrodomésticos con el módulo de créditos de BanQuito, automatizando el proceso de financiamiento de créditos con validaciones más claras.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306000" rtl="0" algn="just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-306000" lvl="0" marL="306000" rtl="0" algn="just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desarrollo de múltiples clientes (consola, escritorio, web y móvil) demostró la versatilidad de los servicios SOAP, permitiendo que diferentes plataformas accedan a la misma lógica de negocio de manera consistente y segura, facilitando la gestión de productos y ventas a crédito.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9" name="Google Shape;829;p71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72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835" name="Google Shape;835;p72"/>
          <p:cNvSpPr txBox="1"/>
          <p:nvPr>
            <p:ph idx="1" type="body"/>
          </p:nvPr>
        </p:nvSpPr>
        <p:spPr>
          <a:xfrm>
            <a:off x="581206" y="2440053"/>
            <a:ext cx="8500800" cy="242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06000" lvl="0" marL="306000" rtl="0" algn="just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Implementar medidas de seguridad adicionales como autenticación de dos factores y encriptación de datos sensibles para proteger la información financiera de los clientes y garantizar transacciones seguras en el sistema de créditos.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306000" rtl="0" algn="just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-306000" lvl="0" marL="306000" rtl="0" algn="just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Desarrollar un sistema de notificaciones y seguimiento de pedidos que mantenga informados a los clientes sobre el estado de sus compras y créditos, mejorando la transparencia y confianza en el proceso de adquisición de electrodomésticos.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36" name="Google Shape;836;p72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73"/>
          <p:cNvSpPr txBox="1"/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BIBLIOGRAFÍA</a:t>
            </a:r>
            <a:endParaRPr/>
          </a:p>
        </p:txBody>
      </p:sp>
      <p:sp>
        <p:nvSpPr>
          <p:cNvPr id="842" name="Google Shape;842;p73"/>
          <p:cNvSpPr txBox="1"/>
          <p:nvPr>
            <p:ph idx="1" type="body"/>
          </p:nvPr>
        </p:nvSpPr>
        <p:spPr>
          <a:xfrm>
            <a:off x="581200" y="2180501"/>
            <a:ext cx="8571600" cy="43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 lnSpcReduction="20000"/>
          </a:bodyPr>
          <a:lstStyle/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[1]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Microsoft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Java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Framework Documentation. https://docs.microsoft.com/en-us/dotnet/framework/ Documentación oficial de 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Java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Framework 4.8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rPr lang="es-ES" sz="1800">
                <a:latin typeface="Cambria"/>
                <a:ea typeface="Cambria"/>
                <a:cs typeface="Cambria"/>
                <a:sym typeface="Cambria"/>
              </a:rPr>
              <a:t>[2]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Windows Communication Foundation (WCF) Documentation. https://docs.microsoft.com/en-us/dotnet/framework/wcf/ Especificación y guías de WCF para servicios SOAP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[3] ASP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Java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Web Services Documentation. https://docs.microsoft.com/en-us/aspnet/web-forms/ Documentación de ASP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Java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Web Forms y servicios web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[4] Entity Framework Documentation. https://docs.microsoft.com/en-us/ef/ Documentación oficial de Entity Framework para acceso a datos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t/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9459"/>
              <a:buNone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[5] SQL Server LocalDB Documentation. https://docs.microsoft.com/en-us/sql/database-engine/configure-windows/sql-server-express-localdb Documentación de SQL Server Express LocalDB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43" name="Google Shape;843;p73"/>
          <p:cNvSpPr/>
          <p:nvPr/>
        </p:nvSpPr>
        <p:spPr>
          <a:xfrm>
            <a:off x="9377946" y="-5751"/>
            <a:ext cx="2808303" cy="6858000"/>
          </a:xfrm>
          <a:prstGeom prst="rect">
            <a:avLst/>
          </a:prstGeom>
          <a:solidFill>
            <a:schemeClr val="accent1"/>
          </a:solidFill>
          <a:ln cap="rnd" cmpd="sng" w="22225">
            <a:solidFill>
              <a:srgbClr val="1224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05435" lvl="0" marL="30543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MARCO TEÓRICO</a:t>
            </a:r>
            <a:endParaRPr b="0" i="0" sz="18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MODELO CONCEPTUAL DE LA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CREAR BASE DE DATOS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1" marL="7626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DIAGRAMAS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b="1" i="0" sz="1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05435" lvl="0" marL="305435" marR="0" rtl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b="1" i="0" lang="es-ES" sz="1200" u="none" cap="none" strike="noStrik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BIBLIOGRAFÍA</a:t>
            </a:r>
            <a:endParaRPr b="1" i="0" sz="1200" u="none" cap="none" strike="noStrik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2020-08-13T07:15:02Z</dcterms:created>
  <dc:creator>Michael Villarruel</dc:creator>
</cp:coreProperties>
</file>